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7dda9fc4ee401d" /><Relationship Type="http://schemas.openxmlformats.org/officeDocument/2006/relationships/extended-properties" Target="/docProps/app.xml" Id="R3a0a22db25e04279" /><Relationship Type="http://schemas.openxmlformats.org/officeDocument/2006/relationships/officeDocument" Target="/ppt/presentation.xml" Id="Ra2da3e26e7504958" /></Relationships>
</file>

<file path=ppt/presentation.xml><?xml version="1.0" encoding="utf-8"?>
<p:presentation xmlns:p="http://schemas.openxmlformats.org/presentationml/2006/main">
  <p:sldMasterIdLst>
    <p:sldMasterId xmlns:r="http://schemas.openxmlformats.org/officeDocument/2006/relationships" id="2147483648" r:id="Rb53e7eaff566419d"/>
  </p:sldMasterIdLst>
  <p:notesMasterIdLst>
    <p:notesMasterId xmlns:r="http://schemas.openxmlformats.org/officeDocument/2006/relationships" r:id="R88cf7e52285741bd"/>
  </p:notesMasterIdLst>
  <p:sldIdLst>
    <p:sldId xmlns:r="http://schemas.openxmlformats.org/officeDocument/2006/relationships" id="256" r:id="R1d4b3b708ff1430a"/>
    <p:sldId xmlns:r="http://schemas.openxmlformats.org/officeDocument/2006/relationships" id="257" r:id="Re82fd06f4c8a4610"/>
    <p:sldId xmlns:r="http://schemas.openxmlformats.org/officeDocument/2006/relationships" id="258" r:id="Rb41ddecf81fe4e64"/>
    <p:sldId xmlns:r="http://schemas.openxmlformats.org/officeDocument/2006/relationships" id="259" r:id="R99a77c328d2e48e4"/>
    <p:sldId xmlns:r="http://schemas.openxmlformats.org/officeDocument/2006/relationships" id="260" r:id="R1fa72fc445614b6a"/>
    <p:sldId xmlns:r="http://schemas.openxmlformats.org/officeDocument/2006/relationships" id="261" r:id="R444e6084bc664fe9"/>
    <p:sldId xmlns:r="http://schemas.openxmlformats.org/officeDocument/2006/relationships" id="262" r:id="R22e018137c4442a4"/>
    <p:sldId xmlns:r="http://schemas.openxmlformats.org/officeDocument/2006/relationships" id="263" r:id="Re39d145d0c7a42b0"/>
    <p:sldId xmlns:r="http://schemas.openxmlformats.org/officeDocument/2006/relationships" id="264" r:id="R5a1c45b0f6c04f46"/>
    <p:sldId xmlns:r="http://schemas.openxmlformats.org/officeDocument/2006/relationships" id="265" r:id="Re091b57ae1664f13"/>
    <p:sldId xmlns:r="http://schemas.openxmlformats.org/officeDocument/2006/relationships" id="266" r:id="Rfeaafa8f31a9421a"/>
    <p:sldId xmlns:r="http://schemas.openxmlformats.org/officeDocument/2006/relationships" id="267" r:id="R0cf4b6ddf99a4028"/>
    <p:sldId xmlns:r="http://schemas.openxmlformats.org/officeDocument/2006/relationships" id="268" r:id="R2009b6851cb14d52"/>
    <p:sldId xmlns:r="http://schemas.openxmlformats.org/officeDocument/2006/relationships" id="269" r:id="R3e5fb04109da42c0"/>
    <p:sldId xmlns:r="http://schemas.openxmlformats.org/officeDocument/2006/relationships" id="270" r:id="Re5e1fa7557174d14"/>
    <p:sldId xmlns:r="http://schemas.openxmlformats.org/officeDocument/2006/relationships" id="271" r:id="R632856d57dc04f59"/>
    <p:sldId xmlns:r="http://schemas.openxmlformats.org/officeDocument/2006/relationships" id="272" r:id="R9b07d300e45541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2a7bdc50164f66" /><Relationship Type="http://schemas.openxmlformats.org/officeDocument/2006/relationships/slideMaster" Target="/ppt/slideMasters/slideMaster1.xml" Id="Rb53e7eaff566419d" /><Relationship Type="http://schemas.openxmlformats.org/officeDocument/2006/relationships/notesMaster" Target="/ppt/notesMasters/notesMaster1.xml" Id="R88cf7e52285741bd" /><Relationship Type="http://schemas.openxmlformats.org/officeDocument/2006/relationships/presProps" Target="/ppt/presProps.xml" Id="R7b026f3b026e47fd" /><Relationship Type="http://schemas.openxmlformats.org/officeDocument/2006/relationships/tableStyles" Target="/ppt/tableStyles.xml" Id="R22933b9d3d384f39" /><Relationship Type="http://schemas.openxmlformats.org/officeDocument/2006/relationships/slide" Target="/ppt/slides/slide1.xml" Id="R1d4b3b708ff1430a" /><Relationship Type="http://schemas.openxmlformats.org/officeDocument/2006/relationships/slide" Target="/ppt/slides/slide2.xml" Id="Re82fd06f4c8a4610" /><Relationship Type="http://schemas.openxmlformats.org/officeDocument/2006/relationships/slide" Target="/ppt/slides/slide3.xml" Id="Rb41ddecf81fe4e64" /><Relationship Type="http://schemas.openxmlformats.org/officeDocument/2006/relationships/slide" Target="/ppt/slides/slide4.xml" Id="R99a77c328d2e48e4" /><Relationship Type="http://schemas.openxmlformats.org/officeDocument/2006/relationships/slide" Target="/ppt/slides/slide5.xml" Id="R1fa72fc445614b6a" /><Relationship Type="http://schemas.openxmlformats.org/officeDocument/2006/relationships/slide" Target="/ppt/slides/slide6.xml" Id="R444e6084bc664fe9" /><Relationship Type="http://schemas.openxmlformats.org/officeDocument/2006/relationships/slide" Target="/ppt/slides/slide7.xml" Id="R22e018137c4442a4" /><Relationship Type="http://schemas.openxmlformats.org/officeDocument/2006/relationships/slide" Target="/ppt/slides/slide8.xml" Id="Re39d145d0c7a42b0" /><Relationship Type="http://schemas.openxmlformats.org/officeDocument/2006/relationships/slide" Target="/ppt/slides/slide9.xml" Id="R5a1c45b0f6c04f46" /><Relationship Type="http://schemas.openxmlformats.org/officeDocument/2006/relationships/slide" Target="/ppt/slides/slide10.xml" Id="Re091b57ae1664f13" /><Relationship Type="http://schemas.openxmlformats.org/officeDocument/2006/relationships/slide" Target="/ppt/slides/slide11.xml" Id="Rfeaafa8f31a9421a" /><Relationship Type="http://schemas.openxmlformats.org/officeDocument/2006/relationships/slide" Target="/ppt/slides/slide12.xml" Id="R0cf4b6ddf99a4028" /><Relationship Type="http://schemas.openxmlformats.org/officeDocument/2006/relationships/slide" Target="/ppt/slides/slide13.xml" Id="R2009b6851cb14d52" /><Relationship Type="http://schemas.openxmlformats.org/officeDocument/2006/relationships/slide" Target="/ppt/slides/slide14.xml" Id="R3e5fb04109da42c0" /><Relationship Type="http://schemas.openxmlformats.org/officeDocument/2006/relationships/slide" Target="/ppt/slides/slide15.xml" Id="Re5e1fa7557174d14" /><Relationship Type="http://schemas.openxmlformats.org/officeDocument/2006/relationships/slide" Target="/ppt/slides/slide16.xml" Id="R632856d57dc04f59" /><Relationship Type="http://schemas.openxmlformats.org/officeDocument/2006/relationships/slide" Target="/ppt/slides/slide17.xml" Id="R9b07d300e45541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846933c999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33abad7b524542" /><Relationship Type="http://schemas.openxmlformats.org/officeDocument/2006/relationships/notesMaster" Target="/ppt/notesMasters/notesMaster1.xml" Id="Rc9c91655068149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b4cf07cacb4a32" /><Relationship Type="http://schemas.openxmlformats.org/officeDocument/2006/relationships/notesMaster" Target="/ppt/notesMasters/notesMaster1.xml" Id="R0f32d25b7cd344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0962f855004329" /><Relationship Type="http://schemas.openxmlformats.org/officeDocument/2006/relationships/notesMaster" Target="/ppt/notesMasters/notesMaster1.xml" Id="R613302a7cb1c4d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db1705b5bf4c1d" /><Relationship Type="http://schemas.openxmlformats.org/officeDocument/2006/relationships/notesMaster" Target="/ppt/notesMasters/notesMaster1.xml" Id="R80f734ad470940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ab52ac008c492e" /><Relationship Type="http://schemas.openxmlformats.org/officeDocument/2006/relationships/notesMaster" Target="/ppt/notesMasters/notesMaster1.xml" Id="R0cd9f27c16b940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336e8e615f4278" /><Relationship Type="http://schemas.openxmlformats.org/officeDocument/2006/relationships/notesMaster" Target="/ppt/notesMasters/notesMaster1.xml" Id="R05e042f0a39e48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112b9fcc8d41ee" /><Relationship Type="http://schemas.openxmlformats.org/officeDocument/2006/relationships/notesMaster" Target="/ppt/notesMasters/notesMaster1.xml" Id="Rd878a6f45bda48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3dbeb3001641c3" /><Relationship Type="http://schemas.openxmlformats.org/officeDocument/2006/relationships/notesMaster" Target="/ppt/notesMasters/notesMaster1.xml" Id="R2e01007fc57442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163cbafe0d40c5" /><Relationship Type="http://schemas.openxmlformats.org/officeDocument/2006/relationships/notesMaster" Target="/ppt/notesMasters/notesMaster1.xml" Id="R2ea894a1fd8144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2e39ead759442d" /><Relationship Type="http://schemas.openxmlformats.org/officeDocument/2006/relationships/notesMaster" Target="/ppt/notesMasters/notesMaster1.xml" Id="R5d3615086a2a44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08fcfd46844808" /><Relationship Type="http://schemas.openxmlformats.org/officeDocument/2006/relationships/notesMaster" Target="/ppt/notesMasters/notesMaster1.xml" Id="R150ac62da03e4b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7db1c40bc646c5" /><Relationship Type="http://schemas.openxmlformats.org/officeDocument/2006/relationships/notesMaster" Target="/ppt/notesMasters/notesMaster1.xml" Id="Rdc6462210d9d43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b0e45c868e4186" /><Relationship Type="http://schemas.openxmlformats.org/officeDocument/2006/relationships/notesMaster" Target="/ppt/notesMasters/notesMaster1.xml" Id="Rcd13f091e4234d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e3f191c7e4089" /><Relationship Type="http://schemas.openxmlformats.org/officeDocument/2006/relationships/notesMaster" Target="/ppt/notesMasters/notesMaster1.xml" Id="Rb5bb1c6f0db641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142028b17d4148" /><Relationship Type="http://schemas.openxmlformats.org/officeDocument/2006/relationships/notesMaster" Target="/ppt/notesMasters/notesMaster1.xml" Id="Rafbd788c38b34c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1cbbfc643f48ad" /><Relationship Type="http://schemas.openxmlformats.org/officeDocument/2006/relationships/notesMaster" Target="/ppt/notesMasters/notesMaster1.xml" Id="R51a58fc8db7d46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4e3634b61c478d" /><Relationship Type="http://schemas.openxmlformats.org/officeDocument/2006/relationships/notesMaster" Target="/ppt/notesMasters/notesMaster1.xml" Id="Re6dde76b925f41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3, CIFAR-10-LT with imbalance factor50. Full metric values are reproduced exactly as supplied. Top1 lead80.6-79.2=1.4 points; tail79.5-69.2=10.3; mid75.5-79.2=-3.7; head88.5-89.2=-0.7. DeiT-Final leads top1,top5,macroF1 and tail in the reported table, while CNN leads head and mid. All comparisons remain descriptive because underlying experimental evidence was not independently verified.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5, CIFAR-100-LT with imbalance factor50. Full metric values follow the PDF. DeiTFinal vsCNN: top1 +4.3 points,top5 -4.9,macroF1 +5.0,head +10.4,mid +6.4,tail -7.6. The supplied report therefore does not support a claim that DeiT-Final improves every subgroup at IF50. These are reported values with synthetic CSV provenance and require independent experimental verification.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10cfe82c9a49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967f75dfe84e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1153ac7efd4b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811030978c41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7be9de2e9b44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7554167d0049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66c340f0374e87" /><Relationship Type="http://schemas.openxmlformats.org/officeDocument/2006/relationships/slideLayout" Target="/ppt/slideLayouts/slideLayout1.xml" Id="R3d54f9023c15443a" /><Relationship Type="http://schemas.openxmlformats.org/officeDocument/2006/relationships/slideLayout" Target="/ppt/slideLayouts/slideLayout2.xml" Id="R9734b9b7cacc48a2" /><Relationship Type="http://schemas.openxmlformats.org/officeDocument/2006/relationships/slideLayout" Target="/ppt/slideLayouts/slideLayout3.xml" Id="R1d59aae694c24673" /><Relationship Type="http://schemas.openxmlformats.org/officeDocument/2006/relationships/slideLayout" Target="/ppt/slideLayouts/slideLayout4.xml" Id="Rd1f7ff0946a142f9" /><Relationship Type="http://schemas.openxmlformats.org/officeDocument/2006/relationships/slideLayout" Target="/ppt/slideLayouts/slideLayout5.xml" Id="Rfdb35cde5dd84959" /><Relationship Type="http://schemas.openxmlformats.org/officeDocument/2006/relationships/slideLayout" Target="/ppt/slideLayouts/slideLayout6.xml" Id="R245a60a9567645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54f9023c15443a"/>
    <p:sldLayoutId xmlns:r="http://schemas.openxmlformats.org/officeDocument/2006/relationships" id="2147483650" r:id="R9734b9b7cacc48a2"/>
    <p:sldLayoutId xmlns:r="http://schemas.openxmlformats.org/officeDocument/2006/relationships" id="2147483651" r:id="R1d59aae694c24673"/>
    <p:sldLayoutId xmlns:r="http://schemas.openxmlformats.org/officeDocument/2006/relationships" id="2147483652" r:id="Rd1f7ff0946a142f9"/>
    <p:sldLayoutId xmlns:r="http://schemas.openxmlformats.org/officeDocument/2006/relationships" id="2147483653" r:id="Rfdb35cde5dd84959"/>
    <p:sldLayoutId xmlns:r="http://schemas.openxmlformats.org/officeDocument/2006/relationships" id="2147483654" r:id="R245a60a9567645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217f33d92c4e60" /><Relationship Type="http://schemas.openxmlformats.org/officeDocument/2006/relationships/notesSlide" Target="/ppt/notesSlides/notesSlide1.xml" Id="Rbd737ab68cc442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400e4f83f54a39" /><Relationship Type="http://schemas.openxmlformats.org/officeDocument/2006/relationships/chart" Target="/ppt/slides/charts/chart1.xml" Id="R60edfc7755f2473f" /><Relationship Type="http://schemas.openxmlformats.org/officeDocument/2006/relationships/notesSlide" Target="/ppt/notesSlides/notesSlide2.xml" Id="R2f3d6c715b6d42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53312c79e14b7a" /><Relationship Type="http://schemas.openxmlformats.org/officeDocument/2006/relationships/notesSlide" Target="/ppt/notesSlides/notesSlide3.xml" Id="R385a0f0afbef42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f49af9185c4e4a" /><Relationship Type="http://schemas.openxmlformats.org/officeDocument/2006/relationships/notesSlide" Target="/ppt/notesSlides/notesSlide4.xml" Id="Rd4368747260e46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5b6448df0e431a" /><Relationship Type="http://schemas.openxmlformats.org/officeDocument/2006/relationships/notesSlide" Target="/ppt/notesSlides/notesSlide5.xml" Id="R1551307b4cef42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3bd869946f4659" /><Relationship Type="http://schemas.openxmlformats.org/officeDocument/2006/relationships/notesSlide" Target="/ppt/notesSlides/notesSlide6.xml" Id="R26f5db22e82945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88b9eb1287468b" /><Relationship Type="http://schemas.openxmlformats.org/officeDocument/2006/relationships/notesSlide" Target="/ppt/notesSlides/notesSlide7.xml" Id="Ra9e2cb3b777044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c88da14eaf494b" /><Relationship Type="http://schemas.openxmlformats.org/officeDocument/2006/relationships/notesSlide" Target="/ppt/notesSlides/notesSlide8.xml" Id="Rd8363607b3bb45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dd6565a5414c6a" /><Relationship Type="http://schemas.openxmlformats.org/officeDocument/2006/relationships/notesSlide" Target="/ppt/notesSlides/notesSlide9.xml" Id="R16c53afe721f45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3066ee8f214c8b" /><Relationship Type="http://schemas.openxmlformats.org/officeDocument/2006/relationships/notesSlide" Target="/ppt/notesSlides/notesSlide10.xml" Id="Rc9746600f59748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97a76c01824eda" /><Relationship Type="http://schemas.openxmlformats.org/officeDocument/2006/relationships/chart" Target="/ppt/slides/charts/chart2.xml" Id="R0a5ae19b722c4ac3" /><Relationship Type="http://schemas.openxmlformats.org/officeDocument/2006/relationships/notesSlide" Target="/ppt/notesSlides/notesSlide11.xml" Id="R5b5473ac374140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1b66ff409314ff3" /><Relationship Type="http://schemas.openxmlformats.org/officeDocument/2006/relationships/notesSlide" Target="/ppt/notesSlides/notesSlide12.xml" Id="Radc17623391447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834d7d444047f0" /><Relationship Type="http://schemas.openxmlformats.org/officeDocument/2006/relationships/chart" Target="/ppt/slides/charts/chart3.xml" Id="Rd9c0a69321354374" /><Relationship Type="http://schemas.openxmlformats.org/officeDocument/2006/relationships/notesSlide" Target="/ppt/notesSlides/notesSlide13.xml" Id="Rf96c4f4aecf140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cd389a53d846f9" /><Relationship Type="http://schemas.openxmlformats.org/officeDocument/2006/relationships/notesSlide" Target="/ppt/notesSlides/notesSlide14.xml" Id="R3836d581044b4f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0234e9f9b6242b3" /><Relationship Type="http://schemas.openxmlformats.org/officeDocument/2006/relationships/chart" Target="/ppt/slides/charts/chart4.xml" Id="R38225fd6d3ff40c6" /><Relationship Type="http://schemas.openxmlformats.org/officeDocument/2006/relationships/notesSlide" Target="/ppt/notesSlides/notesSlide15.xml" Id="R1717687af44449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cacff63ffa14218" /><Relationship Type="http://schemas.openxmlformats.org/officeDocument/2006/relationships/notesSlide" Target="/ppt/notesSlides/notesSlide16.xml" Id="Rc97877ec4c7f40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4bb867b87184f86" /><Relationship Type="http://schemas.openxmlformats.org/officeDocument/2006/relationships/notesSlide" Target="/ppt/notesSlides/notesSlide17.xml" Id="Rf8ea96f0ea6547c6"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7">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17</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7">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17</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60edfc7755f2473f"/>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7">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17</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7">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17</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7">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17</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7">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17</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7">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17</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7">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17</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7">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17</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6. Values as reported. Baseline ">
            <a:extLst xmlns:a="http://schemas.openxmlformats.org/drawingml/2006/main">
              <a:ext uri="{FF2B5EF4-FFF2-40B4-BE49-F238E27FC236}">
                <a16:creationId xmlns:a16="http://schemas.microsoft.com/office/drawing/2014/main" id="{F25AEC68-EE6F-455F-B3C7-4309B4B6DA1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2–6. Values as reported. Baseline provenance: workspace CSVs label values synthetic. Reported results need verification.</a:t>
            </a:r>
          </a:p>
        </p:txBody>
      </p:sp>
      <p:sp>
        <p:nvSpPr>
          <p:cNvPr id="6" name="10 / 17">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17</a:t>
            </a:r>
          </a:p>
        </p:txBody>
      </p:sp>
      <p:graphicFrame>
        <p:nvGraphicFramePr>
          <p:cNvPr id="7"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8"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9"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3. Values as reported. Baseline ">
            <a:extLst xmlns:a="http://schemas.openxmlformats.org/drawingml/2006/main">
              <a:ext uri="{FF2B5EF4-FFF2-40B4-BE49-F238E27FC236}">
                <a16:creationId xmlns:a16="http://schemas.microsoft.com/office/drawing/2014/main" id="{FCB29B12-0795-4A48-A500-E36D9CB03CF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2–3. Values as reported. Baseline provenance: workspace CSVs label values synthetic. Reported results need verification.</a:t>
            </a:r>
          </a:p>
        </p:txBody>
      </p:sp>
      <p:sp>
        <p:nvSpPr>
          <p:cNvPr id="6" name="11 / 17">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17</a:t>
            </a:r>
          </a:p>
        </p:txBody>
      </p:sp>
      <p:sp>
        <p:nvSpPr>
          <p:cNvPr id="7"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0a5ae19b722c4ac3"/>
          </a:graphicData>
        </a:graphic>
      </p:graphicFrame>
      <p:sp>
        <p:nvSpPr>
          <p:cNvPr id="9"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10"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1"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2"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3"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D0F96F9B-25B5-416A-B5AA-90A3986CBF3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full results at IF = 50">
            <a:extLst xmlns:a="http://schemas.openxmlformats.org/drawingml/2006/main">
              <a:ext uri="{FF2B5EF4-FFF2-40B4-BE49-F238E27FC236}">
                <a16:creationId xmlns:a16="http://schemas.microsoft.com/office/drawing/2014/main" id="{9948625C-2B98-49A7-987A-E5B8893D0B0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full results at IF = 50</a:t>
            </a:r>
          </a:p>
        </p:txBody>
      </p:sp>
      <p:sp>
        <p:nvSpPr>
          <p:cNvPr id="4" name="">
            <a:extLst xmlns:a="http://schemas.openxmlformats.org/drawingml/2006/main">
              <a:ext uri="{FF2B5EF4-FFF2-40B4-BE49-F238E27FC236}">
                <a16:creationId xmlns:a16="http://schemas.microsoft.com/office/drawing/2014/main" id="{9DD24857-19F3-4C06-8A36-125ABA00FF4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3. Values as reported. Baseline pro">
            <a:extLst xmlns:a="http://schemas.openxmlformats.org/drawingml/2006/main">
              <a:ext uri="{FF2B5EF4-FFF2-40B4-BE49-F238E27FC236}">
                <a16:creationId xmlns:a16="http://schemas.microsoft.com/office/drawing/2014/main" id="{C11EA7A8-7EDC-44E0-8A98-623D9A97E93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3. Values as reported. Baseline provenance: workspace CSVs label values synthetic. Reported results need verification.</a:t>
            </a:r>
          </a:p>
        </p:txBody>
      </p:sp>
      <p:sp>
        <p:nvSpPr>
          <p:cNvPr id="6" name="12 / 17">
            <a:extLst xmlns:a="http://schemas.openxmlformats.org/drawingml/2006/main">
              <a:ext uri="{FF2B5EF4-FFF2-40B4-BE49-F238E27FC236}">
                <a16:creationId xmlns:a16="http://schemas.microsoft.com/office/drawing/2014/main" id="{C7B60375-56B8-4157-9EEE-FE6A8C37CDA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17</a:t>
            </a:r>
          </a:p>
        </p:txBody>
      </p:sp>
      <p:graphicFrame>
        <p:nvGraphicFramePr>
          <p:cNvPr id="7" name="">
            <a:extLst xmlns:a="http://schemas.openxmlformats.org/drawingml/2006/main">
              <a:ext uri="{FF2B5EF4-FFF2-40B4-BE49-F238E27FC236}">
                <a16:creationId xmlns:a16="http://schemas.microsoft.com/office/drawing/2014/main" id="{2F84D8BD-4C46-442E-8E7C-18E145D61B6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92.7</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77.2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89.5</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88.8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98.2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75.5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8" name="All values are percentages on the balanced test set.">
            <a:extLst xmlns:a="http://schemas.openxmlformats.org/drawingml/2006/main">
              <a:ext uri="{FF2B5EF4-FFF2-40B4-BE49-F238E27FC236}">
                <a16:creationId xmlns:a16="http://schemas.microsoft.com/office/drawing/2014/main" id="{CFDD8989-E826-4004-BE7B-5D1B134D1FF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9" name="+1.4 points in top-1">
            <a:extLst xmlns:a="http://schemas.openxmlformats.org/drawingml/2006/main">
              <a:ext uri="{FF2B5EF4-FFF2-40B4-BE49-F238E27FC236}">
                <a16:creationId xmlns:a16="http://schemas.microsoft.com/office/drawing/2014/main" id="{999BC8C8-076F-4F3C-B411-0C541AFDF568}"/>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+1.4 points in top-1</a:t>
            </a:r>
          </a:p>
        </p:txBody>
      </p:sp>
      <p:sp>
        <p:nvSpPr>
          <p:cNvPr id="10" name="DeiT-Final reports 80.6% versus 79.2% for the best baseline, ResN">
            <a:extLst xmlns:a="http://schemas.openxmlformats.org/drawingml/2006/main">
              <a:ext uri="{FF2B5EF4-FFF2-40B4-BE49-F238E27FC236}">
                <a16:creationId xmlns:a16="http://schemas.microsoft.com/office/drawing/2014/main" id="{9F1D7E1B-0E61-4341-BC18-642024C2DDBA}"/>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80.6% versus 79.2% for the best baseline, ResNet-32.</a:t>
            </a:r>
          </a:p>
        </p:txBody>
      </p:sp>
      <p:sp>
        <p:nvSpPr>
          <p:cNvPr id="11" name="+10.3 points on the tail">
            <a:extLst xmlns:a="http://schemas.openxmlformats.org/drawingml/2006/main">
              <a:ext uri="{FF2B5EF4-FFF2-40B4-BE49-F238E27FC236}">
                <a16:creationId xmlns:a16="http://schemas.microsoft.com/office/drawing/2014/main" id="{7E99D8EB-7944-4C69-AB42-80AF383A82B4}"/>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+10.3 points on the tail</a:t>
            </a:r>
          </a:p>
        </p:txBody>
      </p:sp>
      <p:sp>
        <p:nvSpPr>
          <p:cNvPr id="12" name="Tail accuracy reaches 79.5% versus 69.2% for ResNet-32, while its">
            <a:extLst xmlns:a="http://schemas.openxmlformats.org/drawingml/2006/main">
              <a:ext uri="{FF2B5EF4-FFF2-40B4-BE49-F238E27FC236}">
                <a16:creationId xmlns:a16="http://schemas.microsoft.com/office/drawing/2014/main" id="{2B58B846-1EFF-44F6-9B44-A9731E40A3EA}"/>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accuracy reaches 79.5% versus 69.2% for ResNet-32, while its mid accuracy is lower.</a:t>
            </a:r>
          </a:p>
        </p:txBody>
      </p:sp>
    </p:spTree>
    <p:extLst>
      <p:ext uri="{BB962C8B-B14F-4D97-AF65-F5344CB8AC3E}">
        <p14:creationId xmlns:p14="http://schemas.microsoft.com/office/powerpoint/2010/main" val="1011596800"/>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4–5. Values as reported. Baseline ">
            <a:extLst xmlns:a="http://schemas.openxmlformats.org/drawingml/2006/main">
              <a:ext uri="{FF2B5EF4-FFF2-40B4-BE49-F238E27FC236}">
                <a16:creationId xmlns:a16="http://schemas.microsoft.com/office/drawing/2014/main" id="{99CCEC20-9D6F-4064-ADE7-8F315418400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4–5. Values as reported. Baseline provenance: workspace CSVs label values synthetic. Reported results need verification.</a:t>
            </a:r>
          </a:p>
        </p:txBody>
      </p:sp>
      <p:sp>
        <p:nvSpPr>
          <p:cNvPr id="6" name="13 / 17">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17</a:t>
            </a:r>
          </a:p>
        </p:txBody>
      </p:sp>
      <p:sp>
        <p:nvSpPr>
          <p:cNvPr id="7"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d9c0a69321354374"/>
          </a:graphicData>
        </a:graphic>
      </p:graphicFrame>
      <p:sp>
        <p:nvSpPr>
          <p:cNvPr id="9"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10"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1"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2"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3"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B82A581A-413D-4D9A-8A05-85F01DC3CE99}"/>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full results at IF = 50">
            <a:extLst xmlns:a="http://schemas.openxmlformats.org/drawingml/2006/main">
              <a:ext uri="{FF2B5EF4-FFF2-40B4-BE49-F238E27FC236}">
                <a16:creationId xmlns:a16="http://schemas.microsoft.com/office/drawing/2014/main" id="{335C34B0-F2F8-4E4D-904F-4CBDD368C89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full results at IF = 50</a:t>
            </a:r>
          </a:p>
        </p:txBody>
      </p:sp>
      <p:sp>
        <p:nvSpPr>
          <p:cNvPr id="4" name="">
            <a:extLst xmlns:a="http://schemas.openxmlformats.org/drawingml/2006/main">
              <a:ext uri="{FF2B5EF4-FFF2-40B4-BE49-F238E27FC236}">
                <a16:creationId xmlns:a16="http://schemas.microsoft.com/office/drawing/2014/main" id="{22B298D9-0875-4AA6-88BD-C3E4BC2C41DB}"/>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5. Values as reported. Baseline pro">
            <a:extLst xmlns:a="http://schemas.openxmlformats.org/drawingml/2006/main">
              <a:ext uri="{FF2B5EF4-FFF2-40B4-BE49-F238E27FC236}">
                <a16:creationId xmlns:a16="http://schemas.microsoft.com/office/drawing/2014/main" id="{9DDBDC8C-8FE9-4AF9-B19A-6B1E034A885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5. Values as reported. Baseline provenance: workspace CSVs label values synthetic. Reported results need verification.</a:t>
            </a:r>
          </a:p>
        </p:txBody>
      </p:sp>
      <p:sp>
        <p:nvSpPr>
          <p:cNvPr id="6" name="14 / 17">
            <a:extLst xmlns:a="http://schemas.openxmlformats.org/drawingml/2006/main">
              <a:ext uri="{FF2B5EF4-FFF2-40B4-BE49-F238E27FC236}">
                <a16:creationId xmlns:a16="http://schemas.microsoft.com/office/drawing/2014/main" id="{7BF2DF1B-7829-40F5-B1C0-97650FC7A120}"/>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17</a:t>
            </a:r>
          </a:p>
        </p:txBody>
      </p:sp>
      <p:graphicFrame>
        <p:nvGraphicFramePr>
          <p:cNvPr id="7" name="">
            <a:extLst xmlns:a="http://schemas.openxmlformats.org/drawingml/2006/main">
              <a:ext uri="{FF2B5EF4-FFF2-40B4-BE49-F238E27FC236}">
                <a16:creationId xmlns:a16="http://schemas.microsoft.com/office/drawing/2014/main" id="{4523FD6A-A5F0-4BD4-8CA2-E261FAB79C1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81.1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78.6</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28.9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80.4</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76.2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49.1</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66.5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28.5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8" name="All values are percentages on the balanced test set.">
            <a:extLst xmlns:a="http://schemas.openxmlformats.org/drawingml/2006/main">
              <a:ext uri="{FF2B5EF4-FFF2-40B4-BE49-F238E27FC236}">
                <a16:creationId xmlns:a16="http://schemas.microsoft.com/office/drawing/2014/main" id="{D4457A1F-2F70-4EA1-8870-903D2186EC9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9" name="+4.3 points in top-1">
            <a:extLst xmlns:a="http://schemas.openxmlformats.org/drawingml/2006/main">
              <a:ext uri="{FF2B5EF4-FFF2-40B4-BE49-F238E27FC236}">
                <a16:creationId xmlns:a16="http://schemas.microsoft.com/office/drawing/2014/main" id="{F992EE3E-BD93-4344-B3CD-93E4705808B5}"/>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+4.3 points in top-1</a:t>
            </a:r>
          </a:p>
        </p:txBody>
      </p:sp>
      <p:sp>
        <p:nvSpPr>
          <p:cNvPr id="10" name="DeiT-Final reports 50.4% versus 46.1% for ResNet-32, with gains i">
            <a:extLst xmlns:a="http://schemas.openxmlformats.org/drawingml/2006/main">
              <a:ext uri="{FF2B5EF4-FFF2-40B4-BE49-F238E27FC236}">
                <a16:creationId xmlns:a16="http://schemas.microsoft.com/office/drawing/2014/main" id="{C5D7ECFA-3A9F-47A5-A08C-6D5F79D3E5A1}"/>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50.4% versus 46.1% for ResNet-32, with gains in head and mid accuracy.</a:t>
            </a:r>
          </a:p>
        </p:txBody>
      </p:sp>
      <p:sp>
        <p:nvSpPr>
          <p:cNvPr id="11" name="Tail and top-5 trade-offs">
            <a:extLst xmlns:a="http://schemas.openxmlformats.org/drawingml/2006/main">
              <a:ext uri="{FF2B5EF4-FFF2-40B4-BE49-F238E27FC236}">
                <a16:creationId xmlns:a16="http://schemas.microsoft.com/office/drawing/2014/main" id="{8F98B54E-480F-494D-8E27-11A33D61A3D0}"/>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and top-5 trade-offs</a:t>
            </a:r>
          </a:p>
        </p:txBody>
      </p:sp>
      <p:sp>
        <p:nvSpPr>
          <p:cNvPr id="12" name="Tail drops 7.6 points (28.5% versus 36.1%). Top-5 drops 4.9 point">
            <a:extLst xmlns:a="http://schemas.openxmlformats.org/drawingml/2006/main">
              <a:ext uri="{FF2B5EF4-FFF2-40B4-BE49-F238E27FC236}">
                <a16:creationId xmlns:a16="http://schemas.microsoft.com/office/drawing/2014/main" id="{CDB62D72-4F05-46D8-82E5-02A61177DEBF}"/>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drops 7.6 points (28.5% versus 36.1%). Top-5 drops 4.9 points (76.2% versus 81.1%).</a:t>
            </a:r>
          </a:p>
        </p:txBody>
      </p:sp>
    </p:spTree>
    <p:extLst>
      <p:ext uri="{BB962C8B-B14F-4D97-AF65-F5344CB8AC3E}">
        <p14:creationId xmlns:p14="http://schemas.microsoft.com/office/powerpoint/2010/main" val="38513548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6. Values as reported. Baseline pro">
            <a:extLst xmlns:a="http://schemas.openxmlformats.org/drawingml/2006/main">
              <a:ext uri="{FF2B5EF4-FFF2-40B4-BE49-F238E27FC236}">
                <a16:creationId xmlns:a16="http://schemas.microsoft.com/office/drawing/2014/main" id="{D3EBEA66-6155-49A8-A469-9F42A8FAA77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6. Values as reported. Baseline provenance: workspace CSVs label values synthetic. Reported results need verification.</a:t>
            </a:r>
          </a:p>
        </p:txBody>
      </p:sp>
      <p:sp>
        <p:nvSpPr>
          <p:cNvPr id="6" name="15 / 17">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17</a:t>
            </a:r>
          </a:p>
        </p:txBody>
      </p:sp>
      <p:sp>
        <p:nvSpPr>
          <p:cNvPr id="7"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8"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38225fd6d3ff40c6"/>
          </a:graphicData>
        </a:graphic>
      </p:graphicFrame>
      <p:sp>
        <p:nvSpPr>
          <p:cNvPr id="9"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10"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1"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2"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3"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Base-paper comparison and evidence limits">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Base-paper comparison and evidence limits</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7 and Discussion. Values as reporte">
            <a:extLst xmlns:a="http://schemas.openxmlformats.org/drawingml/2006/main">
              <a:ext uri="{FF2B5EF4-FFF2-40B4-BE49-F238E27FC236}">
                <a16:creationId xmlns:a16="http://schemas.microsoft.com/office/drawing/2014/main" id="{95E9E78C-ACF9-49D9-BBCD-F7FEA283E9D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7 and Discussion. Values as reported. Baseline provenance: workspace CSVs label values synthetic. Reported results need verification.</a:t>
            </a:r>
          </a:p>
        </p:txBody>
      </p:sp>
      <p:sp>
        <p:nvSpPr>
          <p:cNvPr id="6" name="16 / 17">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16 / 17</a:t>
            </a:r>
          </a:p>
        </p:txBody>
      </p:sp>
      <p:graphicFrame>
        <p:nvGraphicFramePr>
          <p:cNvPr id="7"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What limits the conclusion">
            <a:extLst xmlns:a="http://schemas.openxmlformats.org/drawingml/2006/main">
              <a:ext uri="{FF2B5EF4-FFF2-40B4-BE49-F238E27FC236}">
                <a16:creationId xmlns:a16="http://schemas.microsoft.com/office/drawing/2014/main" id="{203F39E3-F2D8-4954-AE91-8CCA8C1AE024}"/>
              </a:ext>
            </a:extLst>
          </p:cNvPr>
          <p:cNvSpPr>
            <a:spLocks xmlns:a="http://schemas.openxmlformats.org/drawingml/2006/main" noGrp="1"/>
          </p:cNvSpPr>
          <p:nvPr/>
        </p:nvSpPr>
        <p:spPr>
          <a:xfrm xmlns:a="http://schemas.openxmlformats.org/drawingml/2006/main">
            <a:off x="571500" y="4095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What limits the conclusion</a:t>
            </a:r>
          </a:p>
        </p:txBody>
      </p:sp>
      <p:sp>
        <p:nvSpPr>
          <p:cNvPr id="9" name="Training budget: 100 versus 1,200 epochs on CIFAR prevents a cont">
            <a:extLst xmlns:a="http://schemas.openxmlformats.org/drawingml/2006/main">
              <a:ext uri="{FF2B5EF4-FFF2-40B4-BE49-F238E27FC236}">
                <a16:creationId xmlns:a16="http://schemas.microsoft.com/office/drawing/2014/main" id="{F1EDEAF7-B9EB-4EDF-88A7-DFD40D1DA9F0}"/>
              </a:ext>
            </a:extLst>
          </p:cNvPr>
          <p:cNvSpPr>
            <a:spLocks xmlns:a="http://schemas.openxmlformats.org/drawingml/2006/main" noGrp="1"/>
          </p:cNvSpPr>
          <p:nvPr/>
        </p:nvSpPr>
        <p:spPr>
          <a:xfrm xmlns:a="http://schemas.openxmlformats.org/drawingml/2006/main">
            <a:off x="571500" y="45529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Training budget: 100 versus 1,200 epochs on CIFAR prevents a controlled method comparison.</a:t>
            </a:r>
          </a:p>
        </p:txBody>
      </p:sp>
      <p:sp>
        <p:nvSpPr>
          <p:cNvPr id="10" name="Metric consistency: CIFAR-10 IF100 CNN group scores imply 64.65% ">
            <a:extLst xmlns:a="http://schemas.openxmlformats.org/drawingml/2006/main">
              <a:ext uri="{FF2B5EF4-FFF2-40B4-BE49-F238E27FC236}">
                <a16:creationId xmlns:a16="http://schemas.microsoft.com/office/drawing/2014/main" id="{D501BEA2-6855-4991-B659-1FF0C302DDA3}"/>
              </a:ext>
            </a:extLst>
          </p:cNvPr>
          <p:cNvSpPr>
            <a:spLocks xmlns:a="http://schemas.openxmlformats.org/drawingml/2006/main" noGrp="1"/>
          </p:cNvSpPr>
          <p:nvPr/>
        </p:nvSpPr>
        <p:spPr>
          <a:xfrm xmlns:a="http://schemas.openxmlformats.org/drawingml/2006/main">
            <a:off x="571500" y="51435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Metric consistency: CIFAR-10 IF100 CNN group scores imply 64.65% top-1, versus the table’s 74.5%.</a:t>
            </a:r>
          </a:p>
        </p:txBody>
      </p:sp>
      <p:sp>
        <p:nvSpPr>
          <p:cNvPr id="11" name="Synthetic CSVs and missing checkpoints leave the reported results">
            <a:extLst xmlns:a="http://schemas.openxmlformats.org/drawingml/2006/main">
              <a:ext uri="{FF2B5EF4-FFF2-40B4-BE49-F238E27FC236}">
                <a16:creationId xmlns:a16="http://schemas.microsoft.com/office/drawing/2014/main" id="{102B5494-101F-44EE-826E-78D2040F2912}"/>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B66D4F"/>
                </a:solidFill>
                <a:latin typeface="DejaVu Sans"/>
                <a:ea typeface="DejaVu Sans"/>
                <a:cs typeface="DejaVu Sans"/>
              </a:defRPr>
            </a:defPPr>
            <a:lvl1pPr algn="l">
              <a:defRPr sz="1575" b="1">
                <a:solidFill>
                  <a:srgbClr val="B66D4F"/>
                </a:solidFill>
                <a:latin typeface="DejaVu Sans"/>
                <a:ea typeface="DejaVu Sans"/>
                <a:cs typeface="DejaVu Sans"/>
              </a:defRPr>
            </a:lvl1pPr>
            <a:lvl2pPr algn="l">
              <a:defRPr sz="1575" b="1">
                <a:solidFill>
                  <a:srgbClr val="B66D4F"/>
                </a:solidFill>
                <a:latin typeface="DejaVu Sans"/>
                <a:ea typeface="DejaVu Sans"/>
                <a:cs typeface="DejaVu Sans"/>
              </a:defRPr>
            </a:lvl2pPr>
            <a:lvl3pPr algn="l">
              <a:defRPr sz="1575" b="1">
                <a:solidFill>
                  <a:srgbClr val="B66D4F"/>
                </a:solidFill>
                <a:latin typeface="DejaVu Sans"/>
                <a:ea typeface="DejaVu Sans"/>
                <a:cs typeface="DejaVu Sans"/>
              </a:defRPr>
            </a:lvl3pPr>
            <a:lvl4pPr algn="l">
              <a:defRPr sz="1575" b="1">
                <a:solidFill>
                  <a:srgbClr val="B66D4F"/>
                </a:solidFill>
                <a:latin typeface="DejaVu Sans"/>
                <a:ea typeface="DejaVu Sans"/>
                <a:cs typeface="DejaVu Sans"/>
              </a:defRPr>
            </a:lvl4pPr>
            <a:lvl5pPr algn="l">
              <a:defRPr sz="1575" b="1">
                <a:solidFill>
                  <a:srgbClr val="B66D4F"/>
                </a:solidFill>
                <a:latin typeface="DejaVu Sans"/>
                <a:ea typeface="DejaVu Sans"/>
                <a:cs typeface="DejaVu Sans"/>
              </a:defRPr>
            </a:lvl5pPr>
            <a:lvl6pPr algn="l">
              <a:defRPr sz="1575" b="1">
                <a:solidFill>
                  <a:srgbClr val="B66D4F"/>
                </a:solidFill>
                <a:latin typeface="DejaVu Sans"/>
                <a:ea typeface="DejaVu Sans"/>
                <a:cs typeface="DejaVu Sans"/>
              </a:defRPr>
            </a:lvl6pPr>
            <a:lvl7pPr algn="l">
              <a:defRPr sz="1575" b="1">
                <a:solidFill>
                  <a:srgbClr val="B66D4F"/>
                </a:solidFill>
                <a:latin typeface="DejaVu Sans"/>
                <a:ea typeface="DejaVu Sans"/>
                <a:cs typeface="DejaVu Sans"/>
              </a:defRPr>
            </a:lvl7pPr>
            <a:lvl8pPr algn="l">
              <a:defRPr sz="1575" b="1">
                <a:solidFill>
                  <a:srgbClr val="B66D4F"/>
                </a:solidFill>
                <a:latin typeface="DejaVu Sans"/>
                <a:ea typeface="DejaVu Sans"/>
                <a:cs typeface="DejaVu Sans"/>
              </a:defRPr>
            </a:lvl8pPr>
            <a:lvl9pPr algn="l">
              <a:defRPr sz="1575" b="1">
                <a:solidFill>
                  <a:srgbClr val="B66D4F"/>
                </a:solidFill>
                <a:latin typeface="DejaVu Sans"/>
                <a:ea typeface="DejaVu Sans"/>
                <a:cs typeface="DejaVu Sans"/>
              </a:defRPr>
            </a:lvl9pPr>
          </a:lstStyle>
          <a:p xmlns:a="http://schemas.openxmlformats.org/drawingml/2006/main">
            <a:pPr algn="l">
              <a:defRPr sz="1575" b="1">
                <a:solidFill>
                  <a:srgbClr val="B66D4F"/>
                </a:solidFill>
                <a:latin typeface="DejaVu Sans"/>
                <a:ea typeface="DejaVu Sans"/>
                <a:cs typeface="DejaVu Sans"/>
              </a:defRPr>
            </a:pPr>
            <a:r>
              <a:rPr sz="1575" b="1">
                <a:solidFill>
                  <a:srgbClr val="B66D4F"/>
                </a:solidFill>
                <a:latin typeface="DejaVu Sans"/>
                <a:ea typeface="DejaVu Sans"/>
                <a:cs typeface="DejaVu Sans"/>
              </a:rPr>
              <a:t>Synthetic CSVs and missing checkpoints leave the reported results unverified.</a:t>
            </a:r>
          </a:p>
        </p:txBody>
      </p:sp>
    </p:spTree>
    <p:extLst>
      <p:ext uri="{BB962C8B-B14F-4D97-AF65-F5344CB8AC3E}">
        <p14:creationId xmlns:p14="http://schemas.microsoft.com/office/powerpoint/2010/main" val="106837996"/>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7 / 17">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17 / 17</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Interpretation limits">
            <a:extLst xmlns:a="http://schemas.openxmlformats.org/drawingml/2006/main">
              <a:ext uri="{FF2B5EF4-FFF2-40B4-BE49-F238E27FC236}">
                <a16:creationId xmlns:a16="http://schemas.microsoft.com/office/drawing/2014/main" id="{6A83A57D-8E74-4CDC-9025-DB7195FCA18B}"/>
              </a:ext>
            </a:extLst>
          </p:cNvPr>
          <p:cNvSpPr>
            <a:spLocks xmlns:a="http://schemas.openxmlformats.org/drawingml/2006/main" noGrp="1"/>
          </p:cNvSpPr>
          <p:nvPr/>
        </p:nvSpPr>
        <p:spPr>
          <a:xfrm xmlns:a="http://schemas.openxmlformats.org/drawingml/2006/main">
            <a:off x="571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Interpretation limits</a:t>
            </a:r>
          </a:p>
        </p:txBody>
      </p:sp>
      <p:sp>
        <p:nvSpPr>
          <p:cNvPr id="12" name="Unequal training budgets and synthetic data provenance limit the ">
            <a:extLst xmlns:a="http://schemas.openxmlformats.org/drawingml/2006/main">
              <a:ext uri="{FF2B5EF4-FFF2-40B4-BE49-F238E27FC236}">
                <a16:creationId xmlns:a16="http://schemas.microsoft.com/office/drawing/2014/main" id="{03DACA0E-33CB-4A73-8094-46A378E9F898}"/>
              </a:ext>
            </a:extLst>
          </p:cNvPr>
          <p:cNvSpPr>
            <a:spLocks xmlns:a="http://schemas.openxmlformats.org/drawingml/2006/main" noGrp="1"/>
          </p:cNvSpPr>
          <p:nvPr/>
        </p:nvSpPr>
        <p:spPr>
          <a:xfrm xmlns:a="http://schemas.openxmlformats.org/drawingml/2006/main">
            <a:off x="571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Unequal training budgets and synthetic data provenance limit the conclusions.</a:t>
            </a:r>
          </a:p>
        </p:txBody>
      </p:sp>
      <p:sp>
        <p:nvSpPr>
          <p:cNvPr id="13" name="Metric trade-offs">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6286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Metric trade-offs</a:t>
            </a:r>
          </a:p>
        </p:txBody>
      </p:sp>
      <p:sp>
        <p:nvSpPr>
          <p:cNvPr id="14" name="Higher top-1 does not imply better performance for every class gr">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6286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Higher top-1 does not imply better performance for every class group or metric.</a:t>
            </a:r>
          </a:p>
        </p:txBody>
      </p:sp>
      <p:sp>
        <p:nvSpPr>
          <p:cNvPr id="15"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2026-10-25T18:51:39.2150000Z</dcterms:created>
  <dcterms:modified xsi:type="dcterms:W3CDTF">2026-10-25T18:51:39.2150000Z</dcterms:modified>
</coreProperties>
</file>