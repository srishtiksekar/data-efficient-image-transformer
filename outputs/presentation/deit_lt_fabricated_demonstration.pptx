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ab1441168348c9" /><Relationship Type="http://schemas.openxmlformats.org/officeDocument/2006/relationships/extended-properties" Target="/docProps/app.xml" Id="Ra4553dbf62294e68" /><Relationship Type="http://schemas.openxmlformats.org/officeDocument/2006/relationships/officeDocument" Target="/ppt/presentation.xml" Id="R623dd2a5af724f3b" /></Relationships>
</file>

<file path=ppt/presentation.xml><?xml version="1.0" encoding="utf-8"?>
<p:presentation xmlns:p="http://schemas.openxmlformats.org/presentationml/2006/main">
  <p:sldMasterIdLst>
    <p:sldMasterId xmlns:r="http://schemas.openxmlformats.org/officeDocument/2006/relationships" id="2147483648" r:id="R4ab67db93dd84f1f"/>
  </p:sldMasterIdLst>
  <p:notesMasterIdLst>
    <p:notesMasterId xmlns:r="http://schemas.openxmlformats.org/officeDocument/2006/relationships" r:id="R7d0cdcb622b64781"/>
  </p:notesMasterIdLst>
  <p:sldIdLst>
    <p:sldId xmlns:r="http://schemas.openxmlformats.org/officeDocument/2006/relationships" id="256" r:id="R3c511ccf146b4e97"/>
    <p:sldId xmlns:r="http://schemas.openxmlformats.org/officeDocument/2006/relationships" id="257" r:id="Rc792407c18234ebb"/>
    <p:sldId xmlns:r="http://schemas.openxmlformats.org/officeDocument/2006/relationships" id="258" r:id="R1256c8f7260041ac"/>
    <p:sldId xmlns:r="http://schemas.openxmlformats.org/officeDocument/2006/relationships" id="259" r:id="Rd0bfe03851d746c3"/>
    <p:sldId xmlns:r="http://schemas.openxmlformats.org/officeDocument/2006/relationships" id="260" r:id="R8c313f51800c4129"/>
    <p:sldId xmlns:r="http://schemas.openxmlformats.org/officeDocument/2006/relationships" id="261" r:id="R28502329aad945da"/>
    <p:sldId xmlns:r="http://schemas.openxmlformats.org/officeDocument/2006/relationships" id="262" r:id="R3e86ad6ed3b549fb"/>
    <p:sldId xmlns:r="http://schemas.openxmlformats.org/officeDocument/2006/relationships" id="263" r:id="Ra567d960c71f4258"/>
    <p:sldId xmlns:r="http://schemas.openxmlformats.org/officeDocument/2006/relationships" id="264" r:id="R416a31edd961414b"/>
    <p:sldId xmlns:r="http://schemas.openxmlformats.org/officeDocument/2006/relationships" id="265" r:id="R8b7ec2096e0b447d"/>
    <p:sldId xmlns:r="http://schemas.openxmlformats.org/officeDocument/2006/relationships" id="266" r:id="R4f3a8fd542a6470a"/>
    <p:sldId xmlns:r="http://schemas.openxmlformats.org/officeDocument/2006/relationships" id="267" r:id="R9bbb0d3c78f3460f"/>
    <p:sldId xmlns:r="http://schemas.openxmlformats.org/officeDocument/2006/relationships" id="268" r:id="Re02c65e594d44664"/>
    <p:sldId xmlns:r="http://schemas.openxmlformats.org/officeDocument/2006/relationships" id="269" r:id="Rf1090e637d784682"/>
    <p:sldId xmlns:r="http://schemas.openxmlformats.org/officeDocument/2006/relationships" id="270" r:id="R3bf27fcd79db4d83"/>
    <p:sldId xmlns:r="http://schemas.openxmlformats.org/officeDocument/2006/relationships" id="271" r:id="Rd52bbfe2041941d5"/>
    <p:sldId xmlns:r="http://schemas.openxmlformats.org/officeDocument/2006/relationships" id="272" r:id="R2bf1dde03bb24c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a860caec834589" /><Relationship Type="http://schemas.openxmlformats.org/officeDocument/2006/relationships/slideMaster" Target="/ppt/slideMasters/slideMaster1.xml" Id="R4ab67db93dd84f1f" /><Relationship Type="http://schemas.openxmlformats.org/officeDocument/2006/relationships/notesMaster" Target="/ppt/notesMasters/notesMaster1.xml" Id="R7d0cdcb622b64781" /><Relationship Type="http://schemas.openxmlformats.org/officeDocument/2006/relationships/presProps" Target="/ppt/presProps.xml" Id="R1e15464163924e34" /><Relationship Type="http://schemas.openxmlformats.org/officeDocument/2006/relationships/tableStyles" Target="/ppt/tableStyles.xml" Id="R859f49e7d1de4095" /><Relationship Type="http://schemas.openxmlformats.org/officeDocument/2006/relationships/slide" Target="/ppt/slides/slide1.xml" Id="R3c511ccf146b4e97" /><Relationship Type="http://schemas.openxmlformats.org/officeDocument/2006/relationships/slide" Target="/ppt/slides/slide2.xml" Id="Rc792407c18234ebb" /><Relationship Type="http://schemas.openxmlformats.org/officeDocument/2006/relationships/slide" Target="/ppt/slides/slide3.xml" Id="R1256c8f7260041ac" /><Relationship Type="http://schemas.openxmlformats.org/officeDocument/2006/relationships/slide" Target="/ppt/slides/slide4.xml" Id="Rd0bfe03851d746c3" /><Relationship Type="http://schemas.openxmlformats.org/officeDocument/2006/relationships/slide" Target="/ppt/slides/slide5.xml" Id="R8c313f51800c4129" /><Relationship Type="http://schemas.openxmlformats.org/officeDocument/2006/relationships/slide" Target="/ppt/slides/slide6.xml" Id="R28502329aad945da" /><Relationship Type="http://schemas.openxmlformats.org/officeDocument/2006/relationships/slide" Target="/ppt/slides/slide7.xml" Id="R3e86ad6ed3b549fb" /><Relationship Type="http://schemas.openxmlformats.org/officeDocument/2006/relationships/slide" Target="/ppt/slides/slide8.xml" Id="Ra567d960c71f4258" /><Relationship Type="http://schemas.openxmlformats.org/officeDocument/2006/relationships/slide" Target="/ppt/slides/slide9.xml" Id="R416a31edd961414b" /><Relationship Type="http://schemas.openxmlformats.org/officeDocument/2006/relationships/slide" Target="/ppt/slides/slide10.xml" Id="R8b7ec2096e0b447d" /><Relationship Type="http://schemas.openxmlformats.org/officeDocument/2006/relationships/slide" Target="/ppt/slides/slide11.xml" Id="R4f3a8fd542a6470a" /><Relationship Type="http://schemas.openxmlformats.org/officeDocument/2006/relationships/slide" Target="/ppt/slides/slide12.xml" Id="R9bbb0d3c78f3460f" /><Relationship Type="http://schemas.openxmlformats.org/officeDocument/2006/relationships/slide" Target="/ppt/slides/slide13.xml" Id="Re02c65e594d44664" /><Relationship Type="http://schemas.openxmlformats.org/officeDocument/2006/relationships/slide" Target="/ppt/slides/slide14.xml" Id="Rf1090e637d784682" /><Relationship Type="http://schemas.openxmlformats.org/officeDocument/2006/relationships/slide" Target="/ppt/slides/slide15.xml" Id="R3bf27fcd79db4d83" /><Relationship Type="http://schemas.openxmlformats.org/officeDocument/2006/relationships/slide" Target="/ppt/slides/slide16.xml" Id="Rd52bbfe2041941d5" /><Relationship Type="http://schemas.openxmlformats.org/officeDocument/2006/relationships/slide" Target="/ppt/slides/slide17.xml" Id="R2bf1dde03bb24c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290bcb837b40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bb475f6cf34dcc" /><Relationship Type="http://schemas.openxmlformats.org/officeDocument/2006/relationships/notesMaster" Target="/ppt/notesMasters/notesMaster1.xml" Id="R63318d1a533c4b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3696877e1843f8" /><Relationship Type="http://schemas.openxmlformats.org/officeDocument/2006/relationships/notesMaster" Target="/ppt/notesMasters/notesMaster1.xml" Id="R88a7f2c79aff4a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350c2d29524700" /><Relationship Type="http://schemas.openxmlformats.org/officeDocument/2006/relationships/notesMaster" Target="/ppt/notesMasters/notesMaster1.xml" Id="Rff56d2971fa743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18f23d6db147e7" /><Relationship Type="http://schemas.openxmlformats.org/officeDocument/2006/relationships/notesMaster" Target="/ppt/notesMasters/notesMaster1.xml" Id="Rfa318b62a44f4d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e7d7f7c8ab4c96" /><Relationship Type="http://schemas.openxmlformats.org/officeDocument/2006/relationships/notesMaster" Target="/ppt/notesMasters/notesMaster1.xml" Id="Rff096f5cc2af40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6c14526db4a9e" /><Relationship Type="http://schemas.openxmlformats.org/officeDocument/2006/relationships/notesMaster" Target="/ppt/notesMasters/notesMaster1.xml" Id="Ra63de0206d9442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0a6bcc8d434e11" /><Relationship Type="http://schemas.openxmlformats.org/officeDocument/2006/relationships/notesMaster" Target="/ppt/notesMasters/notesMaster1.xml" Id="R89187f3158374f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64cf93ef384df3" /><Relationship Type="http://schemas.openxmlformats.org/officeDocument/2006/relationships/notesMaster" Target="/ppt/notesMasters/notesMaster1.xml" Id="R76da42beaad446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4c311518024bb8" /><Relationship Type="http://schemas.openxmlformats.org/officeDocument/2006/relationships/notesMaster" Target="/ppt/notesMasters/notesMaster1.xml" Id="Re7d37b41b45047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9122f6463a41b1" /><Relationship Type="http://schemas.openxmlformats.org/officeDocument/2006/relationships/notesMaster" Target="/ppt/notesMasters/notesMaster1.xml" Id="R18860629ad004e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708ea7f5e4004" /><Relationship Type="http://schemas.openxmlformats.org/officeDocument/2006/relationships/notesMaster" Target="/ppt/notesMasters/notesMaster1.xml" Id="R537abe38bef64d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2eec34312d4019" /><Relationship Type="http://schemas.openxmlformats.org/officeDocument/2006/relationships/notesMaster" Target="/ppt/notesMasters/notesMaster1.xml" Id="R86b2add109e24b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23e53b797f4937" /><Relationship Type="http://schemas.openxmlformats.org/officeDocument/2006/relationships/notesMaster" Target="/ppt/notesMasters/notesMaster1.xml" Id="R89c1c483940c4f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d940798384903" /><Relationship Type="http://schemas.openxmlformats.org/officeDocument/2006/relationships/notesMaster" Target="/ppt/notesMasters/notesMaster1.xml" Id="R15ba909bf8ad40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1caecb28c2470d" /><Relationship Type="http://schemas.openxmlformats.org/officeDocument/2006/relationships/notesMaster" Target="/ppt/notesMasters/notesMaster1.xml" Id="R82f4975a1b824d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a96e1aa16d4a7b" /><Relationship Type="http://schemas.openxmlformats.org/officeDocument/2006/relationships/notesMaster" Target="/ppt/notesMasters/notesMaster1.xml" Id="R1d0af190acc54a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7dec93d9004494" /><Relationship Type="http://schemas.openxmlformats.org/officeDocument/2006/relationships/notesMaster" Target="/ppt/notesMasters/notesMaster1.xml" Id="R30860681f0184a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3, CIFAR-10-LT with imbalance factor50. Full metric values are reproduced exactly as supplied. Top1 lead80.6-79.2=1.4 points; tail79.5-69.2=10.3; mid75.5-79.2=-3.7; head88.5-89.2=-0.7. DeiT-Final leads top1,top5,macroF1 and tail in the reported table, while CNN leads head and mid. All comparisons remain descriptive because underlying experimental evidence was not independently verified.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5, CIFAR-100-LT with imbalance factor50. Full metric values follow the PDF. DeiTFinal vsCNN: top1 +4.3 points,top5 -4.9,macroF1 +5.0,head +10.4,mid +6.4,tail -7.6. The supplied report therefore does not support a claim that DeiT-Final improves every subgroup at IF50. These are reported values with synthetic CSV provenance and require independent experimental verification.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2d79c33eaf4b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b08d0a8f104c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9554b4ed384e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c9734403bc4b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a56061a84242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aff32649bc46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4ae4b222ec489b" /><Relationship Type="http://schemas.openxmlformats.org/officeDocument/2006/relationships/slideLayout" Target="/ppt/slideLayouts/slideLayout1.xml" Id="R05eea9ba18aa40a5" /><Relationship Type="http://schemas.openxmlformats.org/officeDocument/2006/relationships/slideLayout" Target="/ppt/slideLayouts/slideLayout2.xml" Id="R5a2a8f2c905c4a89" /><Relationship Type="http://schemas.openxmlformats.org/officeDocument/2006/relationships/slideLayout" Target="/ppt/slideLayouts/slideLayout3.xml" Id="Re271f9490be84302" /><Relationship Type="http://schemas.openxmlformats.org/officeDocument/2006/relationships/slideLayout" Target="/ppt/slideLayouts/slideLayout4.xml" Id="Ra8fee9b679eb48d5" /><Relationship Type="http://schemas.openxmlformats.org/officeDocument/2006/relationships/slideLayout" Target="/ppt/slideLayouts/slideLayout5.xml" Id="R96ec5e02017d4814" /><Relationship Type="http://schemas.openxmlformats.org/officeDocument/2006/relationships/slideLayout" Target="/ppt/slideLayouts/slideLayout6.xml" Id="R591e4da0d38b4d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eea9ba18aa40a5"/>
    <p:sldLayoutId xmlns:r="http://schemas.openxmlformats.org/officeDocument/2006/relationships" id="2147483650" r:id="R5a2a8f2c905c4a89"/>
    <p:sldLayoutId xmlns:r="http://schemas.openxmlformats.org/officeDocument/2006/relationships" id="2147483651" r:id="Re271f9490be84302"/>
    <p:sldLayoutId xmlns:r="http://schemas.openxmlformats.org/officeDocument/2006/relationships" id="2147483652" r:id="Ra8fee9b679eb48d5"/>
    <p:sldLayoutId xmlns:r="http://schemas.openxmlformats.org/officeDocument/2006/relationships" id="2147483653" r:id="R96ec5e02017d4814"/>
    <p:sldLayoutId xmlns:r="http://schemas.openxmlformats.org/officeDocument/2006/relationships" id="2147483654" r:id="R591e4da0d38b4d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2b9843a45c4d3e" /><Relationship Type="http://schemas.openxmlformats.org/officeDocument/2006/relationships/notesSlide" Target="/ppt/notesSlides/notesSlide1.xml" Id="R77e0a649b8234e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cf3a8ddd1b4c54" /><Relationship Type="http://schemas.openxmlformats.org/officeDocument/2006/relationships/chart" Target="/ppt/slides/charts/chart1.xml" Id="R3ae2b6f9fa3b41fe" /><Relationship Type="http://schemas.openxmlformats.org/officeDocument/2006/relationships/notesSlide" Target="/ppt/notesSlides/notesSlide2.xml" Id="Rcd9d34fc2f834e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0c4e1c5eb245df" /><Relationship Type="http://schemas.openxmlformats.org/officeDocument/2006/relationships/notesSlide" Target="/ppt/notesSlides/notesSlide3.xml" Id="Re6584d828a8142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fb31d731bd4d80" /><Relationship Type="http://schemas.openxmlformats.org/officeDocument/2006/relationships/notesSlide" Target="/ppt/notesSlides/notesSlide4.xml" Id="R258cdc230d7c49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0c7db3ff37437a" /><Relationship Type="http://schemas.openxmlformats.org/officeDocument/2006/relationships/notesSlide" Target="/ppt/notesSlides/notesSlide5.xml" Id="R27270000461747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1a42aef73b4227" /><Relationship Type="http://schemas.openxmlformats.org/officeDocument/2006/relationships/notesSlide" Target="/ppt/notesSlides/notesSlide6.xml" Id="R53c6354ed7e0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4341b3f1b04d4a" /><Relationship Type="http://schemas.openxmlformats.org/officeDocument/2006/relationships/notesSlide" Target="/ppt/notesSlides/notesSlide7.xml" Id="R78773178d4394e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9026f037f14ee6" /><Relationship Type="http://schemas.openxmlformats.org/officeDocument/2006/relationships/notesSlide" Target="/ppt/notesSlides/notesSlide8.xml" Id="R1155b7cb6b9947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f67aa234194ddc" /><Relationship Type="http://schemas.openxmlformats.org/officeDocument/2006/relationships/notesSlide" Target="/ppt/notesSlides/notesSlide9.xml" Id="R8a76b6e5393349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b75082a4bb4559" /><Relationship Type="http://schemas.openxmlformats.org/officeDocument/2006/relationships/notesSlide" Target="/ppt/notesSlides/notesSlide10.xml" Id="R996ad3f3287042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244fb37e0e443a" /><Relationship Type="http://schemas.openxmlformats.org/officeDocument/2006/relationships/chart" Target="/ppt/slides/charts/chart2.xml" Id="R1660caa726504cdb" /><Relationship Type="http://schemas.openxmlformats.org/officeDocument/2006/relationships/notesSlide" Target="/ppt/notesSlides/notesSlide11.xml" Id="R53ba8ea6be9a43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5e8425e8b74243" /><Relationship Type="http://schemas.openxmlformats.org/officeDocument/2006/relationships/notesSlide" Target="/ppt/notesSlides/notesSlide12.xml" Id="R5c1ad57ba0ec40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03af7cd2494370" /><Relationship Type="http://schemas.openxmlformats.org/officeDocument/2006/relationships/chart" Target="/ppt/slides/charts/chart3.xml" Id="R51f971ee1c834e83" /><Relationship Type="http://schemas.openxmlformats.org/officeDocument/2006/relationships/notesSlide" Target="/ppt/notesSlides/notesSlide13.xml" Id="R00c16b5736e946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09a36cf73f7404e" /><Relationship Type="http://schemas.openxmlformats.org/officeDocument/2006/relationships/notesSlide" Target="/ppt/notesSlides/notesSlide14.xml" Id="R09fd00d2b32946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60c5eb887ca4e66" /><Relationship Type="http://schemas.openxmlformats.org/officeDocument/2006/relationships/chart" Target="/ppt/slides/charts/chart4.xml" Id="Rbfd8a5f8751b4267" /><Relationship Type="http://schemas.openxmlformats.org/officeDocument/2006/relationships/notesSlide" Target="/ppt/notesSlides/notesSlide15.xml" Id="R2447c59005d046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4164354597047ae" /><Relationship Type="http://schemas.openxmlformats.org/officeDocument/2006/relationships/notesSlide" Target="/ppt/notesSlides/notesSlide16.xml" Id="R82df6674a70745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fbef2b86e3d4bc7" /><Relationship Type="http://schemas.openxmlformats.org/officeDocument/2006/relationships/notesSlide" Target="/ppt/notesSlides/notesSlide17.xml" Id="R6086c4d29874450d"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7">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17</a:t>
            </a:r>
          </a:p>
        </p:txBody>
      </p:sp>
      <p:sp>
        <p:nvSpPr>
          <p:cNvPr id="9" name="Fabricated results disclosure">
            <a:extLst xmlns:a="http://schemas.openxmlformats.org/drawingml/2006/main">
              <a:ext uri="{FF2B5EF4-FFF2-40B4-BE49-F238E27FC236}">
                <a16:creationId xmlns:a16="http://schemas.microsoft.com/office/drawing/2014/main" id="{49566BA3-6BDB-4EB5-9E55-FE117C50A861}"/>
              </a:ext>
            </a:extLst>
          </p:cNvPr>
          <p:cNvSpPr>
            <a:spLocks xmlns:a="http://schemas.openxmlformats.org/drawingml/2006/main" noGrp="1"/>
          </p:cNvSpPr>
          <p:nvPr/>
        </p:nvSpPr>
        <p:spPr>
          <a:xfrm xmlns:a="http://schemas.openxmlformats.org/drawingml/2006/main">
            <a:off x="600075" y="45434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FFD19B"/>
                </a:solidFill>
                <a:latin typeface="DejaVu Sans"/>
                <a:ea typeface="DejaVu Sans"/>
                <a:cs typeface="DejaVu Sans"/>
              </a:defRPr>
            </a:defPPr>
            <a:lvl1pPr>
              <a:defRPr sz="1650" b="1">
                <a:solidFill>
                  <a:srgbClr val="FFD19B"/>
                </a:solidFill>
                <a:latin typeface="DejaVu Sans"/>
                <a:ea typeface="DejaVu Sans"/>
                <a:cs typeface="DejaVu Sans"/>
              </a:defRPr>
            </a:lvl1pPr>
            <a:lvl2pPr>
              <a:defRPr sz="1650" b="1">
                <a:solidFill>
                  <a:srgbClr val="FFD19B"/>
                </a:solidFill>
                <a:latin typeface="DejaVu Sans"/>
                <a:ea typeface="DejaVu Sans"/>
                <a:cs typeface="DejaVu Sans"/>
              </a:defRPr>
            </a:lvl2pPr>
            <a:lvl3pPr>
              <a:defRPr sz="1650" b="1">
                <a:solidFill>
                  <a:srgbClr val="FFD19B"/>
                </a:solidFill>
                <a:latin typeface="DejaVu Sans"/>
                <a:ea typeface="DejaVu Sans"/>
                <a:cs typeface="DejaVu Sans"/>
              </a:defRPr>
            </a:lvl3pPr>
            <a:lvl4pPr>
              <a:defRPr sz="1650" b="1">
                <a:solidFill>
                  <a:srgbClr val="FFD19B"/>
                </a:solidFill>
                <a:latin typeface="DejaVu Sans"/>
                <a:ea typeface="DejaVu Sans"/>
                <a:cs typeface="DejaVu Sans"/>
              </a:defRPr>
            </a:lvl4pPr>
            <a:lvl5pPr>
              <a:defRPr sz="1650" b="1">
                <a:solidFill>
                  <a:srgbClr val="FFD19B"/>
                </a:solidFill>
                <a:latin typeface="DejaVu Sans"/>
                <a:ea typeface="DejaVu Sans"/>
                <a:cs typeface="DejaVu Sans"/>
              </a:defRPr>
            </a:lvl5pPr>
            <a:lvl6pPr>
              <a:defRPr sz="1650" b="1">
                <a:solidFill>
                  <a:srgbClr val="FFD19B"/>
                </a:solidFill>
                <a:latin typeface="DejaVu Sans"/>
                <a:ea typeface="DejaVu Sans"/>
                <a:cs typeface="DejaVu Sans"/>
              </a:defRPr>
            </a:lvl6pPr>
            <a:lvl7pPr>
              <a:defRPr sz="1650" b="1">
                <a:solidFill>
                  <a:srgbClr val="FFD19B"/>
                </a:solidFill>
                <a:latin typeface="DejaVu Sans"/>
                <a:ea typeface="DejaVu Sans"/>
                <a:cs typeface="DejaVu Sans"/>
              </a:defRPr>
            </a:lvl7pPr>
            <a:lvl8pPr>
              <a:defRPr sz="1650" b="1">
                <a:solidFill>
                  <a:srgbClr val="FFD19B"/>
                </a:solidFill>
                <a:latin typeface="DejaVu Sans"/>
                <a:ea typeface="DejaVu Sans"/>
                <a:cs typeface="DejaVu Sans"/>
              </a:defRPr>
            </a:lvl8pPr>
            <a:lvl9pPr>
              <a:defRPr sz="1650" b="1">
                <a:solidFill>
                  <a:srgbClr val="FFD19B"/>
                </a:solidFill>
                <a:latin typeface="DejaVu Sans"/>
                <a:ea typeface="DejaVu Sans"/>
                <a:cs typeface="DejaVu Sans"/>
              </a:defRPr>
            </a:lvl9pPr>
          </a:lstStyle>
          <a:p xmlns:a="http://schemas.openxmlformats.org/drawingml/2006/main">
            <a:pPr>
              <a:defRPr sz="1650" b="1">
                <a:solidFill>
                  <a:srgbClr val="FFD19B"/>
                </a:solidFill>
                <a:latin typeface="DejaVu Sans"/>
                <a:ea typeface="DejaVu Sans"/>
                <a:cs typeface="DejaVu Sans"/>
              </a:defRPr>
            </a:pPr>
            <a:r>
              <a:rPr sz="1650" b="1">
                <a:solidFill>
                  <a:srgbClr val="FFD19B"/>
                </a:solidFill>
                <a:latin typeface="DejaVu Sans"/>
                <a:ea typeface="DejaVu Sans"/>
                <a:cs typeface="DejaVu Sans"/>
              </a:rPr>
              <a:t>FABRICATED RESULTS: synthetic demonstration, not measured experiments</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7">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17</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3ae2b6f9fa3b41fe"/>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7">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17</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7">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17</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7">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17</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7">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17</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7">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17</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7">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17</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7">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17</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0 / 17">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17</a:t>
            </a:r>
          </a:p>
        </p:txBody>
      </p:sp>
      <p:graphicFrame>
        <p:nvGraphicFramePr>
          <p:cNvPr id="6"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8"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1 / 17">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17</a:t>
            </a:r>
          </a:p>
        </p:txBody>
      </p:sp>
      <p:sp>
        <p:nvSpPr>
          <p:cNvPr id="6"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1660caa726504cdb"/>
          </a:graphicData>
        </a:graphic>
      </p:graphicFrame>
      <p:sp>
        <p:nvSpPr>
          <p:cNvPr id="8"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9"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0"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1"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2"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D0F96F9B-25B5-416A-B5AA-90A3986CBF3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full results at IF = 50">
            <a:extLst xmlns:a="http://schemas.openxmlformats.org/drawingml/2006/main">
              <a:ext uri="{FF2B5EF4-FFF2-40B4-BE49-F238E27FC236}">
                <a16:creationId xmlns:a16="http://schemas.microsoft.com/office/drawing/2014/main" id="{9948625C-2B98-49A7-987A-E5B8893D0B0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full results at IF = 50</a:t>
            </a:r>
          </a:p>
        </p:txBody>
      </p:sp>
      <p:sp>
        <p:nvSpPr>
          <p:cNvPr id="4" name="">
            <a:extLst xmlns:a="http://schemas.openxmlformats.org/drawingml/2006/main">
              <a:ext uri="{FF2B5EF4-FFF2-40B4-BE49-F238E27FC236}">
                <a16:creationId xmlns:a16="http://schemas.microsoft.com/office/drawing/2014/main" id="{9DD24857-19F3-4C06-8A36-125ABA00FF4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2 / 17">
            <a:extLst xmlns:a="http://schemas.openxmlformats.org/drawingml/2006/main">
              <a:ext uri="{FF2B5EF4-FFF2-40B4-BE49-F238E27FC236}">
                <a16:creationId xmlns:a16="http://schemas.microsoft.com/office/drawing/2014/main" id="{C7B60375-56B8-4157-9EEE-FE6A8C37CDA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17</a:t>
            </a:r>
          </a:p>
        </p:txBody>
      </p:sp>
      <p:graphicFrame>
        <p:nvGraphicFramePr>
          <p:cNvPr id="6" name="">
            <a:extLst xmlns:a="http://schemas.openxmlformats.org/drawingml/2006/main">
              <a:ext uri="{FF2B5EF4-FFF2-40B4-BE49-F238E27FC236}">
                <a16:creationId xmlns:a16="http://schemas.microsoft.com/office/drawing/2014/main" id="{2F84D8BD-4C46-442E-8E7C-18E145D61B6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92.7</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77.2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89.5</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88.8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98.2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75.5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CFDD8989-E826-4004-BE7B-5D1B134D1FF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1.4 points in top-1">
            <a:extLst xmlns:a="http://schemas.openxmlformats.org/drawingml/2006/main">
              <a:ext uri="{FF2B5EF4-FFF2-40B4-BE49-F238E27FC236}">
                <a16:creationId xmlns:a16="http://schemas.microsoft.com/office/drawing/2014/main" id="{999BC8C8-076F-4F3C-B411-0C541AFDF568}"/>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+1.4 points in top-1</a:t>
            </a:r>
          </a:p>
        </p:txBody>
      </p:sp>
      <p:sp>
        <p:nvSpPr>
          <p:cNvPr id="9" name="DeiT-Final reports 80.6% versus 79.2% for the best baseline, ResN">
            <a:extLst xmlns:a="http://schemas.openxmlformats.org/drawingml/2006/main">
              <a:ext uri="{FF2B5EF4-FFF2-40B4-BE49-F238E27FC236}">
                <a16:creationId xmlns:a16="http://schemas.microsoft.com/office/drawing/2014/main" id="{9F1D7E1B-0E61-4341-BC18-642024C2DDBA}"/>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80.6% versus 79.2% for the best baseline, ResNet-32.</a:t>
            </a:r>
          </a:p>
        </p:txBody>
      </p:sp>
      <p:sp>
        <p:nvSpPr>
          <p:cNvPr id="10" name="+10.3 points on the tail">
            <a:extLst xmlns:a="http://schemas.openxmlformats.org/drawingml/2006/main">
              <a:ext uri="{FF2B5EF4-FFF2-40B4-BE49-F238E27FC236}">
                <a16:creationId xmlns:a16="http://schemas.microsoft.com/office/drawing/2014/main" id="{7E99D8EB-7944-4C69-AB42-80AF383A82B4}"/>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+10.3 points on the tail</a:t>
            </a:r>
          </a:p>
        </p:txBody>
      </p:sp>
      <p:sp>
        <p:nvSpPr>
          <p:cNvPr id="11" name="Tail accuracy reaches 79.5% versus 69.2% for ResNet-32, while its">
            <a:extLst xmlns:a="http://schemas.openxmlformats.org/drawingml/2006/main">
              <a:ext uri="{FF2B5EF4-FFF2-40B4-BE49-F238E27FC236}">
                <a16:creationId xmlns:a16="http://schemas.microsoft.com/office/drawing/2014/main" id="{2B58B846-1EFF-44F6-9B44-A9731E40A3EA}"/>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accuracy reaches 79.5% versus 69.2% for ResNet-32, while its mid accuracy is lower.</a:t>
            </a:r>
          </a:p>
        </p:txBody>
      </p:sp>
    </p:spTree>
    <p:extLst>
      <p:ext uri="{BB962C8B-B14F-4D97-AF65-F5344CB8AC3E}">
        <p14:creationId xmlns:p14="http://schemas.microsoft.com/office/powerpoint/2010/main" val="1011596800"/>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3 / 17">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17</a:t>
            </a:r>
          </a:p>
        </p:txBody>
      </p:sp>
      <p:sp>
        <p:nvSpPr>
          <p:cNvPr id="6"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51f971ee1c834e83"/>
          </a:graphicData>
        </a:graphic>
      </p:graphicFrame>
      <p:sp>
        <p:nvSpPr>
          <p:cNvPr id="8"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9"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0"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1"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2"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B82A581A-413D-4D9A-8A05-85F01DC3CE99}"/>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full results at IF = 50">
            <a:extLst xmlns:a="http://schemas.openxmlformats.org/drawingml/2006/main">
              <a:ext uri="{FF2B5EF4-FFF2-40B4-BE49-F238E27FC236}">
                <a16:creationId xmlns:a16="http://schemas.microsoft.com/office/drawing/2014/main" id="{335C34B0-F2F8-4E4D-904F-4CBDD368C89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full results at IF = 50</a:t>
            </a:r>
          </a:p>
        </p:txBody>
      </p:sp>
      <p:sp>
        <p:nvSpPr>
          <p:cNvPr id="4" name="">
            <a:extLst xmlns:a="http://schemas.openxmlformats.org/drawingml/2006/main">
              <a:ext uri="{FF2B5EF4-FFF2-40B4-BE49-F238E27FC236}">
                <a16:creationId xmlns:a16="http://schemas.microsoft.com/office/drawing/2014/main" id="{22B298D9-0875-4AA6-88BD-C3E4BC2C41DB}"/>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4 / 17">
            <a:extLst xmlns:a="http://schemas.openxmlformats.org/drawingml/2006/main">
              <a:ext uri="{FF2B5EF4-FFF2-40B4-BE49-F238E27FC236}">
                <a16:creationId xmlns:a16="http://schemas.microsoft.com/office/drawing/2014/main" id="{7BF2DF1B-7829-40F5-B1C0-97650FC7A120}"/>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17</a:t>
            </a:r>
          </a:p>
        </p:txBody>
      </p:sp>
      <p:graphicFrame>
        <p:nvGraphicFramePr>
          <p:cNvPr id="6" name="">
            <a:extLst xmlns:a="http://schemas.openxmlformats.org/drawingml/2006/main">
              <a:ext uri="{FF2B5EF4-FFF2-40B4-BE49-F238E27FC236}">
                <a16:creationId xmlns:a16="http://schemas.microsoft.com/office/drawing/2014/main" id="{4523FD6A-A5F0-4BD4-8CA2-E261FAB79C1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81.1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78.6</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28.9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80.4</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76.2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49.1</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66.5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28.5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D4457A1F-2F70-4EA1-8870-903D2186EC9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4.3 points in top-1">
            <a:extLst xmlns:a="http://schemas.openxmlformats.org/drawingml/2006/main">
              <a:ext uri="{FF2B5EF4-FFF2-40B4-BE49-F238E27FC236}">
                <a16:creationId xmlns:a16="http://schemas.microsoft.com/office/drawing/2014/main" id="{F992EE3E-BD93-4344-B3CD-93E4705808B5}"/>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+4.3 points in top-1</a:t>
            </a:r>
          </a:p>
        </p:txBody>
      </p:sp>
      <p:sp>
        <p:nvSpPr>
          <p:cNvPr id="9" name="DeiT-Final reports 50.4% versus 46.1% for ResNet-32, with gains i">
            <a:extLst xmlns:a="http://schemas.openxmlformats.org/drawingml/2006/main">
              <a:ext uri="{FF2B5EF4-FFF2-40B4-BE49-F238E27FC236}">
                <a16:creationId xmlns:a16="http://schemas.microsoft.com/office/drawing/2014/main" id="{C5D7ECFA-3A9F-47A5-A08C-6D5F79D3E5A1}"/>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50.4% versus 46.1% for ResNet-32, with gains in head and mid accuracy.</a:t>
            </a:r>
          </a:p>
        </p:txBody>
      </p:sp>
      <p:sp>
        <p:nvSpPr>
          <p:cNvPr id="10" name="Tail and top-5 trade-offs">
            <a:extLst xmlns:a="http://schemas.openxmlformats.org/drawingml/2006/main">
              <a:ext uri="{FF2B5EF4-FFF2-40B4-BE49-F238E27FC236}">
                <a16:creationId xmlns:a16="http://schemas.microsoft.com/office/drawing/2014/main" id="{8F98B54E-480F-494D-8E27-11A33D61A3D0}"/>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and top-5 trade-offs</a:t>
            </a:r>
          </a:p>
        </p:txBody>
      </p:sp>
      <p:sp>
        <p:nvSpPr>
          <p:cNvPr id="11" name="Tail drops 7.6 points (28.5% versus 36.1%). Top-5 drops 4.9 point">
            <a:extLst xmlns:a="http://schemas.openxmlformats.org/drawingml/2006/main">
              <a:ext uri="{FF2B5EF4-FFF2-40B4-BE49-F238E27FC236}">
                <a16:creationId xmlns:a16="http://schemas.microsoft.com/office/drawing/2014/main" id="{CDB62D72-4F05-46D8-82E5-02A61177DEBF}"/>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drops 7.6 points (28.5% versus 36.1%). Top-5 drops 4.9 points (76.2% versus 81.1%).</a:t>
            </a:r>
          </a:p>
        </p:txBody>
      </p:sp>
    </p:spTree>
    <p:extLst>
      <p:ext uri="{BB962C8B-B14F-4D97-AF65-F5344CB8AC3E}">
        <p14:creationId xmlns:p14="http://schemas.microsoft.com/office/powerpoint/2010/main" val="38513548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5 / 17">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17</a:t>
            </a:r>
          </a:p>
        </p:txBody>
      </p:sp>
      <p:sp>
        <p:nvSpPr>
          <p:cNvPr id="6"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7"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bfd8a5f8751b4267"/>
          </a:graphicData>
        </a:graphic>
      </p:graphicFrame>
      <p:sp>
        <p:nvSpPr>
          <p:cNvPr id="8"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9"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0"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1"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2"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Base-paper comparison and evidence limits">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Base-paper comparison and evidence limits</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6 / 17">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16 / 17</a:t>
            </a:r>
          </a:p>
        </p:txBody>
      </p:sp>
      <p:graphicFrame>
        <p:nvGraphicFramePr>
          <p:cNvPr id="6"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Tree>
    <p:extLst>
      <p:ext uri="{BB962C8B-B14F-4D97-AF65-F5344CB8AC3E}">
        <p14:creationId xmlns:p14="http://schemas.microsoft.com/office/powerpoint/2010/main" val="106837996"/>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7 / 17">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17 / 17</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Metric trade-offs">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6286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Metric trade-offs</a:t>
            </a:r>
          </a:p>
        </p:txBody>
      </p:sp>
      <p:sp>
        <p:nvSpPr>
          <p:cNvPr id="12" name="Higher top-1 does not imply better performance for every class gr">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6286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Higher top-1 does not imply better performance for every class group or metric.</a:t>
            </a:r>
          </a:p>
        </p:txBody>
      </p:sp>
      <p:sp>
        <p:nvSpPr>
          <p:cNvPr id="13"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2026-10-25T18:58:43.1510000Z</dcterms:created>
  <dcterms:modified xsi:type="dcterms:W3CDTF">2026-10-25T18:58:43.1510000Z</dcterms:modified>
</coreProperties>
</file>