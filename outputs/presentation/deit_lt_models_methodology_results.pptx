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24022837874cc6" /><Relationship Type="http://schemas.openxmlformats.org/officeDocument/2006/relationships/extended-properties" Target="/docProps/app.xml" Id="R7d7ee70638364355" /><Relationship Type="http://schemas.openxmlformats.org/officeDocument/2006/relationships/officeDocument" Target="/ppt/presentation.xml" Id="R5904347851e1494e" /></Relationships>
</file>

<file path=ppt/presentation.xml><?xml version="1.0" encoding="utf-8"?>
<p:presentation xmlns:p="http://schemas.openxmlformats.org/presentationml/2006/main">
  <p:sldMasterIdLst>
    <p:sldMasterId xmlns:r="http://schemas.openxmlformats.org/officeDocument/2006/relationships" id="2147483648" r:id="R24c33d8c52cb4a5a"/>
  </p:sldMasterIdLst>
  <p:notesMasterIdLst>
    <p:notesMasterId xmlns:r="http://schemas.openxmlformats.org/officeDocument/2006/relationships" r:id="R5c73b1ad5ca845ba"/>
  </p:notesMasterIdLst>
  <p:sldIdLst>
    <p:sldId xmlns:r="http://schemas.openxmlformats.org/officeDocument/2006/relationships" id="256" r:id="R254438e5f487430c"/>
    <p:sldId xmlns:r="http://schemas.openxmlformats.org/officeDocument/2006/relationships" id="257" r:id="R586314f5a9ab4a16"/>
    <p:sldId xmlns:r="http://schemas.openxmlformats.org/officeDocument/2006/relationships" id="258" r:id="R890f479898834c31"/>
    <p:sldId xmlns:r="http://schemas.openxmlformats.org/officeDocument/2006/relationships" id="259" r:id="Rbcfde09eff134e2a"/>
    <p:sldId xmlns:r="http://schemas.openxmlformats.org/officeDocument/2006/relationships" id="260" r:id="R9c3ad2b3c6384d8d"/>
    <p:sldId xmlns:r="http://schemas.openxmlformats.org/officeDocument/2006/relationships" id="261" r:id="Rea11c313dc0842b9"/>
    <p:sldId xmlns:r="http://schemas.openxmlformats.org/officeDocument/2006/relationships" id="262" r:id="R9f34a5f6646d48ab"/>
    <p:sldId xmlns:r="http://schemas.openxmlformats.org/officeDocument/2006/relationships" id="263" r:id="R73668320838d45e2"/>
    <p:sldId xmlns:r="http://schemas.openxmlformats.org/officeDocument/2006/relationships" id="264" r:id="R1608a6a2c2ca4e94"/>
    <p:sldId xmlns:r="http://schemas.openxmlformats.org/officeDocument/2006/relationships" id="265" r:id="R924bb3a4529a4a27"/>
    <p:sldId xmlns:r="http://schemas.openxmlformats.org/officeDocument/2006/relationships" id="266" r:id="R7936f2ec3ccf409d"/>
    <p:sldId xmlns:r="http://schemas.openxmlformats.org/officeDocument/2006/relationships" id="267" r:id="R8d95e92ab69440c6"/>
    <p:sldId xmlns:r="http://schemas.openxmlformats.org/officeDocument/2006/relationships" id="268" r:id="R9476db9d5e0f4e12"/>
    <p:sldId xmlns:r="http://schemas.openxmlformats.org/officeDocument/2006/relationships" id="269" r:id="Rcf669ac31b684156"/>
    <p:sldId xmlns:r="http://schemas.openxmlformats.org/officeDocument/2006/relationships" id="270" r:id="Raec6e74c121e4a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440138f9d34319" /><Relationship Type="http://schemas.openxmlformats.org/officeDocument/2006/relationships/slideMaster" Target="/ppt/slideMasters/slideMaster1.xml" Id="R24c33d8c52cb4a5a" /><Relationship Type="http://schemas.openxmlformats.org/officeDocument/2006/relationships/notesMaster" Target="/ppt/notesMasters/notesMaster1.xml" Id="R5c73b1ad5ca845ba" /><Relationship Type="http://schemas.openxmlformats.org/officeDocument/2006/relationships/presProps" Target="/ppt/presProps.xml" Id="R5293f954e5464523" /><Relationship Type="http://schemas.openxmlformats.org/officeDocument/2006/relationships/tableStyles" Target="/ppt/tableStyles.xml" Id="R04714d6192754178" /><Relationship Type="http://schemas.openxmlformats.org/officeDocument/2006/relationships/slide" Target="/ppt/slides/slide1.xml" Id="R254438e5f487430c" /><Relationship Type="http://schemas.openxmlformats.org/officeDocument/2006/relationships/slide" Target="/ppt/slides/slide2.xml" Id="R586314f5a9ab4a16" /><Relationship Type="http://schemas.openxmlformats.org/officeDocument/2006/relationships/slide" Target="/ppt/slides/slide3.xml" Id="R890f479898834c31" /><Relationship Type="http://schemas.openxmlformats.org/officeDocument/2006/relationships/slide" Target="/ppt/slides/slide4.xml" Id="Rbcfde09eff134e2a" /><Relationship Type="http://schemas.openxmlformats.org/officeDocument/2006/relationships/slide" Target="/ppt/slides/slide5.xml" Id="R9c3ad2b3c6384d8d" /><Relationship Type="http://schemas.openxmlformats.org/officeDocument/2006/relationships/slide" Target="/ppt/slides/slide6.xml" Id="Rea11c313dc0842b9" /><Relationship Type="http://schemas.openxmlformats.org/officeDocument/2006/relationships/slide" Target="/ppt/slides/slide7.xml" Id="R9f34a5f6646d48ab" /><Relationship Type="http://schemas.openxmlformats.org/officeDocument/2006/relationships/slide" Target="/ppt/slides/slide8.xml" Id="R73668320838d45e2" /><Relationship Type="http://schemas.openxmlformats.org/officeDocument/2006/relationships/slide" Target="/ppt/slides/slide9.xml" Id="R1608a6a2c2ca4e94" /><Relationship Type="http://schemas.openxmlformats.org/officeDocument/2006/relationships/slide" Target="/ppt/slides/slide10.xml" Id="R924bb3a4529a4a27" /><Relationship Type="http://schemas.openxmlformats.org/officeDocument/2006/relationships/slide" Target="/ppt/slides/slide11.xml" Id="R7936f2ec3ccf409d" /><Relationship Type="http://schemas.openxmlformats.org/officeDocument/2006/relationships/slide" Target="/ppt/slides/slide12.xml" Id="R8d95e92ab69440c6" /><Relationship Type="http://schemas.openxmlformats.org/officeDocument/2006/relationships/slide" Target="/ppt/slides/slide13.xml" Id="R9476db9d5e0f4e12" /><Relationship Type="http://schemas.openxmlformats.org/officeDocument/2006/relationships/slide" Target="/ppt/slides/slide14.xml" Id="Rcf669ac31b684156" /><Relationship Type="http://schemas.openxmlformats.org/officeDocument/2006/relationships/slide" Target="/ppt/slides/slide15.xml" Id="Raec6e74c121e4a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255fda2c4842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1b1a972c1e54ab3" /><Relationship Type="http://schemas.openxmlformats.org/officeDocument/2006/relationships/notesMaster" Target="/ppt/notesMasters/notesMaster1.xml" Id="R0cd20ac155474f4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928af1b0d844c9" /><Relationship Type="http://schemas.openxmlformats.org/officeDocument/2006/relationships/notesMaster" Target="/ppt/notesMasters/notesMaster1.xml" Id="R2953b51bad9b45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26ac9587bb47a0" /><Relationship Type="http://schemas.openxmlformats.org/officeDocument/2006/relationships/notesMaster" Target="/ppt/notesMasters/notesMaster1.xml" Id="Ra98ec5ef99da4b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fa6275985ae4da8" /><Relationship Type="http://schemas.openxmlformats.org/officeDocument/2006/relationships/notesMaster" Target="/ppt/notesMasters/notesMaster1.xml" Id="R016839b8fb4e48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3cd67076be4434" /><Relationship Type="http://schemas.openxmlformats.org/officeDocument/2006/relationships/notesMaster" Target="/ppt/notesMasters/notesMaster1.xml" Id="R9c4fa89a28d344d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7fe08b2d044457" /><Relationship Type="http://schemas.openxmlformats.org/officeDocument/2006/relationships/notesMaster" Target="/ppt/notesMasters/notesMaster1.xml" Id="R75f1ef92d6ea4a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608e1217264258" /><Relationship Type="http://schemas.openxmlformats.org/officeDocument/2006/relationships/notesMaster" Target="/ppt/notesMasters/notesMaster1.xml" Id="Ra9a4395549f740e6" /></Relationships>
</file>

<file path=ppt/notesSlides/_rels/notesSlide8.xml.rels>&#65279;<?xml version="1.0" encoding="utf-8"?><Relationships xmlns="http://schemas.openxmlformats.org/package/2006/relationships"><Relationship Type="http://schemas.openxmlformats.org/officeDocument/2006/relationships/slide" Target="/ppt/slides/slide8.xml" Id="Ree798630fc23405c" /><Relationship Type="http://schemas.openxmlformats.org/officeDocument/2006/relationships/notesMaster" Target="/ppt/notesMasters/notesMaster1.xml" Id="R68ce0304faf94947" /></Relationships>
</file>

<file path=ppt/notesSlides/_rels/notesSlide9.xml.rels>&#65279;<?xml version="1.0" encoding="utf-8"?><Relationships xmlns="http://schemas.openxmlformats.org/package/2006/relationships"><Relationship Type="http://schemas.openxmlformats.org/officeDocument/2006/relationships/slide" Target="/ppt/slides/slide9.xml" Id="R5881e67a0b714c69" /><Relationship Type="http://schemas.openxmlformats.org/officeDocument/2006/relationships/notesMaster" Target="/ppt/notesMasters/notesMaster1.xml" Id="R426f09b802e6422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add9fead2af4721" /><Relationship Type="http://schemas.openxmlformats.org/officeDocument/2006/relationships/notesMaster" Target="/ppt/notesMasters/notesMaster1.xml" Id="Re33ef38956f2497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63bfd09d3ef49a2" /><Relationship Type="http://schemas.openxmlformats.org/officeDocument/2006/relationships/notesMaster" Target="/ppt/notesMasters/notesMaster1.xml" Id="R63e0e24c9e0d496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75aae95a24e494f" /><Relationship Type="http://schemas.openxmlformats.org/officeDocument/2006/relationships/notesMaster" Target="/ppt/notesMasters/notesMaster1.xml" Id="R38f5cecc637f43f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511257ff64e4ad6" /><Relationship Type="http://schemas.openxmlformats.org/officeDocument/2006/relationships/notesMaster" Target="/ppt/notesMasters/notesMaster1.xml" Id="R5ee494e8bce24f1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a329bfcdf0e4d11" /><Relationship Type="http://schemas.openxmlformats.org/officeDocument/2006/relationships/notesMaster" Target="/ppt/notesMasters/notesMaster1.xml" Id="R2c9a6fe3332e495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e2c453a11394f91" /><Relationship Type="http://schemas.openxmlformats.org/officeDocument/2006/relationships/notesMaster" Target="/ppt/notesMasters/notesMaster1.xml" Id="R9cb1d2498f9142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Based on the updated project report. Group members and course affiliation follow its cover. DeiT-Final is the report’s name for the full model trained with the DeiT-LT recipe. This deck describes the architecture and reported comparisons. It does not establish that the reported results arose from verified training runs.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Problem Statement and Dataset Details, pp. 3–7. The line chart is calculated from the supplied class-size formula n_i = floor(n_max (1/IF)^(i/(C-1))), C=10 and n_max=5000. It is a dataset construction illustration, not a measured model result.</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Dataset Details, Table 1 and Head, mid and tail groups, pp. 7–8. CIFAR-10 groups: classes 0–2 / 3–6 / 7–9. CIFAR-100 groups: 0–35 / 36–70 / 71–99. ImageNet-LT uses &gt;100 / 20–100 / &lt;20 training examples per class. CIFAR train totals follow Table 1 exactly; split files were not independently checked.</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Models compared in this project, p. 6. The editable diagram depicts the standard CIFAR ResNet-32, consistent with ResNetCIFAR in the repository notebooks: stem 16 channels; three stages with 5 basic blocks each at 16/32/64 channels; global average pooling and a linear classifier. Stage transitions downsample. This architecture diagram specifically describes the CIFAR baseline. The report’s ImageNet architecture needs checkpoint verification, as discussed on slide 14.</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Vision Transformer basics, pp. 4–5, and Models compared in this project, p. 6. Patch count is calculated as (224/16)^2 = 196, giving 197 tokens including CLS. The report specifies 8 blocks, 3 heads and embedding dimension 192. Architecture and optimization summary follows the project baseline, not the large ViT-B configuration of every cited paper.</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Models compared in this project, p. 6, and deit3_training_cifar.ipynb. Diagram abbreviates two pre-norm residual sublayers. Attention and MLP branches both use LayerScale and stochastic depth in the local implementation. The project describes a DeiT-III-style baseline, not an exact implementation claim for every detail of the original DeiT III paper. DeiT-3 and DeiT-III refer to this baseline.</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Method Overview with Architecture, Figure 1, pp. 5–6. Strong augmentations serve both the teacher and the student. CLS learns from true labels. DIST learns hard teacher labels with deferred re-weighting. This diagram condenses the two-headed training flow. The report states that the two heads are averaged at inference. The arrow from both heads to the distillation loss denotes the DIST contribution specifically; only the CLS head uses the true-label CE loss. No separate CNN teacher runs at inference.</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What DeiT-LT changes, pp. 5–6. Definitions: y_t = argmax_i g(x)_i; DRW = -w_{y_t} log p_DIST(y_t); before epoch K all weights are 1. The report defines effective class counts e_y=(1-beta^N_y)/(1-beta), and w_y=1/[1+(e_y-1)1(epoch&gt;=K)]. It attributes low-rank features to the SAM-trained teacher. These are method mechanisms described by the source, not ablation results independently demonstrated in this repository. The report mentions a stronger PaCo + SAM teacher in its base-paper comparison; that is not established as the local teacher configuration.</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Models compared in this project, pp. 6–7, and Discussion, p. 12. The report states that baselines use 100 epochs, with ImageNet-LT exceptions of 1400 epochs for ResNet-32 and ViT. DeiT-Final uses 1200 CIFAR and 1400 ImageNet epochs. Thus the table infers ImageNet DeiT-III=100 from the general statement. The report does not clearly supply all DeiT-Final optimizer, batch size, GPU type, repeated seeds, or checkpoint provenance details. Do not attribute every performance difference to architecture or distillation.</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Tables 2–6, pp. 9–11. All numeric values are percentages. Baseline order and reported values follow the updated PDF rather than the separate target-reference CSV created in this chat. Differences are calculated as DeiT-Final top-1 minus the maximum baseline top-1 in each row. Values are report summaries, not independently validated experimental evidence. Workspace CSV provenance explicitly marks metrics synthetic.</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 2 (IF100) and Table 3 (IF50), pp. 9–10. Every chart value is copied from the PDF, including the source baseline subgroup inconsistency discussed on slide 14. Tail gain is 76.9-45.0=31.9 percentage points. At IF50, top1 gain is 80.6-79.2=1.4 points. These patterns are compatible with the mechanism, but cannot establish causality or experimental validity without verified checkpoints, predictions, and comparable schedules.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Tables 4–5, p. 10. IF100 reported macroF1: 36.2,32.9,36.0,45.0 for ResNet32,ViT,DeiTIII,DeiTFinal. Reported top5:78.4,77.2,78.3,73.5. DeiT-Final top1 gain46.8-38.2=8.6 points; tail24.8-28.2=-3.4; top5 73.5-78.4=-4.9. At IF50 DeiT-Final50.4 vsCNN46.1 (+4.3) top1, tail28.5 vs36.1 (-7.6). Improved top1 does not imply that every metric or subgroup improves.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 6 and ImageNet-LT discussion, p. 11. DeiT-Final top1 46.5, top5 70.2, macroF1 44.5; CNN41.3/70.5/46.0; ViT35.0/58.0/34.0; DeiTIII42.3/81.9/46.3. Reported tail gains29.5-7.8=21.7 overViT,29.5-28.2=1.3 overCNN. Head-to-tail gaps calculated54.5-29.5=25.0;63.3-17=46.3. Highest top1 does not imply highest macroF1. Class membership/checkpoint evidence remain necessary to validate these reported summaries.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 7, p.12, comparing the project report with its cited smallest DeiT-LT configuration from Rangwani et al.2024. This is the report’s comparison, not an independent verification of the base paper. Different teacher recipes, batch sizes and model details limit direct equivalence. The report’s proposed reasons are hypotheses, not tested ablations. Consistency check derived from the stated balanced CIFAR10 test set and class grouping sizes3/4/3: (3*84.5+4*64.5+3*45.0)/10=64.65, which conflicts with top1=74.5. Rounded group values cannot explain a9.85-point difference. At IF50 the analogous CNN weighted average79.2 agrees. The source report labels the ImageNet CNN ResNet32, while repository make_model selects ResNet50 for non-CIFAR non-smoke runs; actual checkpoint architecture therefore needs verification. No checkpoints were found in the inspected repository.</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report Discussion and References, pp.12–15. Key references as cited there: Rangwani,H.,Mondal,P.,Mishra,M.,Asokan,A.R.,&amp;Babu,R.V.(2024). DeiT-LT: Distillation Strikes Back for Vision Transformer Training on Long-Tailed Datasets. CVPR. https://doi.org/10.48550/arXiv.2404.02900 ; He,K.,Zhang,X.,Ren,S.,&amp;Sun,J.(2016). Deep Residual Learning for Image Recognition. CVPR ; Dosovitskiy,A.,et al.(2021). An Image is Worth16x16 Words. ICLR ; Touvron,H.,Cord,M.,&amp;Jégou,H.(2022). DeiT III: Revenge of the ViT. ECCV. The architecture and method explanation can stand independently of the reported results. The dataset-level rankings remain descriptive until independent experimental evidence resolves synthetic provenance and numeric inconsistencies.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d076075c4a450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a4492b45a68487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b9968a4dff94cb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08610ca35e8498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261f2cb2f5f442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af8947ae81943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1E5A4E-2432-4522-A5F3-C38F310979A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F78B431-86C6-442A-80E0-A6032EC5D9A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7C6E448-B0C5-40D3-BB4D-F722012ED47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95677B-B52B-4B22-B5E8-E43DD1DF2E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079EEDE-AC5E-4E1C-93E9-01313CFBC11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FDA3C1B-08B0-4BF5-B8B0-B60291DA87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4EF0A0-B16C-4010-B9C6-A6369C921C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D109E1A-93F0-4D1B-B1E2-DA5CF45C379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BF0541-35AE-423F-BBC8-84E4D77259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5B8C2E3-4C93-4F04-A25D-9A588F4F27D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f9650eef28458e" /><Relationship Type="http://schemas.openxmlformats.org/officeDocument/2006/relationships/slideLayout" Target="/ppt/slideLayouts/slideLayout1.xml" Id="R2dacb0e773de4a27" /><Relationship Type="http://schemas.openxmlformats.org/officeDocument/2006/relationships/slideLayout" Target="/ppt/slideLayouts/slideLayout2.xml" Id="R6e241fdf9bf840e7" /><Relationship Type="http://schemas.openxmlformats.org/officeDocument/2006/relationships/slideLayout" Target="/ppt/slideLayouts/slideLayout3.xml" Id="Ra6780c3b24284993" /><Relationship Type="http://schemas.openxmlformats.org/officeDocument/2006/relationships/slideLayout" Target="/ppt/slideLayouts/slideLayout4.xml" Id="Rf77c725285ad4282" /><Relationship Type="http://schemas.openxmlformats.org/officeDocument/2006/relationships/slideLayout" Target="/ppt/slideLayouts/slideLayout5.xml" Id="R4803c65958134851" /><Relationship Type="http://schemas.openxmlformats.org/officeDocument/2006/relationships/slideLayout" Target="/ppt/slideLayouts/slideLayout6.xml" Id="R716c914f406442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acb0e773de4a27"/>
    <p:sldLayoutId xmlns:r="http://schemas.openxmlformats.org/officeDocument/2006/relationships" id="2147483650" r:id="R6e241fdf9bf840e7"/>
    <p:sldLayoutId xmlns:r="http://schemas.openxmlformats.org/officeDocument/2006/relationships" id="2147483651" r:id="Ra6780c3b24284993"/>
    <p:sldLayoutId xmlns:r="http://schemas.openxmlformats.org/officeDocument/2006/relationships" id="2147483652" r:id="Rf77c725285ad4282"/>
    <p:sldLayoutId xmlns:r="http://schemas.openxmlformats.org/officeDocument/2006/relationships" id="2147483653" r:id="R4803c65958134851"/>
    <p:sldLayoutId xmlns:r="http://schemas.openxmlformats.org/officeDocument/2006/relationships" id="2147483654" r:id="R716c914f406442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1d46d84c4b24c2f" /><Relationship Type="http://schemas.openxmlformats.org/officeDocument/2006/relationships/notesSlide" Target="/ppt/notesSlides/notesSlide1.xml" Id="R8643aeb3f93b46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71f28da64df4e97" /><Relationship Type="http://schemas.openxmlformats.org/officeDocument/2006/relationships/chart" Target="/ppt/slides/charts/chart1.xml" Id="R2e212e7ba2f54a2f" /><Relationship Type="http://schemas.openxmlformats.org/officeDocument/2006/relationships/notesSlide" Target="/ppt/notesSlides/notesSlide2.xml" Id="R4dafefc44dbf4a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0571c3df4b244c2" /><Relationship Type="http://schemas.openxmlformats.org/officeDocument/2006/relationships/notesSlide" Target="/ppt/notesSlides/notesSlide3.xml" Id="R16bb0ef06f63463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e138511b8ef4529" /><Relationship Type="http://schemas.openxmlformats.org/officeDocument/2006/relationships/notesSlide" Target="/ppt/notesSlides/notesSlide4.xml" Id="R4e98b10ed87349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aab0047c71f4174" /><Relationship Type="http://schemas.openxmlformats.org/officeDocument/2006/relationships/notesSlide" Target="/ppt/notesSlides/notesSlide5.xml" Id="R59b4e5df215a45b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7e83b409ff449d7" /><Relationship Type="http://schemas.openxmlformats.org/officeDocument/2006/relationships/notesSlide" Target="/ppt/notesSlides/notesSlide6.xml" Id="R8184bbbf1bde44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c0b85ad152f4550" /><Relationship Type="http://schemas.openxmlformats.org/officeDocument/2006/relationships/notesSlide" Target="/ppt/notesSlides/notesSlide7.xml" Id="R8f4a6a1afa3e4a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d2af2484e424ab2" /><Relationship Type="http://schemas.openxmlformats.org/officeDocument/2006/relationships/notesSlide" Target="/ppt/notesSlides/notesSlide8.xml" Id="Re55f29bbcba44f7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7413e468fea4c7a" /><Relationship Type="http://schemas.openxmlformats.org/officeDocument/2006/relationships/notesSlide" Target="/ppt/notesSlides/notesSlide9.xml" Id="R67f570eebaa445f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1fde8f78b3b43c3" /><Relationship Type="http://schemas.openxmlformats.org/officeDocument/2006/relationships/notesSlide" Target="/ppt/notesSlides/notesSlide10.xml" Id="R6b946ff58acd4b9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4b6709344a947ea" /><Relationship Type="http://schemas.openxmlformats.org/officeDocument/2006/relationships/chart" Target="/ppt/slides/charts/chart2.xml" Id="Rad9da4ecf76d47ad" /><Relationship Type="http://schemas.openxmlformats.org/officeDocument/2006/relationships/notesSlide" Target="/ppt/notesSlides/notesSlide11.xml" Id="R845f0c6e4d53404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7081d9df60f41a0" /><Relationship Type="http://schemas.openxmlformats.org/officeDocument/2006/relationships/chart" Target="/ppt/slides/charts/chart3.xml" Id="Ra0ee60cc1eba4df5" /><Relationship Type="http://schemas.openxmlformats.org/officeDocument/2006/relationships/notesSlide" Target="/ppt/notesSlides/notesSlide12.xml" Id="Rb6c533d54fa24f6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40378f7e46c489f" /><Relationship Type="http://schemas.openxmlformats.org/officeDocument/2006/relationships/chart" Target="/ppt/slides/charts/chart4.xml" Id="R61f3a368a89440ae" /><Relationship Type="http://schemas.openxmlformats.org/officeDocument/2006/relationships/notesSlide" Target="/ppt/notesSlides/notesSlide13.xml" Id="Re9d0449d2cb74fc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5e623db205e4e52" /><Relationship Type="http://schemas.openxmlformats.org/officeDocument/2006/relationships/notesSlide" Target="/ppt/notesSlides/notesSlide14.xml" Id="R756c140d09874ea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b59a130fb264423" /><Relationship Type="http://schemas.openxmlformats.org/officeDocument/2006/relationships/notesSlide" Target="/ppt/notesSlides/notesSlide15.xml" Id="R42c9351c280a4f09" /></Relationships>
</file>

<file path=ppt/slides/charts/chart1.xml><?xml version="1.0" encoding="utf-8"?>
<c:chartSpace xmlns:c="http://schemas.openxmlformats.org/drawingml/2006/chart">
  <c:lang val="en-US"/>
  <c:chart>
    <c:plotArea>
      <c:lineChart>
        <c:grouping val="standard"/>
        <c:varyColors val="0"/>
        <c:ser>
          <c:idx val="0"/>
          <c:order val="0"/>
          <c:tx>
            <c:v>IF = 100</c:v>
          </c:tx>
          <c:spPr>
            <a:ln xmlns:a="http://schemas.openxmlformats.org/drawingml/2006/main" w="28575">
              <a:solidFill>
                <a:srgbClr val="3D5DD2"/>
              </a:solidFill>
            </a:ln>
          </c:spPr>
          <c:marker>
            <c:symbol val="none"/>
          </c:marker>
          <c:cat>
            <c:numLit>
              <c:formatCode>General</c:formatCode>
              <c:ptCount val="10"/>
              <c:pt idx="0">
                <c:v>0</c:v>
              </c:pt>
              <c:pt idx="1">
                <c:v>1</c:v>
              </c:pt>
              <c:pt idx="2">
                <c:v>2</c:v>
              </c:pt>
              <c:pt idx="3">
                <c:v>3</c:v>
              </c:pt>
              <c:pt idx="4">
                <c:v>4</c:v>
              </c:pt>
              <c:pt idx="5">
                <c:v>5</c:v>
              </c:pt>
              <c:pt idx="6">
                <c:v>6</c:v>
              </c:pt>
              <c:pt idx="7">
                <c:v>7</c:v>
              </c:pt>
              <c:pt idx="8">
                <c:v>8</c:v>
              </c:pt>
              <c:pt idx="9">
                <c:v>9</c:v>
              </c:pt>
            </c:numLit>
          </c:cat>
          <c:val>
            <c:numLit>
              <c:formatCode>General</c:formatCode>
              <c:ptCount val="10"/>
              <c:pt idx="0">
                <c:v>5000</c:v>
              </c:pt>
              <c:pt idx="1">
                <c:v>2997</c:v>
              </c:pt>
              <c:pt idx="2">
                <c:v>1796</c:v>
              </c:pt>
              <c:pt idx="3">
                <c:v>1077</c:v>
              </c:pt>
              <c:pt idx="4">
                <c:v>645</c:v>
              </c:pt>
              <c:pt idx="5">
                <c:v>387</c:v>
              </c:pt>
              <c:pt idx="6">
                <c:v>232</c:v>
              </c:pt>
              <c:pt idx="7">
                <c:v>139</c:v>
              </c:pt>
              <c:pt idx="8">
                <c:v>83</c:v>
              </c:pt>
              <c:pt idx="9">
                <c:v>50</c:v>
              </c:pt>
            </c:numLit>
          </c:val>
        </c:ser>
        <c:ser>
          <c:idx val="1"/>
          <c:order val="1"/>
          <c:tx>
            <c:v>IF = 50</c:v>
          </c:tx>
          <c:spPr>
            <a:ln xmlns:a="http://schemas.openxmlformats.org/drawingml/2006/main" w="28575">
              <a:solidFill>
                <a:srgbClr val="B66D4F"/>
              </a:solidFill>
            </a:ln>
          </c:spPr>
          <c:marker>
            <c:symbol val="none"/>
          </c:marker>
          <c:cat>
            <c:numLit>
              <c:formatCode>General</c:formatCode>
              <c:ptCount val="10"/>
              <c:pt idx="0">
                <c:v>0</c:v>
              </c:pt>
              <c:pt idx="1">
                <c:v>1</c:v>
              </c:pt>
              <c:pt idx="2">
                <c:v>2</c:v>
              </c:pt>
              <c:pt idx="3">
                <c:v>3</c:v>
              </c:pt>
              <c:pt idx="4">
                <c:v>4</c:v>
              </c:pt>
              <c:pt idx="5">
                <c:v>5</c:v>
              </c:pt>
              <c:pt idx="6">
                <c:v>6</c:v>
              </c:pt>
              <c:pt idx="7">
                <c:v>7</c:v>
              </c:pt>
              <c:pt idx="8">
                <c:v>8</c:v>
              </c:pt>
              <c:pt idx="9">
                <c:v>9</c:v>
              </c:pt>
            </c:numLit>
          </c:cat>
          <c:val>
            <c:numLit>
              <c:formatCode>General</c:formatCode>
              <c:ptCount val="10"/>
              <c:pt idx="0">
                <c:v>5000</c:v>
              </c:pt>
              <c:pt idx="1">
                <c:v>3237</c:v>
              </c:pt>
              <c:pt idx="2">
                <c:v>2096</c:v>
              </c:pt>
              <c:pt idx="3">
                <c:v>1357</c:v>
              </c:pt>
              <c:pt idx="4">
                <c:v>878</c:v>
              </c:pt>
              <c:pt idx="5">
                <c:v>568</c:v>
              </c:pt>
              <c:pt idx="6">
                <c:v>368</c:v>
              </c:pt>
              <c:pt idx="7">
                <c:v>238</c:v>
              </c:pt>
              <c:pt idx="8">
                <c:v>154</c:v>
              </c:pt>
              <c:pt idx="9">
                <c:v>100</c:v>
              </c:pt>
            </c:numLit>
          </c:val>
        </c:ser>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Class rank</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DejaVu Sans"/>
                <a:ea typeface="DejaVu Sans"/>
                <a:cs typeface="DejaVu Sans"/>
              </a:defRPr>
            </a:pPr>
          </a:p>
        </c:txPr>
        <c:crossAx val="48672768"/>
      </c:catAx>
      <c:valAx>
        <c:axId val="48672768"/>
        <c:scaling>
          <c:orientation val="minMax"/>
          <c:max val="5000"/>
          <c:min val="0"/>
        </c:scaling>
        <c:delete val="0"/>
        <c:axPos val="l"/>
        <c:majorGridlines>
          <c:spPr>
            <a:ln xmlns:a="http://schemas.openxmlformats.org/drawingml/2006/main" w="9525">
              <a:solidFill>
                <a:srgbClr val="DDDCD5"/>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DejaVu Sans"/>
                <a:ea typeface="DejaVu Sans"/>
                <a:cs typeface="DejaVu Sans"/>
              </a:defRPr>
            </a:pPr>
          </a:p>
        </c:txPr>
        <c:crossAx val="48650112"/>
        <c:crossBetween val="between"/>
        <c:majorUnit val="1000"/>
      </c:valAx>
      <c:spPr>
        <a:solidFill xmlns:a="http://schemas.openxmlformats.org/drawingml/2006/main">
          <a:srgbClr val="F8F7F3"/>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DejaVu Sans"/>
              <a:ea typeface="DejaVu Sans"/>
              <a:cs typeface="DejaVu Sans"/>
            </a:defRPr>
          </a:pPr>
        </a:p>
      </c:txPr>
    </c:legend>
    <c:plotVisOnly val="1"/>
  </c:chart>
  <c:spPr>
    <a:solidFill xmlns:a="http://schemas.openxmlformats.org/drawingml/2006/main">
      <a:srgbClr val="F8F7F3"/>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ResNet-32</c:v>
          </c:tx>
          <c:spPr>
            <a:solidFill xmlns:a="http://schemas.openxmlformats.org/drawingml/2006/main">
              <a:srgbClr val="B66D4F"/>
            </a:solidFill>
          </c:spPr>
          <c:invertIfNegative val="0"/>
          <c:cat>
            <c:strLit>
              <c:ptCount val="3"/>
              <c:pt idx="0">
                <c:v>Head</c:v>
              </c:pt>
              <c:pt idx="1">
                <c:v>Mid</c:v>
              </c:pt>
              <c:pt idx="2">
                <c:v>Tail</c:v>
              </c:pt>
            </c:strLit>
          </c:cat>
          <c:val>
            <c:numLit>
              <c:formatCode>0.0</c:formatCode>
              <c:ptCount val="3"/>
              <c:pt idx="0">
                <c:v>84.5</c:v>
              </c:pt>
              <c:pt idx="1">
                <c:v>64.5</c:v>
              </c:pt>
              <c:pt idx="2">
                <c:v>45</c:v>
              </c:pt>
            </c:numLit>
          </c:val>
        </c:ser>
        <c:ser>
          <c:idx val="1"/>
          <c:order val="1"/>
          <c:tx>
            <c:v>ViT</c:v>
          </c:tx>
          <c:spPr>
            <a:solidFill xmlns:a="http://schemas.openxmlformats.org/drawingml/2006/main">
              <a:srgbClr val="8391A5"/>
            </a:solidFill>
          </c:spPr>
          <c:invertIfNegative val="0"/>
          <c:cat>
            <c:strLit>
              <c:ptCount val="3"/>
              <c:pt idx="0">
                <c:v>Head</c:v>
              </c:pt>
              <c:pt idx="1">
                <c:v>Mid</c:v>
              </c:pt>
              <c:pt idx="2">
                <c:v>Tail</c:v>
              </c:pt>
            </c:strLit>
          </c:cat>
          <c:val>
            <c:numLit>
              <c:formatCode>0.0</c:formatCode>
              <c:ptCount val="3"/>
              <c:pt idx="0">
                <c:v>72.5</c:v>
              </c:pt>
              <c:pt idx="1">
                <c:v>62.5</c:v>
              </c:pt>
              <c:pt idx="2">
                <c:v>52.5</c:v>
              </c:pt>
            </c:numLit>
          </c:val>
        </c:ser>
        <c:ser>
          <c:idx val="2"/>
          <c:order val="2"/>
          <c:tx>
            <c:v>DeiT-III</c:v>
          </c:tx>
          <c:spPr>
            <a:solidFill xmlns:a="http://schemas.openxmlformats.org/drawingml/2006/main">
              <a:srgbClr val="4A7772"/>
            </a:solidFill>
          </c:spPr>
          <c:invertIfNegative val="0"/>
          <c:cat>
            <c:strLit>
              <c:ptCount val="3"/>
              <c:pt idx="0">
                <c:v>Head</c:v>
              </c:pt>
              <c:pt idx="1">
                <c:v>Mid</c:v>
              </c:pt>
              <c:pt idx="2">
                <c:v>Tail</c:v>
              </c:pt>
            </c:strLit>
          </c:cat>
          <c:val>
            <c:numLit>
              <c:formatCode>0.0</c:formatCode>
              <c:ptCount val="3"/>
              <c:pt idx="0">
                <c:v>69</c:v>
              </c:pt>
              <c:pt idx="1">
                <c:v>59</c:v>
              </c:pt>
              <c:pt idx="2">
                <c:v>49</c:v>
              </c:pt>
            </c:numLit>
          </c:val>
        </c:ser>
        <c:ser>
          <c:idx val="3"/>
          <c:order val="3"/>
          <c:tx>
            <c:v>DeiT-Final</c:v>
          </c:tx>
          <c:spPr>
            <a:solidFill xmlns:a="http://schemas.openxmlformats.org/drawingml/2006/main">
              <a:srgbClr val="3D5DD2"/>
            </a:solidFill>
          </c:spPr>
          <c:invertIfNegative val="0"/>
          <c:cat>
            <c:strLit>
              <c:ptCount val="3"/>
              <c:pt idx="0">
                <c:v>Head</c:v>
              </c:pt>
              <c:pt idx="1">
                <c:v>Mid</c:v>
              </c:pt>
              <c:pt idx="2">
                <c:v>Tail</c:v>
              </c:pt>
            </c:strLit>
          </c:cat>
          <c:val>
            <c:numLit>
              <c:formatCode>0.0</c:formatCode>
              <c:ptCount val="3"/>
              <c:pt idx="0">
                <c:v>87.2</c:v>
              </c:pt>
              <c:pt idx="1">
                <c:v>72.6</c:v>
              </c:pt>
              <c:pt idx="2">
                <c:v>76.9</c:v>
              </c:pt>
            </c:numLit>
          </c:val>
        </c:ser>
        <c:dLbls>
          <c:numFmt formatCode="0.0" sourceLinked="0"/>
          <c:txPr>
            <a:bodyPr xmlns:a="http://schemas.openxmlformats.org/drawingml/2006/main" anchorCtr="1"/>
            <a:lstStyle xmlns:a="http://schemas.openxmlformats.org/drawingml/2006/main"/>
            <a:p xmlns:a="http://schemas.openxmlformats.org/drawingml/2006/main">
              <a:pPr>
                <a:defRPr sz="1200">
                  <a:solidFill>
                    <a:srgbClr val="202B38"/>
                  </a:solidFill>
                  <a:latin typeface="DejaVu Sans"/>
                  <a:ea typeface="DejaVu Sans"/>
                  <a:cs typeface="DejaVu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CD5"/>
            </a:solidFill>
          </a:ln>
        </c:spPr>
        <c:txPr>
          <a:bodyPr xmlns:a="http://schemas.openxmlformats.org/drawingml/2006/main" anchorCtr="1"/>
          <a:lstStyle xmlns:a="http://schemas.openxmlformats.org/drawingml/2006/main"/>
          <a:p xmlns:a="http://schemas.openxmlformats.org/drawingml/2006/main">
            <a:pPr>
              <a:defRPr sz="1500">
                <a:solidFill>
                  <a:srgbClr val="202B38"/>
                </a:solidFill>
                <a:latin typeface="DejaVu Sans"/>
                <a:ea typeface="DejaVu Sans"/>
                <a:cs typeface="DejaVu Sans"/>
              </a:defRPr>
            </a:pPr>
          </a:p>
        </c:txPr>
        <c:crossAx val="48672768"/>
      </c:catAx>
      <c:valAx>
        <c:axId val="48672768"/>
        <c:scaling>
          <c:orientation val="minMax"/>
          <c:max val="100"/>
          <c:min val="0"/>
        </c:scaling>
        <c:delete val="0"/>
        <c:axPos val="l"/>
        <c:majorGridlines>
          <c:spPr>
            <a:ln xmlns:a="http://schemas.openxmlformats.org/drawingml/2006/main" w="9525">
              <a:solidFill>
                <a:srgbClr val="E1E3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4707C"/>
                </a:solidFill>
                <a:latin typeface="DejaVu Sans"/>
                <a:ea typeface="DejaVu Sans"/>
                <a:cs typeface="DejaVu Sans"/>
              </a:defRPr>
            </a:pPr>
          </a:p>
        </c:txPr>
        <c:crossAx val="48650112"/>
        <c:crossBetween val="between"/>
        <c:majorUnit val="20"/>
      </c:valAx>
      <c:spPr>
        <a:solidFill xmlns:a="http://schemas.openxmlformats.org/drawingml/2006/main">
          <a:srgbClr val="F8F7F3"/>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202B38"/>
              </a:solidFill>
              <a:latin typeface="DejaVu Sans"/>
              <a:ea typeface="DejaVu Sans"/>
              <a:cs typeface="DejaVu Sans"/>
            </a:defRPr>
          </a:pPr>
        </a:p>
      </c:txPr>
    </c:legend>
    <c:plotVisOnly val="1"/>
  </c:chart>
  <c:spPr>
    <a:solidFill xmlns:a="http://schemas.openxmlformats.org/drawingml/2006/main">
      <a:srgbClr val="F8F7F3"/>
    </a:solidFill>
  </c:spPr>
</c:chartSpace>
</file>

<file path=ppt/slides/charts/chart3.xml><?xml version="1.0" encoding="utf-8"?>
<c:chartSpace xmlns:c="http://schemas.openxmlformats.org/drawingml/2006/chart">
  <c:lang val="en-US"/>
  <c:chart>
    <c:plotArea>
      <c:barChart>
        <c:barDir val="col"/>
        <c:grouping val="clustered"/>
        <c:varyColors val="0"/>
        <c:ser>
          <c:idx val="0"/>
          <c:order val="0"/>
          <c:tx>
            <c:v>ResNet-32</c:v>
          </c:tx>
          <c:spPr>
            <a:solidFill xmlns:a="http://schemas.openxmlformats.org/drawingml/2006/main">
              <a:srgbClr val="B66D4F"/>
            </a:solidFill>
          </c:spPr>
          <c:invertIfNegative val="0"/>
          <c:cat>
            <c:strLit>
              <c:ptCount val="3"/>
              <c:pt idx="0">
                <c:v>Head</c:v>
              </c:pt>
              <c:pt idx="1">
                <c:v>Mid</c:v>
              </c:pt>
              <c:pt idx="2">
                <c:v>Tail</c:v>
              </c:pt>
            </c:strLit>
          </c:cat>
          <c:val>
            <c:numLit>
              <c:formatCode>0.0</c:formatCode>
              <c:ptCount val="3"/>
              <c:pt idx="0">
                <c:v>48.2</c:v>
              </c:pt>
              <c:pt idx="1">
                <c:v>36.2</c:v>
              </c:pt>
              <c:pt idx="2">
                <c:v>28.2</c:v>
              </c:pt>
            </c:numLit>
          </c:val>
        </c:ser>
        <c:ser>
          <c:idx val="1"/>
          <c:order val="1"/>
          <c:tx>
            <c:v>ViT</c:v>
          </c:tx>
          <c:spPr>
            <a:solidFill xmlns:a="http://schemas.openxmlformats.org/drawingml/2006/main">
              <a:srgbClr val="8391A5"/>
            </a:solidFill>
          </c:spPr>
          <c:invertIfNegative val="0"/>
          <c:cat>
            <c:strLit>
              <c:ptCount val="3"/>
              <c:pt idx="0">
                <c:v>Head</c:v>
              </c:pt>
              <c:pt idx="1">
                <c:v>Mid</c:v>
              </c:pt>
              <c:pt idx="2">
                <c:v>Tail</c:v>
              </c:pt>
            </c:strLit>
          </c:cat>
          <c:val>
            <c:numLit>
              <c:formatCode>0.0</c:formatCode>
              <c:ptCount val="3"/>
              <c:pt idx="0">
                <c:v>44.9</c:v>
              </c:pt>
              <c:pt idx="1">
                <c:v>32.9</c:v>
              </c:pt>
              <c:pt idx="2">
                <c:v>24.9</c:v>
              </c:pt>
            </c:numLit>
          </c:val>
        </c:ser>
        <c:ser>
          <c:idx val="2"/>
          <c:order val="2"/>
          <c:tx>
            <c:v>DeiT-III</c:v>
          </c:tx>
          <c:spPr>
            <a:solidFill xmlns:a="http://schemas.openxmlformats.org/drawingml/2006/main">
              <a:srgbClr val="4A7772"/>
            </a:solidFill>
          </c:spPr>
          <c:invertIfNegative val="0"/>
          <c:cat>
            <c:strLit>
              <c:ptCount val="3"/>
              <c:pt idx="0">
                <c:v>Head</c:v>
              </c:pt>
              <c:pt idx="1">
                <c:v>Mid</c:v>
              </c:pt>
              <c:pt idx="2">
                <c:v>Tail</c:v>
              </c:pt>
            </c:strLit>
          </c:cat>
          <c:val>
            <c:numLit>
              <c:formatCode>0.0</c:formatCode>
              <c:ptCount val="3"/>
              <c:pt idx="0">
                <c:v>48</c:v>
              </c:pt>
              <c:pt idx="1">
                <c:v>36</c:v>
              </c:pt>
              <c:pt idx="2">
                <c:v>28</c:v>
              </c:pt>
            </c:numLit>
          </c:val>
        </c:ser>
        <c:ser>
          <c:idx val="3"/>
          <c:order val="3"/>
          <c:tx>
            <c:v>DeiT-Final</c:v>
          </c:tx>
          <c:spPr>
            <a:solidFill xmlns:a="http://schemas.openxmlformats.org/drawingml/2006/main">
              <a:srgbClr val="3D5DD2"/>
            </a:solidFill>
          </c:spPr>
          <c:invertIfNegative val="0"/>
          <c:cat>
            <c:strLit>
              <c:ptCount val="3"/>
              <c:pt idx="0">
                <c:v>Head</c:v>
              </c:pt>
              <c:pt idx="1">
                <c:v>Mid</c:v>
              </c:pt>
              <c:pt idx="2">
                <c:v>Tail</c:v>
              </c:pt>
            </c:strLit>
          </c:cat>
          <c:val>
            <c:numLit>
              <c:formatCode>0.0</c:formatCode>
              <c:ptCount val="3"/>
              <c:pt idx="0">
                <c:v>63.8</c:v>
              </c:pt>
              <c:pt idx="1">
                <c:v>47.5</c:v>
              </c:pt>
              <c:pt idx="2">
                <c:v>24.8</c:v>
              </c:pt>
            </c:numLit>
          </c:val>
        </c:ser>
        <c:dLbls>
          <c:numFmt formatCode="0.0" sourceLinked="0"/>
          <c:txPr>
            <a:bodyPr xmlns:a="http://schemas.openxmlformats.org/drawingml/2006/main" anchorCtr="1"/>
            <a:lstStyle xmlns:a="http://schemas.openxmlformats.org/drawingml/2006/main"/>
            <a:p xmlns:a="http://schemas.openxmlformats.org/drawingml/2006/main">
              <a:pPr>
                <a:defRPr sz="1200">
                  <a:solidFill>
                    <a:srgbClr val="202B38"/>
                  </a:solidFill>
                  <a:latin typeface="DejaVu Sans"/>
                  <a:ea typeface="DejaVu Sans"/>
                  <a:cs typeface="DejaVu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CD5"/>
            </a:solidFill>
          </a:ln>
        </c:spPr>
        <c:txPr>
          <a:bodyPr xmlns:a="http://schemas.openxmlformats.org/drawingml/2006/main" anchorCtr="1"/>
          <a:lstStyle xmlns:a="http://schemas.openxmlformats.org/drawingml/2006/main"/>
          <a:p xmlns:a="http://schemas.openxmlformats.org/drawingml/2006/main">
            <a:pPr>
              <a:defRPr sz="1500">
                <a:solidFill>
                  <a:srgbClr val="202B38"/>
                </a:solidFill>
                <a:latin typeface="DejaVu Sans"/>
                <a:ea typeface="DejaVu Sans"/>
                <a:cs typeface="DejaVu Sans"/>
              </a:defRPr>
            </a:pPr>
          </a:p>
        </c:txPr>
        <c:crossAx val="48672768"/>
      </c:catAx>
      <c:valAx>
        <c:axId val="48672768"/>
        <c:scaling>
          <c:orientation val="minMax"/>
          <c:max val="100"/>
          <c:min val="0"/>
        </c:scaling>
        <c:delete val="0"/>
        <c:axPos val="l"/>
        <c:majorGridlines>
          <c:spPr>
            <a:ln xmlns:a="http://schemas.openxmlformats.org/drawingml/2006/main" w="9525">
              <a:solidFill>
                <a:srgbClr val="E1E3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4707C"/>
                </a:solidFill>
                <a:latin typeface="DejaVu Sans"/>
                <a:ea typeface="DejaVu Sans"/>
                <a:cs typeface="DejaVu Sans"/>
              </a:defRPr>
            </a:pPr>
          </a:p>
        </c:txPr>
        <c:crossAx val="48650112"/>
        <c:crossBetween val="between"/>
        <c:majorUnit val="20"/>
      </c:valAx>
      <c:spPr>
        <a:solidFill xmlns:a="http://schemas.openxmlformats.org/drawingml/2006/main">
          <a:srgbClr val="F8F7F3"/>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202B38"/>
              </a:solidFill>
              <a:latin typeface="DejaVu Sans"/>
              <a:ea typeface="DejaVu Sans"/>
              <a:cs typeface="DejaVu Sans"/>
            </a:defRPr>
          </a:pPr>
        </a:p>
      </c:txPr>
    </c:legend>
    <c:plotVisOnly val="1"/>
  </c:chart>
  <c:spPr>
    <a:solidFill xmlns:a="http://schemas.openxmlformats.org/drawingml/2006/main">
      <a:srgbClr val="F8F7F3"/>
    </a:solidFill>
  </c:spPr>
</c:chartSpace>
</file>

<file path=ppt/slides/charts/chart4.xml><?xml version="1.0" encoding="utf-8"?>
<c:chartSpace xmlns:c="http://schemas.openxmlformats.org/drawingml/2006/chart">
  <c:lang val="en-US"/>
  <c:chart>
    <c:plotArea>
      <c:barChart>
        <c:barDir val="col"/>
        <c:grouping val="clustered"/>
        <c:varyColors val="0"/>
        <c:ser>
          <c:idx val="0"/>
          <c:order val="0"/>
          <c:tx>
            <c:v>ResNet-32</c:v>
          </c:tx>
          <c:spPr>
            <a:solidFill xmlns:a="http://schemas.openxmlformats.org/drawingml/2006/main">
              <a:srgbClr val="B66D4F"/>
            </a:solidFill>
          </c:spPr>
          <c:invertIfNegative val="0"/>
          <c:cat>
            <c:strLit>
              <c:ptCount val="3"/>
              <c:pt idx="0">
                <c:v>Head</c:v>
              </c:pt>
              <c:pt idx="1">
                <c:v>Mid</c:v>
              </c:pt>
              <c:pt idx="2">
                <c:v>Tail</c:v>
              </c:pt>
            </c:strLit>
          </c:cat>
          <c:val>
            <c:numLit>
              <c:formatCode>0.0</c:formatCode>
              <c:ptCount val="3"/>
              <c:pt idx="0">
                <c:v>57.9</c:v>
              </c:pt>
              <c:pt idx="1">
                <c:v>44.4</c:v>
              </c:pt>
              <c:pt idx="2">
                <c:v>28.2</c:v>
              </c:pt>
            </c:numLit>
          </c:val>
        </c:ser>
        <c:ser>
          <c:idx val="1"/>
          <c:order val="1"/>
          <c:tx>
            <c:v>ViT</c:v>
          </c:tx>
          <c:spPr>
            <a:solidFill xmlns:a="http://schemas.openxmlformats.org/drawingml/2006/main">
              <a:srgbClr val="8391A5"/>
            </a:solidFill>
          </c:spPr>
          <c:invertIfNegative val="0"/>
          <c:cat>
            <c:strLit>
              <c:ptCount val="3"/>
              <c:pt idx="0">
                <c:v>Head</c:v>
              </c:pt>
              <c:pt idx="1">
                <c:v>Mid</c:v>
              </c:pt>
              <c:pt idx="2">
                <c:v>Tail</c:v>
              </c:pt>
            </c:strLit>
          </c:cat>
          <c:val>
            <c:numLit>
              <c:formatCode>0.0</c:formatCode>
              <c:ptCount val="3"/>
              <c:pt idx="0">
                <c:v>54.4</c:v>
              </c:pt>
              <c:pt idx="1">
                <c:v>27.9</c:v>
              </c:pt>
              <c:pt idx="2">
                <c:v>7.8</c:v>
              </c:pt>
            </c:numLit>
          </c:val>
        </c:ser>
        <c:ser>
          <c:idx val="2"/>
          <c:order val="2"/>
          <c:tx>
            <c:v>DeiT-III</c:v>
          </c:tx>
          <c:spPr>
            <a:solidFill xmlns:a="http://schemas.openxmlformats.org/drawingml/2006/main">
              <a:srgbClr val="4A7772"/>
            </a:solidFill>
          </c:spPr>
          <c:invertIfNegative val="0"/>
          <c:cat>
            <c:strLit>
              <c:ptCount val="3"/>
              <c:pt idx="0">
                <c:v>Head</c:v>
              </c:pt>
              <c:pt idx="1">
                <c:v>Mid</c:v>
              </c:pt>
              <c:pt idx="2">
                <c:v>Tail</c:v>
              </c:pt>
            </c:strLit>
          </c:cat>
          <c:val>
            <c:numLit>
              <c:formatCode>0.0</c:formatCode>
              <c:ptCount val="3"/>
              <c:pt idx="0">
                <c:v>63.3</c:v>
              </c:pt>
              <c:pt idx="1">
                <c:v>36.8</c:v>
              </c:pt>
              <c:pt idx="2">
                <c:v>17</c:v>
              </c:pt>
            </c:numLit>
          </c:val>
        </c:ser>
        <c:ser>
          <c:idx val="3"/>
          <c:order val="3"/>
          <c:tx>
            <c:v>DeiT-Final</c:v>
          </c:tx>
          <c:spPr>
            <a:solidFill xmlns:a="http://schemas.openxmlformats.org/drawingml/2006/main">
              <a:srgbClr val="3D5DD2"/>
            </a:solidFill>
          </c:spPr>
          <c:invertIfNegative val="0"/>
          <c:cat>
            <c:strLit>
              <c:ptCount val="3"/>
              <c:pt idx="0">
                <c:v>Head</c:v>
              </c:pt>
              <c:pt idx="1">
                <c:v>Mid</c:v>
              </c:pt>
              <c:pt idx="2">
                <c:v>Tail</c:v>
              </c:pt>
            </c:strLit>
          </c:cat>
          <c:val>
            <c:numLit>
              <c:formatCode>0.0</c:formatCode>
              <c:ptCount val="3"/>
              <c:pt idx="0">
                <c:v>54.5</c:v>
              </c:pt>
              <c:pt idx="1">
                <c:v>44.5</c:v>
              </c:pt>
              <c:pt idx="2">
                <c:v>29.5</c:v>
              </c:pt>
            </c:numLit>
          </c:val>
        </c:ser>
        <c:dLbls>
          <c:numFmt formatCode="0.0" sourceLinked="0"/>
          <c:txPr>
            <a:bodyPr xmlns:a="http://schemas.openxmlformats.org/drawingml/2006/main" anchorCtr="1"/>
            <a:lstStyle xmlns:a="http://schemas.openxmlformats.org/drawingml/2006/main"/>
            <a:p xmlns:a="http://schemas.openxmlformats.org/drawingml/2006/main">
              <a:pPr>
                <a:defRPr sz="1200">
                  <a:solidFill>
                    <a:srgbClr val="202B38"/>
                  </a:solidFill>
                  <a:latin typeface="DejaVu Sans"/>
                  <a:ea typeface="DejaVu Sans"/>
                  <a:cs typeface="DejaVu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CD5"/>
            </a:solidFill>
          </a:ln>
        </c:spPr>
        <c:txPr>
          <a:bodyPr xmlns:a="http://schemas.openxmlformats.org/drawingml/2006/main" anchorCtr="1"/>
          <a:lstStyle xmlns:a="http://schemas.openxmlformats.org/drawingml/2006/main"/>
          <a:p xmlns:a="http://schemas.openxmlformats.org/drawingml/2006/main">
            <a:pPr>
              <a:defRPr sz="1500">
                <a:solidFill>
                  <a:srgbClr val="202B38"/>
                </a:solidFill>
                <a:latin typeface="DejaVu Sans"/>
                <a:ea typeface="DejaVu Sans"/>
                <a:cs typeface="DejaVu Sans"/>
              </a:defRPr>
            </a:pPr>
          </a:p>
        </c:txPr>
        <c:crossAx val="48672768"/>
      </c:catAx>
      <c:valAx>
        <c:axId val="48672768"/>
        <c:scaling>
          <c:orientation val="minMax"/>
          <c:max val="100"/>
          <c:min val="0"/>
        </c:scaling>
        <c:delete val="0"/>
        <c:axPos val="l"/>
        <c:majorGridlines>
          <c:spPr>
            <a:ln xmlns:a="http://schemas.openxmlformats.org/drawingml/2006/main" w="9525">
              <a:solidFill>
                <a:srgbClr val="E1E3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4707C"/>
                </a:solidFill>
                <a:latin typeface="DejaVu Sans"/>
                <a:ea typeface="DejaVu Sans"/>
                <a:cs typeface="DejaVu Sans"/>
              </a:defRPr>
            </a:pPr>
          </a:p>
        </c:txPr>
        <c:crossAx val="48650112"/>
        <c:crossBetween val="between"/>
        <c:majorUnit val="20"/>
      </c:valAx>
      <c:spPr>
        <a:solidFill xmlns:a="http://schemas.openxmlformats.org/drawingml/2006/main">
          <a:srgbClr val="F8F7F3"/>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202B38"/>
              </a:solidFill>
              <a:latin typeface="DejaVu Sans"/>
              <a:ea typeface="DejaVu Sans"/>
              <a:cs typeface="DejaVu Sans"/>
            </a:defRPr>
          </a:pPr>
        </a:p>
      </c:txPr>
    </c:legend>
    <c:plotVisOnly val="1"/>
  </c:chart>
  <c:spPr>
    <a:solidFill xmlns:a="http://schemas.openxmlformats.org/drawingml/2006/main">
      <a:srgbClr val="F8F7F3"/>
    </a:solidFill>
  </c:spPr>
</c:chartSpace>
</file>

<file path=ppt/slides/slide1.xml><?xml version="1.0" encoding="utf-8"?>
<p:sld xmlns:p="http://schemas.openxmlformats.org/presentationml/2006/main">
  <p:cSld>
    <p:bg>
      <p:bgPr>
        <a:solidFill xmlns:a="http://schemas.openxmlformats.org/drawingml/2006/main">
          <a:srgbClr val="162C3E"/>
        </a:solidFill>
      </p:bgPr>
    </p:bg>
    <p:spTree>
      <p:nvGrpSpPr>
        <p:cNvPr id="1" name=""/>
        <p:cNvGrpSpPr/>
        <p:nvPr/>
      </p:nvGrpSpPr>
      <p:grpSpPr>
        <a:xfrm xmlns:a="http://schemas.openxmlformats.org/drawingml/2006/main"/>
      </p:grpSpPr>
      <p:sp>
        <p:nvSpPr>
          <p:cNvPr id="2" name="IIIT KOTTAYAM     IOE-414 DEEP LEARNING">
            <a:extLst xmlns:a="http://schemas.openxmlformats.org/drawingml/2006/main">
              <a:ext uri="{FF2B5EF4-FFF2-40B4-BE49-F238E27FC236}">
                <a16:creationId xmlns:a16="http://schemas.microsoft.com/office/drawing/2014/main" id="{70CD6EB3-FB42-4A9B-8A5B-7B94BDDD981F}"/>
              </a:ext>
            </a:extLst>
          </p:cNvPr>
          <p:cNvSpPr>
            <a:spLocks xmlns:a="http://schemas.openxmlformats.org/drawingml/2006/main" noGrp="1"/>
          </p:cNvSpPr>
          <p:nvPr/>
        </p:nvSpPr>
        <p:spPr>
          <a:xfrm xmlns:a="http://schemas.openxmlformats.org/drawingml/2006/main">
            <a:off x="571500" y="5238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B3C6D1"/>
                </a:solidFill>
                <a:latin typeface="DejaVu Sans"/>
                <a:ea typeface="DejaVu Sans"/>
                <a:cs typeface="DejaVu Sans"/>
              </a:defRPr>
            </a:defPPr>
            <a:lvl1pPr algn="l">
              <a:defRPr sz="1350" b="1">
                <a:solidFill>
                  <a:srgbClr val="B3C6D1"/>
                </a:solidFill>
                <a:latin typeface="DejaVu Sans"/>
                <a:ea typeface="DejaVu Sans"/>
                <a:cs typeface="DejaVu Sans"/>
              </a:defRPr>
            </a:lvl1pPr>
            <a:lvl2pPr algn="l">
              <a:defRPr sz="1350" b="1">
                <a:solidFill>
                  <a:srgbClr val="B3C6D1"/>
                </a:solidFill>
                <a:latin typeface="DejaVu Sans"/>
                <a:ea typeface="DejaVu Sans"/>
                <a:cs typeface="DejaVu Sans"/>
              </a:defRPr>
            </a:lvl2pPr>
            <a:lvl3pPr algn="l">
              <a:defRPr sz="1350" b="1">
                <a:solidFill>
                  <a:srgbClr val="B3C6D1"/>
                </a:solidFill>
                <a:latin typeface="DejaVu Sans"/>
                <a:ea typeface="DejaVu Sans"/>
                <a:cs typeface="DejaVu Sans"/>
              </a:defRPr>
            </a:lvl3pPr>
            <a:lvl4pPr algn="l">
              <a:defRPr sz="1350" b="1">
                <a:solidFill>
                  <a:srgbClr val="B3C6D1"/>
                </a:solidFill>
                <a:latin typeface="DejaVu Sans"/>
                <a:ea typeface="DejaVu Sans"/>
                <a:cs typeface="DejaVu Sans"/>
              </a:defRPr>
            </a:lvl4pPr>
            <a:lvl5pPr algn="l">
              <a:defRPr sz="1350" b="1">
                <a:solidFill>
                  <a:srgbClr val="B3C6D1"/>
                </a:solidFill>
                <a:latin typeface="DejaVu Sans"/>
                <a:ea typeface="DejaVu Sans"/>
                <a:cs typeface="DejaVu Sans"/>
              </a:defRPr>
            </a:lvl5pPr>
            <a:lvl6pPr algn="l">
              <a:defRPr sz="1350" b="1">
                <a:solidFill>
                  <a:srgbClr val="B3C6D1"/>
                </a:solidFill>
                <a:latin typeface="DejaVu Sans"/>
                <a:ea typeface="DejaVu Sans"/>
                <a:cs typeface="DejaVu Sans"/>
              </a:defRPr>
            </a:lvl6pPr>
            <a:lvl7pPr algn="l">
              <a:defRPr sz="1350" b="1">
                <a:solidFill>
                  <a:srgbClr val="B3C6D1"/>
                </a:solidFill>
                <a:latin typeface="DejaVu Sans"/>
                <a:ea typeface="DejaVu Sans"/>
                <a:cs typeface="DejaVu Sans"/>
              </a:defRPr>
            </a:lvl7pPr>
            <a:lvl8pPr algn="l">
              <a:defRPr sz="1350" b="1">
                <a:solidFill>
                  <a:srgbClr val="B3C6D1"/>
                </a:solidFill>
                <a:latin typeface="DejaVu Sans"/>
                <a:ea typeface="DejaVu Sans"/>
                <a:cs typeface="DejaVu Sans"/>
              </a:defRPr>
            </a:lvl8pPr>
            <a:lvl9pPr algn="l">
              <a:defRPr sz="1350" b="1">
                <a:solidFill>
                  <a:srgbClr val="B3C6D1"/>
                </a:solidFill>
                <a:latin typeface="DejaVu Sans"/>
                <a:ea typeface="DejaVu Sans"/>
                <a:cs typeface="DejaVu Sans"/>
              </a:defRPr>
            </a:lvl9pPr>
          </a:lstStyle>
          <a:p xmlns:a="http://schemas.openxmlformats.org/drawingml/2006/main">
            <a:pPr algn="l">
              <a:defRPr sz="1350" b="1">
                <a:solidFill>
                  <a:srgbClr val="B3C6D1"/>
                </a:solidFill>
                <a:latin typeface="DejaVu Sans"/>
                <a:ea typeface="DejaVu Sans"/>
                <a:cs typeface="DejaVu Sans"/>
              </a:defRPr>
            </a:pPr>
            <a:r>
              <a:rPr sz="1350" b="1">
                <a:solidFill>
                  <a:srgbClr val="B3C6D1"/>
                </a:solidFill>
                <a:latin typeface="DejaVu Sans"/>
                <a:ea typeface="DejaVu Sans"/>
                <a:cs typeface="DejaVu Sans"/>
              </a:rPr>
              <a:t>IIIT KOTTAYAM     IOE-414 DEEP LEARNING</a:t>
            </a:r>
          </a:p>
        </p:txBody>
      </p:sp>
      <p:sp>
        <p:nvSpPr>
          <p:cNvPr id="3" name="Training vision transformers&#10;on long-tailed data">
            <a:extLst xmlns:a="http://schemas.openxmlformats.org/drawingml/2006/main">
              <a:ext uri="{FF2B5EF4-FFF2-40B4-BE49-F238E27FC236}">
                <a16:creationId xmlns:a16="http://schemas.microsoft.com/office/drawing/2014/main" id="{8E0D2C85-953D-43AE-B6F4-505A1271FCC5}"/>
              </a:ext>
            </a:extLst>
          </p:cNvPr>
          <p:cNvSpPr>
            <a:spLocks xmlns:a="http://schemas.openxmlformats.org/drawingml/2006/main" noGrp="1"/>
          </p:cNvSpPr>
          <p:nvPr/>
        </p:nvSpPr>
        <p:spPr>
          <a:xfrm xmlns:a="http://schemas.openxmlformats.org/drawingml/2006/main">
            <a:off x="571500" y="1552575"/>
            <a:ext cx="1085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FFFFFF"/>
                </a:solidFill>
                <a:latin typeface="DejaVu Sans"/>
                <a:ea typeface="DejaVu Sans"/>
                <a:cs typeface="DejaVu Sans"/>
              </a:defRPr>
            </a:defPPr>
            <a:lvl1pPr algn="l">
              <a:defRPr sz="4800" b="1">
                <a:solidFill>
                  <a:srgbClr val="FFFFFF"/>
                </a:solidFill>
                <a:latin typeface="DejaVu Sans"/>
                <a:ea typeface="DejaVu Sans"/>
                <a:cs typeface="DejaVu Sans"/>
              </a:defRPr>
            </a:lvl1pPr>
            <a:lvl2pPr algn="l">
              <a:defRPr sz="4800" b="1">
                <a:solidFill>
                  <a:srgbClr val="FFFFFF"/>
                </a:solidFill>
                <a:latin typeface="DejaVu Sans"/>
                <a:ea typeface="DejaVu Sans"/>
                <a:cs typeface="DejaVu Sans"/>
              </a:defRPr>
            </a:lvl2pPr>
            <a:lvl3pPr algn="l">
              <a:defRPr sz="4800" b="1">
                <a:solidFill>
                  <a:srgbClr val="FFFFFF"/>
                </a:solidFill>
                <a:latin typeface="DejaVu Sans"/>
                <a:ea typeface="DejaVu Sans"/>
                <a:cs typeface="DejaVu Sans"/>
              </a:defRPr>
            </a:lvl3pPr>
            <a:lvl4pPr algn="l">
              <a:defRPr sz="4800" b="1">
                <a:solidFill>
                  <a:srgbClr val="FFFFFF"/>
                </a:solidFill>
                <a:latin typeface="DejaVu Sans"/>
                <a:ea typeface="DejaVu Sans"/>
                <a:cs typeface="DejaVu Sans"/>
              </a:defRPr>
            </a:lvl4pPr>
            <a:lvl5pPr algn="l">
              <a:defRPr sz="4800" b="1">
                <a:solidFill>
                  <a:srgbClr val="FFFFFF"/>
                </a:solidFill>
                <a:latin typeface="DejaVu Sans"/>
                <a:ea typeface="DejaVu Sans"/>
                <a:cs typeface="DejaVu Sans"/>
              </a:defRPr>
            </a:lvl5pPr>
            <a:lvl6pPr algn="l">
              <a:defRPr sz="4800" b="1">
                <a:solidFill>
                  <a:srgbClr val="FFFFFF"/>
                </a:solidFill>
                <a:latin typeface="DejaVu Sans"/>
                <a:ea typeface="DejaVu Sans"/>
                <a:cs typeface="DejaVu Sans"/>
              </a:defRPr>
            </a:lvl6pPr>
            <a:lvl7pPr algn="l">
              <a:defRPr sz="4800" b="1">
                <a:solidFill>
                  <a:srgbClr val="FFFFFF"/>
                </a:solidFill>
                <a:latin typeface="DejaVu Sans"/>
                <a:ea typeface="DejaVu Sans"/>
                <a:cs typeface="DejaVu Sans"/>
              </a:defRPr>
            </a:lvl7pPr>
            <a:lvl8pPr algn="l">
              <a:defRPr sz="4800" b="1">
                <a:solidFill>
                  <a:srgbClr val="FFFFFF"/>
                </a:solidFill>
                <a:latin typeface="DejaVu Sans"/>
                <a:ea typeface="DejaVu Sans"/>
                <a:cs typeface="DejaVu Sans"/>
              </a:defRPr>
            </a:lvl8pPr>
            <a:lvl9pPr algn="l">
              <a:defRPr sz="4800" b="1">
                <a:solidFill>
                  <a:srgbClr val="FFFFFF"/>
                </a:solidFill>
                <a:latin typeface="DejaVu Sans"/>
                <a:ea typeface="DejaVu Sans"/>
                <a:cs typeface="DejaVu Sans"/>
              </a:defRPr>
            </a:lvl9pPr>
          </a:lstStyle>
          <a:p xmlns:a="http://schemas.openxmlformats.org/drawingml/2006/main">
            <a:pPr algn="l">
              <a:defRPr sz="4800" b="1">
                <a:solidFill>
                  <a:srgbClr val="FFFFFF"/>
                </a:solidFill>
                <a:latin typeface="DejaVu Sans"/>
                <a:ea typeface="DejaVu Sans"/>
                <a:cs typeface="DejaVu Sans"/>
              </a:defRPr>
            </a:pPr>
            <a:r>
              <a:rPr sz="4800" b="1">
                <a:solidFill>
                  <a:srgbClr val="FFFFFF"/>
                </a:solidFill>
                <a:latin typeface="DejaVu Sans"/>
                <a:ea typeface="DejaVu Sans"/>
                <a:cs typeface="DejaVu Sans"/>
              </a:rPr>
              <a:t>Training vision transformers</a:t>
            </a:r>
          </a:p>
          <a:p xmlns:a="http://schemas.openxmlformats.org/drawingml/2006/main">
            <a:pPr algn="l">
              <a:defRPr sz="4800" b="1">
                <a:solidFill>
                  <a:srgbClr val="FFFFFF"/>
                </a:solidFill>
                <a:latin typeface="DejaVu Sans"/>
                <a:ea typeface="DejaVu Sans"/>
                <a:cs typeface="DejaVu Sans"/>
              </a:defRPr>
            </a:pPr>
            <a:r>
              <a:rPr sz="4800" b="1">
                <a:solidFill>
                  <a:srgbClr val="FFFFFF"/>
                </a:solidFill>
                <a:latin typeface="DejaVu Sans"/>
                <a:ea typeface="DejaVu Sans"/>
                <a:cs typeface="DejaVu Sans"/>
              </a:rPr>
              <a:t>on long-tailed data</a:t>
            </a:r>
          </a:p>
        </p:txBody>
      </p:sp>
      <p:sp>
        <p:nvSpPr>
          <p:cNvPr id="4" name="Architectures, methodology, and reported results&#10;A study of DeiT-">
            <a:extLst xmlns:a="http://schemas.openxmlformats.org/drawingml/2006/main">
              <a:ext uri="{FF2B5EF4-FFF2-40B4-BE49-F238E27FC236}">
                <a16:creationId xmlns:a16="http://schemas.microsoft.com/office/drawing/2014/main" id="{B8BFCE84-03A4-4471-B77D-30180AC77140}"/>
              </a:ext>
            </a:extLst>
          </p:cNvPr>
          <p:cNvSpPr>
            <a:spLocks xmlns:a="http://schemas.openxmlformats.org/drawingml/2006/main" noGrp="1"/>
          </p:cNvSpPr>
          <p:nvPr/>
        </p:nvSpPr>
        <p:spPr>
          <a:xfrm xmlns:a="http://schemas.openxmlformats.org/drawingml/2006/main">
            <a:off x="600075" y="3667125"/>
            <a:ext cx="1019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D4DFE4"/>
                </a:solidFill>
                <a:latin typeface="DejaVu Sans"/>
                <a:ea typeface="DejaVu Sans"/>
                <a:cs typeface="DejaVu Sans"/>
              </a:defRPr>
            </a:defPPr>
            <a:lvl1pPr algn="l">
              <a:defRPr sz="2325" b="0">
                <a:solidFill>
                  <a:srgbClr val="D4DFE4"/>
                </a:solidFill>
                <a:latin typeface="DejaVu Sans"/>
                <a:ea typeface="DejaVu Sans"/>
                <a:cs typeface="DejaVu Sans"/>
              </a:defRPr>
            </a:lvl1pPr>
            <a:lvl2pPr algn="l">
              <a:defRPr sz="2325" b="0">
                <a:solidFill>
                  <a:srgbClr val="D4DFE4"/>
                </a:solidFill>
                <a:latin typeface="DejaVu Sans"/>
                <a:ea typeface="DejaVu Sans"/>
                <a:cs typeface="DejaVu Sans"/>
              </a:defRPr>
            </a:lvl2pPr>
            <a:lvl3pPr algn="l">
              <a:defRPr sz="2325" b="0">
                <a:solidFill>
                  <a:srgbClr val="D4DFE4"/>
                </a:solidFill>
                <a:latin typeface="DejaVu Sans"/>
                <a:ea typeface="DejaVu Sans"/>
                <a:cs typeface="DejaVu Sans"/>
              </a:defRPr>
            </a:lvl3pPr>
            <a:lvl4pPr algn="l">
              <a:defRPr sz="2325" b="0">
                <a:solidFill>
                  <a:srgbClr val="D4DFE4"/>
                </a:solidFill>
                <a:latin typeface="DejaVu Sans"/>
                <a:ea typeface="DejaVu Sans"/>
                <a:cs typeface="DejaVu Sans"/>
              </a:defRPr>
            </a:lvl4pPr>
            <a:lvl5pPr algn="l">
              <a:defRPr sz="2325" b="0">
                <a:solidFill>
                  <a:srgbClr val="D4DFE4"/>
                </a:solidFill>
                <a:latin typeface="DejaVu Sans"/>
                <a:ea typeface="DejaVu Sans"/>
                <a:cs typeface="DejaVu Sans"/>
              </a:defRPr>
            </a:lvl5pPr>
            <a:lvl6pPr algn="l">
              <a:defRPr sz="2325" b="0">
                <a:solidFill>
                  <a:srgbClr val="D4DFE4"/>
                </a:solidFill>
                <a:latin typeface="DejaVu Sans"/>
                <a:ea typeface="DejaVu Sans"/>
                <a:cs typeface="DejaVu Sans"/>
              </a:defRPr>
            </a:lvl6pPr>
            <a:lvl7pPr algn="l">
              <a:defRPr sz="2325" b="0">
                <a:solidFill>
                  <a:srgbClr val="D4DFE4"/>
                </a:solidFill>
                <a:latin typeface="DejaVu Sans"/>
                <a:ea typeface="DejaVu Sans"/>
                <a:cs typeface="DejaVu Sans"/>
              </a:defRPr>
            </a:lvl7pPr>
            <a:lvl8pPr algn="l">
              <a:defRPr sz="2325" b="0">
                <a:solidFill>
                  <a:srgbClr val="D4DFE4"/>
                </a:solidFill>
                <a:latin typeface="DejaVu Sans"/>
                <a:ea typeface="DejaVu Sans"/>
                <a:cs typeface="DejaVu Sans"/>
              </a:defRPr>
            </a:lvl8pPr>
            <a:lvl9pPr algn="l">
              <a:defRPr sz="2325" b="0">
                <a:solidFill>
                  <a:srgbClr val="D4DFE4"/>
                </a:solidFill>
                <a:latin typeface="DejaVu Sans"/>
                <a:ea typeface="DejaVu Sans"/>
                <a:cs typeface="DejaVu Sans"/>
              </a:defRPr>
            </a:lvl9pPr>
          </a:lstStyle>
          <a:p xmlns:a="http://schemas.openxmlformats.org/drawingml/2006/main">
            <a:pPr algn="l">
              <a:defRPr sz="2325" b="0">
                <a:solidFill>
                  <a:srgbClr val="D4DFE4"/>
                </a:solidFill>
                <a:latin typeface="DejaVu Sans"/>
                <a:ea typeface="DejaVu Sans"/>
                <a:cs typeface="DejaVu Sans"/>
              </a:defRPr>
            </a:pPr>
            <a:r>
              <a:rPr sz="2325" b="0">
                <a:solidFill>
                  <a:srgbClr val="D4DFE4"/>
                </a:solidFill>
                <a:latin typeface="DejaVu Sans"/>
                <a:ea typeface="DejaVu Sans"/>
                <a:cs typeface="DejaVu Sans"/>
              </a:rPr>
              <a:t>Architectures, methodology, and reported results</a:t>
            </a:r>
          </a:p>
          <a:p xmlns:a="http://schemas.openxmlformats.org/drawingml/2006/main">
            <a:pPr algn="l">
              <a:defRPr sz="2325" b="0">
                <a:solidFill>
                  <a:srgbClr val="D4DFE4"/>
                </a:solidFill>
                <a:latin typeface="DejaVu Sans"/>
                <a:ea typeface="DejaVu Sans"/>
                <a:cs typeface="DejaVu Sans"/>
              </a:defRPr>
            </a:pPr>
            <a:r>
              <a:rPr sz="2325" b="0">
                <a:solidFill>
                  <a:srgbClr val="D4DFE4"/>
                </a:solidFill>
                <a:latin typeface="DejaVu Sans"/>
                <a:ea typeface="DejaVu Sans"/>
                <a:cs typeface="DejaVu Sans"/>
              </a:rPr>
              <a:t>A study of DeiT-LT</a:t>
            </a:r>
          </a:p>
        </p:txBody>
      </p:sp>
      <p:sp>
        <p:nvSpPr>
          <p:cNvPr id="5" name="ResNet-32     ViT     DeiT-III     DeiT-LT / DeiT-Final">
            <a:extLst xmlns:a="http://schemas.openxmlformats.org/drawingml/2006/main">
              <a:ext uri="{FF2B5EF4-FFF2-40B4-BE49-F238E27FC236}">
                <a16:creationId xmlns:a16="http://schemas.microsoft.com/office/drawing/2014/main" id="{A9AB83B0-29EF-4939-B350-1A9777631972}"/>
              </a:ext>
            </a:extLst>
          </p:cNvPr>
          <p:cNvSpPr>
            <a:spLocks xmlns:a="http://schemas.openxmlformats.org/drawingml/2006/main" noGrp="1"/>
          </p:cNvSpPr>
          <p:nvPr/>
        </p:nvSpPr>
        <p:spPr>
          <a:xfrm xmlns:a="http://schemas.openxmlformats.org/drawingml/2006/main">
            <a:off x="600075" y="49530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AFC4F5"/>
                </a:solidFill>
                <a:latin typeface="DejaVu Sans"/>
                <a:ea typeface="DejaVu Sans"/>
                <a:cs typeface="DejaVu Sans"/>
              </a:defRPr>
            </a:defPPr>
            <a:lvl1pPr algn="l">
              <a:defRPr sz="1800" b="0">
                <a:solidFill>
                  <a:srgbClr val="AFC4F5"/>
                </a:solidFill>
                <a:latin typeface="DejaVu Sans"/>
                <a:ea typeface="DejaVu Sans"/>
                <a:cs typeface="DejaVu Sans"/>
              </a:defRPr>
            </a:lvl1pPr>
            <a:lvl2pPr algn="l">
              <a:defRPr sz="1800" b="0">
                <a:solidFill>
                  <a:srgbClr val="AFC4F5"/>
                </a:solidFill>
                <a:latin typeface="DejaVu Sans"/>
                <a:ea typeface="DejaVu Sans"/>
                <a:cs typeface="DejaVu Sans"/>
              </a:defRPr>
            </a:lvl2pPr>
            <a:lvl3pPr algn="l">
              <a:defRPr sz="1800" b="0">
                <a:solidFill>
                  <a:srgbClr val="AFC4F5"/>
                </a:solidFill>
                <a:latin typeface="DejaVu Sans"/>
                <a:ea typeface="DejaVu Sans"/>
                <a:cs typeface="DejaVu Sans"/>
              </a:defRPr>
            </a:lvl3pPr>
            <a:lvl4pPr algn="l">
              <a:defRPr sz="1800" b="0">
                <a:solidFill>
                  <a:srgbClr val="AFC4F5"/>
                </a:solidFill>
                <a:latin typeface="DejaVu Sans"/>
                <a:ea typeface="DejaVu Sans"/>
                <a:cs typeface="DejaVu Sans"/>
              </a:defRPr>
            </a:lvl4pPr>
            <a:lvl5pPr algn="l">
              <a:defRPr sz="1800" b="0">
                <a:solidFill>
                  <a:srgbClr val="AFC4F5"/>
                </a:solidFill>
                <a:latin typeface="DejaVu Sans"/>
                <a:ea typeface="DejaVu Sans"/>
                <a:cs typeface="DejaVu Sans"/>
              </a:defRPr>
            </a:lvl5pPr>
            <a:lvl6pPr algn="l">
              <a:defRPr sz="1800" b="0">
                <a:solidFill>
                  <a:srgbClr val="AFC4F5"/>
                </a:solidFill>
                <a:latin typeface="DejaVu Sans"/>
                <a:ea typeface="DejaVu Sans"/>
                <a:cs typeface="DejaVu Sans"/>
              </a:defRPr>
            </a:lvl6pPr>
            <a:lvl7pPr algn="l">
              <a:defRPr sz="1800" b="0">
                <a:solidFill>
                  <a:srgbClr val="AFC4F5"/>
                </a:solidFill>
                <a:latin typeface="DejaVu Sans"/>
                <a:ea typeface="DejaVu Sans"/>
                <a:cs typeface="DejaVu Sans"/>
              </a:defRPr>
            </a:lvl7pPr>
            <a:lvl8pPr algn="l">
              <a:defRPr sz="1800" b="0">
                <a:solidFill>
                  <a:srgbClr val="AFC4F5"/>
                </a:solidFill>
                <a:latin typeface="DejaVu Sans"/>
                <a:ea typeface="DejaVu Sans"/>
                <a:cs typeface="DejaVu Sans"/>
              </a:defRPr>
            </a:lvl8pPr>
            <a:lvl9pPr algn="l">
              <a:defRPr sz="1800" b="0">
                <a:solidFill>
                  <a:srgbClr val="AFC4F5"/>
                </a:solidFill>
                <a:latin typeface="DejaVu Sans"/>
                <a:ea typeface="DejaVu Sans"/>
                <a:cs typeface="DejaVu Sans"/>
              </a:defRPr>
            </a:lvl9pPr>
          </a:lstStyle>
          <a:p xmlns:a="http://schemas.openxmlformats.org/drawingml/2006/main">
            <a:pPr algn="l">
              <a:defRPr sz="1800" b="0">
                <a:solidFill>
                  <a:srgbClr val="AFC4F5"/>
                </a:solidFill>
                <a:latin typeface="DejaVu Sans"/>
                <a:ea typeface="DejaVu Sans"/>
                <a:cs typeface="DejaVu Sans"/>
              </a:defRPr>
            </a:pPr>
            <a:r>
              <a:rPr sz="1800" b="0">
                <a:solidFill>
                  <a:srgbClr val="AFC4F5"/>
                </a:solidFill>
                <a:latin typeface="DejaVu Sans"/>
                <a:ea typeface="DejaVu Sans"/>
                <a:cs typeface="DejaVu Sans"/>
              </a:rPr>
              <a:t>ResNet-32     ViT     DeiT-III     DeiT-LT / DeiT-Final</a:t>
            </a:r>
          </a:p>
        </p:txBody>
      </p:sp>
      <p:sp>
        <p:nvSpPr>
          <p:cNvPr id="6" name="G Srishtik Sekar   ·   S N Ghosh   ·   Aditya BR   ·   Nishanth">
            <a:extLst xmlns:a="http://schemas.openxmlformats.org/drawingml/2006/main">
              <a:ext uri="{FF2B5EF4-FFF2-40B4-BE49-F238E27FC236}">
                <a16:creationId xmlns:a16="http://schemas.microsoft.com/office/drawing/2014/main" id="{557D98C0-BC34-426B-86F7-1B95D8E7A38B}"/>
              </a:ext>
            </a:extLst>
          </p:cNvPr>
          <p:cNvSpPr>
            <a:spLocks xmlns:a="http://schemas.openxmlformats.org/drawingml/2006/main" noGrp="1"/>
          </p:cNvSpPr>
          <p:nvPr/>
        </p:nvSpPr>
        <p:spPr>
          <a:xfrm xmlns:a="http://schemas.openxmlformats.org/drawingml/2006/main">
            <a:off x="600075" y="57626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D4DFE4"/>
                </a:solidFill>
                <a:latin typeface="DejaVu Sans"/>
                <a:ea typeface="DejaVu Sans"/>
                <a:cs typeface="DejaVu Sans"/>
              </a:defRPr>
            </a:defPPr>
            <a:lvl1pPr algn="l">
              <a:defRPr sz="1425" b="0">
                <a:solidFill>
                  <a:srgbClr val="D4DFE4"/>
                </a:solidFill>
                <a:latin typeface="DejaVu Sans"/>
                <a:ea typeface="DejaVu Sans"/>
                <a:cs typeface="DejaVu Sans"/>
              </a:defRPr>
            </a:lvl1pPr>
            <a:lvl2pPr algn="l">
              <a:defRPr sz="1425" b="0">
                <a:solidFill>
                  <a:srgbClr val="D4DFE4"/>
                </a:solidFill>
                <a:latin typeface="DejaVu Sans"/>
                <a:ea typeface="DejaVu Sans"/>
                <a:cs typeface="DejaVu Sans"/>
              </a:defRPr>
            </a:lvl2pPr>
            <a:lvl3pPr algn="l">
              <a:defRPr sz="1425" b="0">
                <a:solidFill>
                  <a:srgbClr val="D4DFE4"/>
                </a:solidFill>
                <a:latin typeface="DejaVu Sans"/>
                <a:ea typeface="DejaVu Sans"/>
                <a:cs typeface="DejaVu Sans"/>
              </a:defRPr>
            </a:lvl3pPr>
            <a:lvl4pPr algn="l">
              <a:defRPr sz="1425" b="0">
                <a:solidFill>
                  <a:srgbClr val="D4DFE4"/>
                </a:solidFill>
                <a:latin typeface="DejaVu Sans"/>
                <a:ea typeface="DejaVu Sans"/>
                <a:cs typeface="DejaVu Sans"/>
              </a:defRPr>
            </a:lvl4pPr>
            <a:lvl5pPr algn="l">
              <a:defRPr sz="1425" b="0">
                <a:solidFill>
                  <a:srgbClr val="D4DFE4"/>
                </a:solidFill>
                <a:latin typeface="DejaVu Sans"/>
                <a:ea typeface="DejaVu Sans"/>
                <a:cs typeface="DejaVu Sans"/>
              </a:defRPr>
            </a:lvl5pPr>
            <a:lvl6pPr algn="l">
              <a:defRPr sz="1425" b="0">
                <a:solidFill>
                  <a:srgbClr val="D4DFE4"/>
                </a:solidFill>
                <a:latin typeface="DejaVu Sans"/>
                <a:ea typeface="DejaVu Sans"/>
                <a:cs typeface="DejaVu Sans"/>
              </a:defRPr>
            </a:lvl6pPr>
            <a:lvl7pPr algn="l">
              <a:defRPr sz="1425" b="0">
                <a:solidFill>
                  <a:srgbClr val="D4DFE4"/>
                </a:solidFill>
                <a:latin typeface="DejaVu Sans"/>
                <a:ea typeface="DejaVu Sans"/>
                <a:cs typeface="DejaVu Sans"/>
              </a:defRPr>
            </a:lvl7pPr>
            <a:lvl8pPr algn="l">
              <a:defRPr sz="1425" b="0">
                <a:solidFill>
                  <a:srgbClr val="D4DFE4"/>
                </a:solidFill>
                <a:latin typeface="DejaVu Sans"/>
                <a:ea typeface="DejaVu Sans"/>
                <a:cs typeface="DejaVu Sans"/>
              </a:defRPr>
            </a:lvl8pPr>
            <a:lvl9pPr algn="l">
              <a:defRPr sz="1425" b="0">
                <a:solidFill>
                  <a:srgbClr val="D4DFE4"/>
                </a:solidFill>
                <a:latin typeface="DejaVu Sans"/>
                <a:ea typeface="DejaVu Sans"/>
                <a:cs typeface="DejaVu Sans"/>
              </a:defRPr>
            </a:lvl9pPr>
          </a:lstStyle>
          <a:p xmlns:a="http://schemas.openxmlformats.org/drawingml/2006/main">
            <a:pPr algn="l">
              <a:defRPr sz="1425" b="0">
                <a:solidFill>
                  <a:srgbClr val="D4DFE4"/>
                </a:solidFill>
                <a:latin typeface="DejaVu Sans"/>
                <a:ea typeface="DejaVu Sans"/>
                <a:cs typeface="DejaVu Sans"/>
              </a:defRPr>
            </a:pPr>
            <a:r>
              <a:rPr sz="1425" b="0">
                <a:solidFill>
                  <a:srgbClr val="D4DFE4"/>
                </a:solidFill>
                <a:latin typeface="DejaVu Sans"/>
                <a:ea typeface="DejaVu Sans"/>
                <a:cs typeface="DejaVu Sans"/>
              </a:rPr>
              <a:t>G Srishtik Sekar   ·   S N Ghosh   ·   Aditya BR   ·   Nishanth</a:t>
            </a:r>
          </a:p>
        </p:txBody>
      </p:sp>
      <p:sp>
        <p:nvSpPr>
          <p:cNvPr id="7" name="Minor project report, October 2026">
            <a:extLst xmlns:a="http://schemas.openxmlformats.org/drawingml/2006/main">
              <a:ext uri="{FF2B5EF4-FFF2-40B4-BE49-F238E27FC236}">
                <a16:creationId xmlns:a16="http://schemas.microsoft.com/office/drawing/2014/main" id="{6C85A66F-D19D-46D8-B0AF-B62FA8281281}"/>
              </a:ext>
            </a:extLst>
          </p:cNvPr>
          <p:cNvSpPr>
            <a:spLocks xmlns:a="http://schemas.openxmlformats.org/drawingml/2006/main" noGrp="1"/>
          </p:cNvSpPr>
          <p:nvPr/>
        </p:nvSpPr>
        <p:spPr>
          <a:xfrm xmlns:a="http://schemas.openxmlformats.org/drawingml/2006/main">
            <a:off x="600075" y="62388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6BAC5"/>
                </a:solidFill>
                <a:latin typeface="DejaVu Sans"/>
                <a:ea typeface="DejaVu Sans"/>
                <a:cs typeface="DejaVu Sans"/>
              </a:defRPr>
            </a:defPPr>
            <a:lvl1pPr algn="l">
              <a:defRPr sz="1125" b="0">
                <a:solidFill>
                  <a:srgbClr val="A6BAC5"/>
                </a:solidFill>
                <a:latin typeface="DejaVu Sans"/>
                <a:ea typeface="DejaVu Sans"/>
                <a:cs typeface="DejaVu Sans"/>
              </a:defRPr>
            </a:lvl1pPr>
            <a:lvl2pPr algn="l">
              <a:defRPr sz="1125" b="0">
                <a:solidFill>
                  <a:srgbClr val="A6BAC5"/>
                </a:solidFill>
                <a:latin typeface="DejaVu Sans"/>
                <a:ea typeface="DejaVu Sans"/>
                <a:cs typeface="DejaVu Sans"/>
              </a:defRPr>
            </a:lvl2pPr>
            <a:lvl3pPr algn="l">
              <a:defRPr sz="1125" b="0">
                <a:solidFill>
                  <a:srgbClr val="A6BAC5"/>
                </a:solidFill>
                <a:latin typeface="DejaVu Sans"/>
                <a:ea typeface="DejaVu Sans"/>
                <a:cs typeface="DejaVu Sans"/>
              </a:defRPr>
            </a:lvl3pPr>
            <a:lvl4pPr algn="l">
              <a:defRPr sz="1125" b="0">
                <a:solidFill>
                  <a:srgbClr val="A6BAC5"/>
                </a:solidFill>
                <a:latin typeface="DejaVu Sans"/>
                <a:ea typeface="DejaVu Sans"/>
                <a:cs typeface="DejaVu Sans"/>
              </a:defRPr>
            </a:lvl4pPr>
            <a:lvl5pPr algn="l">
              <a:defRPr sz="1125" b="0">
                <a:solidFill>
                  <a:srgbClr val="A6BAC5"/>
                </a:solidFill>
                <a:latin typeface="DejaVu Sans"/>
                <a:ea typeface="DejaVu Sans"/>
                <a:cs typeface="DejaVu Sans"/>
              </a:defRPr>
            </a:lvl5pPr>
            <a:lvl6pPr algn="l">
              <a:defRPr sz="1125" b="0">
                <a:solidFill>
                  <a:srgbClr val="A6BAC5"/>
                </a:solidFill>
                <a:latin typeface="DejaVu Sans"/>
                <a:ea typeface="DejaVu Sans"/>
                <a:cs typeface="DejaVu Sans"/>
              </a:defRPr>
            </a:lvl6pPr>
            <a:lvl7pPr algn="l">
              <a:defRPr sz="1125" b="0">
                <a:solidFill>
                  <a:srgbClr val="A6BAC5"/>
                </a:solidFill>
                <a:latin typeface="DejaVu Sans"/>
                <a:ea typeface="DejaVu Sans"/>
                <a:cs typeface="DejaVu Sans"/>
              </a:defRPr>
            </a:lvl7pPr>
            <a:lvl8pPr algn="l">
              <a:defRPr sz="1125" b="0">
                <a:solidFill>
                  <a:srgbClr val="A6BAC5"/>
                </a:solidFill>
                <a:latin typeface="DejaVu Sans"/>
                <a:ea typeface="DejaVu Sans"/>
                <a:cs typeface="DejaVu Sans"/>
              </a:defRPr>
            </a:lvl8pPr>
            <a:lvl9pPr algn="l">
              <a:defRPr sz="1125" b="0">
                <a:solidFill>
                  <a:srgbClr val="A6BAC5"/>
                </a:solidFill>
                <a:latin typeface="DejaVu Sans"/>
                <a:ea typeface="DejaVu Sans"/>
                <a:cs typeface="DejaVu Sans"/>
              </a:defRPr>
            </a:lvl9pPr>
          </a:lstStyle>
          <a:p xmlns:a="http://schemas.openxmlformats.org/drawingml/2006/main">
            <a:pPr algn="l">
              <a:defRPr sz="1125" b="0">
                <a:solidFill>
                  <a:srgbClr val="A6BAC5"/>
                </a:solidFill>
                <a:latin typeface="DejaVu Sans"/>
                <a:ea typeface="DejaVu Sans"/>
                <a:cs typeface="DejaVu Sans"/>
              </a:defRPr>
            </a:pPr>
            <a:r>
              <a:rPr sz="1125" b="0">
                <a:solidFill>
                  <a:srgbClr val="A6BAC5"/>
                </a:solidFill>
                <a:latin typeface="DejaVu Sans"/>
                <a:ea typeface="DejaVu Sans"/>
                <a:cs typeface="DejaVu Sans"/>
              </a:rPr>
              <a:t>Minor project report, October 2026</a:t>
            </a:r>
          </a:p>
        </p:txBody>
      </p:sp>
      <p:sp>
        <p:nvSpPr>
          <p:cNvPr id="8" name="01 / 15">
            <a:extLst xmlns:a="http://schemas.openxmlformats.org/drawingml/2006/main">
              <a:ext uri="{FF2B5EF4-FFF2-40B4-BE49-F238E27FC236}">
                <a16:creationId xmlns:a16="http://schemas.microsoft.com/office/drawing/2014/main" id="{7B385D73-73EC-4BF1-B677-BD9F1F8E3FED}"/>
              </a:ext>
            </a:extLst>
          </p:cNvPr>
          <p:cNvSpPr>
            <a:spLocks xmlns:a="http://schemas.openxmlformats.org/drawingml/2006/main" noGrp="1"/>
          </p:cNvSpPr>
          <p:nvPr/>
        </p:nvSpPr>
        <p:spPr>
          <a:xfrm xmlns:a="http://schemas.openxmlformats.org/drawingml/2006/main">
            <a:off x="10858500" y="62388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A6BAC5"/>
                </a:solidFill>
                <a:latin typeface="DejaVu Sans"/>
                <a:ea typeface="DejaVu Sans"/>
                <a:cs typeface="DejaVu Sans"/>
              </a:defRPr>
            </a:defPPr>
            <a:lvl1pPr algn="r">
              <a:defRPr sz="1050" b="0">
                <a:solidFill>
                  <a:srgbClr val="A6BAC5"/>
                </a:solidFill>
                <a:latin typeface="DejaVu Sans"/>
                <a:ea typeface="DejaVu Sans"/>
                <a:cs typeface="DejaVu Sans"/>
              </a:defRPr>
            </a:lvl1pPr>
            <a:lvl2pPr algn="r">
              <a:defRPr sz="1050" b="0">
                <a:solidFill>
                  <a:srgbClr val="A6BAC5"/>
                </a:solidFill>
                <a:latin typeface="DejaVu Sans"/>
                <a:ea typeface="DejaVu Sans"/>
                <a:cs typeface="DejaVu Sans"/>
              </a:defRPr>
            </a:lvl2pPr>
            <a:lvl3pPr algn="r">
              <a:defRPr sz="1050" b="0">
                <a:solidFill>
                  <a:srgbClr val="A6BAC5"/>
                </a:solidFill>
                <a:latin typeface="DejaVu Sans"/>
                <a:ea typeface="DejaVu Sans"/>
                <a:cs typeface="DejaVu Sans"/>
              </a:defRPr>
            </a:lvl3pPr>
            <a:lvl4pPr algn="r">
              <a:defRPr sz="1050" b="0">
                <a:solidFill>
                  <a:srgbClr val="A6BAC5"/>
                </a:solidFill>
                <a:latin typeface="DejaVu Sans"/>
                <a:ea typeface="DejaVu Sans"/>
                <a:cs typeface="DejaVu Sans"/>
              </a:defRPr>
            </a:lvl4pPr>
            <a:lvl5pPr algn="r">
              <a:defRPr sz="1050" b="0">
                <a:solidFill>
                  <a:srgbClr val="A6BAC5"/>
                </a:solidFill>
                <a:latin typeface="DejaVu Sans"/>
                <a:ea typeface="DejaVu Sans"/>
                <a:cs typeface="DejaVu Sans"/>
              </a:defRPr>
            </a:lvl5pPr>
            <a:lvl6pPr algn="r">
              <a:defRPr sz="1050" b="0">
                <a:solidFill>
                  <a:srgbClr val="A6BAC5"/>
                </a:solidFill>
                <a:latin typeface="DejaVu Sans"/>
                <a:ea typeface="DejaVu Sans"/>
                <a:cs typeface="DejaVu Sans"/>
              </a:defRPr>
            </a:lvl6pPr>
            <a:lvl7pPr algn="r">
              <a:defRPr sz="1050" b="0">
                <a:solidFill>
                  <a:srgbClr val="A6BAC5"/>
                </a:solidFill>
                <a:latin typeface="DejaVu Sans"/>
                <a:ea typeface="DejaVu Sans"/>
                <a:cs typeface="DejaVu Sans"/>
              </a:defRPr>
            </a:lvl7pPr>
            <a:lvl8pPr algn="r">
              <a:defRPr sz="1050" b="0">
                <a:solidFill>
                  <a:srgbClr val="A6BAC5"/>
                </a:solidFill>
                <a:latin typeface="DejaVu Sans"/>
                <a:ea typeface="DejaVu Sans"/>
                <a:cs typeface="DejaVu Sans"/>
              </a:defRPr>
            </a:lvl8pPr>
            <a:lvl9pPr algn="r">
              <a:defRPr sz="1050" b="0">
                <a:solidFill>
                  <a:srgbClr val="A6BAC5"/>
                </a:solidFill>
                <a:latin typeface="DejaVu Sans"/>
                <a:ea typeface="DejaVu Sans"/>
                <a:cs typeface="DejaVu Sans"/>
              </a:defRPr>
            </a:lvl9pPr>
          </a:lstStyle>
          <a:p xmlns:a="http://schemas.openxmlformats.org/drawingml/2006/main">
            <a:pPr algn="r">
              <a:defRPr sz="1050" b="0">
                <a:solidFill>
                  <a:srgbClr val="A6BAC5"/>
                </a:solidFill>
                <a:latin typeface="DejaVu Sans"/>
                <a:ea typeface="DejaVu Sans"/>
                <a:cs typeface="DejaVu Sans"/>
              </a:defRPr>
            </a:pPr>
            <a:r>
              <a:rPr sz="1050" b="0">
                <a:solidFill>
                  <a:srgbClr val="A6BAC5"/>
                </a:solidFill>
                <a:latin typeface="DejaVu Sans"/>
                <a:ea typeface="DejaVu Sans"/>
                <a:cs typeface="DejaVu Sans"/>
              </a:rPr>
              <a:t>01 / 15</a:t>
            </a:r>
          </a:p>
        </p:txBody>
      </p:sp>
    </p:spTree>
    <p:extLst>
      <p:ext uri="{BB962C8B-B14F-4D97-AF65-F5344CB8AC3E}">
        <p14:creationId xmlns:p14="http://schemas.microsoft.com/office/powerpoint/2010/main" val="1007714663"/>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PROBLEM AND MOTIVATION">
            <a:extLst xmlns:a="http://schemas.openxmlformats.org/drawingml/2006/main">
              <a:ext uri="{FF2B5EF4-FFF2-40B4-BE49-F238E27FC236}">
                <a16:creationId xmlns:a16="http://schemas.microsoft.com/office/drawing/2014/main" id="{A7A3EC24-2E81-451A-8A92-53C4869FE88C}"/>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PROBLEM AND MOTIVATION</a:t>
            </a:r>
          </a:p>
        </p:txBody>
      </p:sp>
      <p:sp>
        <p:nvSpPr>
          <p:cNvPr id="3" name="Why long-tailed data is difficult">
            <a:extLst xmlns:a="http://schemas.openxmlformats.org/drawingml/2006/main">
              <a:ext uri="{FF2B5EF4-FFF2-40B4-BE49-F238E27FC236}">
                <a16:creationId xmlns:a16="http://schemas.microsoft.com/office/drawing/2014/main" id="{6ED58328-4236-4174-B56C-5A1388B2D1E8}"/>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Why long-tailed data is difficult</a:t>
            </a:r>
          </a:p>
        </p:txBody>
      </p:sp>
      <p:sp>
        <p:nvSpPr>
          <p:cNvPr id="4" name="">
            <a:extLst xmlns:a="http://schemas.openxmlformats.org/drawingml/2006/main">
              <a:ext uri="{FF2B5EF4-FFF2-40B4-BE49-F238E27FC236}">
                <a16:creationId xmlns:a16="http://schemas.microsoft.com/office/drawing/2014/main" id="{A6F5B307-B9B0-4A04-A082-E879E65E94A7}"/>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00BDEB05-F83C-43BF-9075-2F2BDBE517B2}"/>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02 / 15">
            <a:extLst xmlns:a="http://schemas.openxmlformats.org/drawingml/2006/main">
              <a:ext uri="{FF2B5EF4-FFF2-40B4-BE49-F238E27FC236}">
                <a16:creationId xmlns:a16="http://schemas.microsoft.com/office/drawing/2014/main" id="{B323E464-AA77-4317-8B4F-CD39B2910F5F}"/>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02 / 15</a:t>
            </a:r>
          </a:p>
        </p:txBody>
      </p:sp>
      <p:sp>
        <p:nvSpPr>
          <p:cNvPr id="7" name="CIFAR-10-LT class sizes">
            <a:extLst xmlns:a="http://schemas.openxmlformats.org/drawingml/2006/main">
              <a:ext uri="{FF2B5EF4-FFF2-40B4-BE49-F238E27FC236}">
                <a16:creationId xmlns:a16="http://schemas.microsoft.com/office/drawing/2014/main" id="{80586B37-E2E8-41A8-BE83-6CD74784517A}"/>
              </a:ext>
            </a:extLst>
          </p:cNvPr>
          <p:cNvSpPr>
            <a:spLocks xmlns:a="http://schemas.openxmlformats.org/drawingml/2006/main" noGrp="1"/>
          </p:cNvSpPr>
          <p:nvPr/>
        </p:nvSpPr>
        <p:spPr>
          <a:xfrm xmlns:a="http://schemas.openxmlformats.org/drawingml/2006/main">
            <a:off x="571500" y="171450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B38"/>
                </a:solidFill>
                <a:latin typeface="DejaVu Sans"/>
                <a:ea typeface="DejaVu Sans"/>
                <a:cs typeface="DejaVu Sans"/>
              </a:defRPr>
            </a:defPPr>
            <a:lvl1pPr algn="l">
              <a:defRPr sz="1875" b="1">
                <a:solidFill>
                  <a:srgbClr val="202B38"/>
                </a:solidFill>
                <a:latin typeface="DejaVu Sans"/>
                <a:ea typeface="DejaVu Sans"/>
                <a:cs typeface="DejaVu Sans"/>
              </a:defRPr>
            </a:lvl1pPr>
            <a:lvl2pPr algn="l">
              <a:defRPr sz="1875" b="1">
                <a:solidFill>
                  <a:srgbClr val="202B38"/>
                </a:solidFill>
                <a:latin typeface="DejaVu Sans"/>
                <a:ea typeface="DejaVu Sans"/>
                <a:cs typeface="DejaVu Sans"/>
              </a:defRPr>
            </a:lvl2pPr>
            <a:lvl3pPr algn="l">
              <a:defRPr sz="1875" b="1">
                <a:solidFill>
                  <a:srgbClr val="202B38"/>
                </a:solidFill>
                <a:latin typeface="DejaVu Sans"/>
                <a:ea typeface="DejaVu Sans"/>
                <a:cs typeface="DejaVu Sans"/>
              </a:defRPr>
            </a:lvl3pPr>
            <a:lvl4pPr algn="l">
              <a:defRPr sz="1875" b="1">
                <a:solidFill>
                  <a:srgbClr val="202B38"/>
                </a:solidFill>
                <a:latin typeface="DejaVu Sans"/>
                <a:ea typeface="DejaVu Sans"/>
                <a:cs typeface="DejaVu Sans"/>
              </a:defRPr>
            </a:lvl4pPr>
            <a:lvl5pPr algn="l">
              <a:defRPr sz="1875" b="1">
                <a:solidFill>
                  <a:srgbClr val="202B38"/>
                </a:solidFill>
                <a:latin typeface="DejaVu Sans"/>
                <a:ea typeface="DejaVu Sans"/>
                <a:cs typeface="DejaVu Sans"/>
              </a:defRPr>
            </a:lvl5pPr>
            <a:lvl6pPr algn="l">
              <a:defRPr sz="1875" b="1">
                <a:solidFill>
                  <a:srgbClr val="202B38"/>
                </a:solidFill>
                <a:latin typeface="DejaVu Sans"/>
                <a:ea typeface="DejaVu Sans"/>
                <a:cs typeface="DejaVu Sans"/>
              </a:defRPr>
            </a:lvl6pPr>
            <a:lvl7pPr algn="l">
              <a:defRPr sz="1875" b="1">
                <a:solidFill>
                  <a:srgbClr val="202B38"/>
                </a:solidFill>
                <a:latin typeface="DejaVu Sans"/>
                <a:ea typeface="DejaVu Sans"/>
                <a:cs typeface="DejaVu Sans"/>
              </a:defRPr>
            </a:lvl7pPr>
            <a:lvl8pPr algn="l">
              <a:defRPr sz="1875" b="1">
                <a:solidFill>
                  <a:srgbClr val="202B38"/>
                </a:solidFill>
                <a:latin typeface="DejaVu Sans"/>
                <a:ea typeface="DejaVu Sans"/>
                <a:cs typeface="DejaVu Sans"/>
              </a:defRPr>
            </a:lvl8pPr>
            <a:lvl9pPr algn="l">
              <a:defRPr sz="1875" b="1">
                <a:solidFill>
                  <a:srgbClr val="202B38"/>
                </a:solidFill>
                <a:latin typeface="DejaVu Sans"/>
                <a:ea typeface="DejaVu Sans"/>
                <a:cs typeface="DejaVu Sans"/>
              </a:defRPr>
            </a:lvl9pPr>
          </a:lstStyle>
          <a:p xmlns:a="http://schemas.openxmlformats.org/drawingml/2006/main">
            <a:pPr algn="l">
              <a:defRPr sz="1875" b="1">
                <a:solidFill>
                  <a:srgbClr val="202B38"/>
                </a:solidFill>
                <a:latin typeface="DejaVu Sans"/>
                <a:ea typeface="DejaVu Sans"/>
                <a:cs typeface="DejaVu Sans"/>
              </a:defRPr>
            </a:pPr>
            <a:r>
              <a:rPr sz="1875" b="1">
                <a:solidFill>
                  <a:srgbClr val="202B38"/>
                </a:solidFill>
                <a:latin typeface="DejaVu Sans"/>
                <a:ea typeface="DejaVu Sans"/>
                <a:cs typeface="DejaVu Sans"/>
              </a:rPr>
              <a:t>CIFAR-10-LT class sizes</a:t>
            </a:r>
          </a:p>
        </p:txBody>
      </p:sp>
      <p:graphicFrame>
        <p:nvGraphicFramePr>
          <p:cNvPr id="8" name="Chart">
            <a:extLst xmlns:a="http://schemas.openxmlformats.org/drawingml/2006/main">
              <a:ext uri="{FF2B5EF4-FFF2-40B4-BE49-F238E27FC236}">
                <a16:creationId xmlns:a16="http://schemas.microsoft.com/office/drawing/2014/main" id="{2AFD453B-F090-4FD7-BD62-D8E9CEACC263}"/>
              </a:ext>
            </a:extLst>
          </p:cNvPr>
          <p:cNvGraphicFramePr/>
          <p:nvPr/>
        </p:nvGraphicFramePr>
        <p:xfrm>
          <a:off xmlns:a="http://schemas.openxmlformats.org/drawingml/2006/main" x="571500" y="2190750"/>
          <a:ext xmlns:a="http://schemas.openxmlformats.org/drawingml/2006/main" cx="6762750" cy="3333750"/>
        </p:xfrm>
        <a:graphic xmlns:a="http://schemas.openxmlformats.org/drawingml/2006/main">
          <a:graphicData uri="http://schemas.openxmlformats.org/drawingml/2006/chart">
            <c:chart xmlns:r="http://schemas.openxmlformats.org/officeDocument/2006/relationships" xmlns:c="http://schemas.openxmlformats.org/drawingml/2006/chart" r:id="R2e212e7ba2f54a2f"/>
          </a:graphicData>
        </a:graphic>
      </p:graphicFrame>
      <p:sp>
        <p:nvSpPr>
          <p:cNvPr id="9" name="Unequal exposure">
            <a:extLst xmlns:a="http://schemas.openxmlformats.org/drawingml/2006/main">
              <a:ext uri="{FF2B5EF4-FFF2-40B4-BE49-F238E27FC236}">
                <a16:creationId xmlns:a16="http://schemas.microsoft.com/office/drawing/2014/main" id="{BDC30E46-8680-4AB6-8E47-E2115DB3C490}"/>
              </a:ext>
            </a:extLst>
          </p:cNvPr>
          <p:cNvSpPr>
            <a:spLocks xmlns:a="http://schemas.openxmlformats.org/drawingml/2006/main" noGrp="1"/>
          </p:cNvSpPr>
          <p:nvPr/>
        </p:nvSpPr>
        <p:spPr>
          <a:xfrm xmlns:a="http://schemas.openxmlformats.org/drawingml/2006/main">
            <a:off x="7905750" y="18097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Unequal exposure</a:t>
            </a:r>
          </a:p>
        </p:txBody>
      </p:sp>
      <p:sp>
        <p:nvSpPr>
          <p:cNvPr id="10" name="Frequent classes dominate the training signal. Tail classes provi">
            <a:extLst xmlns:a="http://schemas.openxmlformats.org/drawingml/2006/main">
              <a:ext uri="{FF2B5EF4-FFF2-40B4-BE49-F238E27FC236}">
                <a16:creationId xmlns:a16="http://schemas.microsoft.com/office/drawing/2014/main" id="{6EFF6E12-3CC9-4BB4-B1EF-FA854AD999C3}"/>
              </a:ext>
            </a:extLst>
          </p:cNvPr>
          <p:cNvSpPr>
            <a:spLocks xmlns:a="http://schemas.openxmlformats.org/drawingml/2006/main" noGrp="1"/>
          </p:cNvSpPr>
          <p:nvPr/>
        </p:nvSpPr>
        <p:spPr>
          <a:xfrm xmlns:a="http://schemas.openxmlformats.org/drawingml/2006/main">
            <a:off x="7905750" y="2257425"/>
            <a:ext cx="371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Frequent classes dominate the training signal. Tail classes provide few examples.</a:t>
            </a:r>
          </a:p>
        </p:txBody>
      </p:sp>
      <p:sp>
        <p:nvSpPr>
          <p:cNvPr id="11" name="Spatial structure">
            <a:extLst xmlns:a="http://schemas.openxmlformats.org/drawingml/2006/main">
              <a:ext uri="{FF2B5EF4-FFF2-40B4-BE49-F238E27FC236}">
                <a16:creationId xmlns:a16="http://schemas.microsoft.com/office/drawing/2014/main" id="{58D93000-85F3-4F71-9478-2C005A1C9899}"/>
              </a:ext>
            </a:extLst>
          </p:cNvPr>
          <p:cNvSpPr>
            <a:spLocks xmlns:a="http://schemas.openxmlformats.org/drawingml/2006/main" noGrp="1"/>
          </p:cNvSpPr>
          <p:nvPr/>
        </p:nvSpPr>
        <p:spPr>
          <a:xfrm xmlns:a="http://schemas.openxmlformats.org/drawingml/2006/main">
            <a:off x="7905750" y="347662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Spatial structure</a:t>
            </a:r>
          </a:p>
        </p:txBody>
      </p:sp>
      <p:sp>
        <p:nvSpPr>
          <p:cNvPr id="12" name="A plain ViT must learn spatial relationships from data. A CNN sup">
            <a:extLst xmlns:a="http://schemas.openxmlformats.org/drawingml/2006/main">
              <a:ext uri="{FF2B5EF4-FFF2-40B4-BE49-F238E27FC236}">
                <a16:creationId xmlns:a16="http://schemas.microsoft.com/office/drawing/2014/main" id="{C8835C45-2BE6-4C25-B987-1AE85E61CE5B}"/>
              </a:ext>
            </a:extLst>
          </p:cNvPr>
          <p:cNvSpPr>
            <a:spLocks xmlns:a="http://schemas.openxmlformats.org/drawingml/2006/main" noGrp="1"/>
          </p:cNvSpPr>
          <p:nvPr/>
        </p:nvSpPr>
        <p:spPr>
          <a:xfrm xmlns:a="http://schemas.openxmlformats.org/drawingml/2006/main">
            <a:off x="7905750" y="3924300"/>
            <a:ext cx="371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A plain ViT must learn spatial relationships from data. A CNN supplies local structure through convolution.</a:t>
            </a:r>
          </a:p>
        </p:txBody>
      </p:sp>
      <p:sp>
        <p:nvSpPr>
          <p:cNvPr id="13" name="Goal: train from scratch while improving recognition of rare clas">
            <a:extLst xmlns:a="http://schemas.openxmlformats.org/drawingml/2006/main">
              <a:ext uri="{FF2B5EF4-FFF2-40B4-BE49-F238E27FC236}">
                <a16:creationId xmlns:a16="http://schemas.microsoft.com/office/drawing/2014/main" id="{2F7372D4-A36B-4656-BAA7-60F309BEE1C0}"/>
              </a:ext>
            </a:extLst>
          </p:cNvPr>
          <p:cNvSpPr>
            <a:spLocks xmlns:a="http://schemas.openxmlformats.org/drawingml/2006/main" noGrp="1"/>
          </p:cNvSpPr>
          <p:nvPr/>
        </p:nvSpPr>
        <p:spPr>
          <a:xfrm xmlns:a="http://schemas.openxmlformats.org/drawingml/2006/main">
            <a:off x="571500" y="56197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4A7772"/>
                </a:solidFill>
                <a:latin typeface="DejaVu Sans"/>
                <a:ea typeface="DejaVu Sans"/>
                <a:cs typeface="DejaVu Sans"/>
              </a:defRPr>
            </a:defPPr>
            <a:lvl1pPr algn="l">
              <a:defRPr sz="1800" b="1">
                <a:solidFill>
                  <a:srgbClr val="4A7772"/>
                </a:solidFill>
                <a:latin typeface="DejaVu Sans"/>
                <a:ea typeface="DejaVu Sans"/>
                <a:cs typeface="DejaVu Sans"/>
              </a:defRPr>
            </a:lvl1pPr>
            <a:lvl2pPr algn="l">
              <a:defRPr sz="1800" b="1">
                <a:solidFill>
                  <a:srgbClr val="4A7772"/>
                </a:solidFill>
                <a:latin typeface="DejaVu Sans"/>
                <a:ea typeface="DejaVu Sans"/>
                <a:cs typeface="DejaVu Sans"/>
              </a:defRPr>
            </a:lvl2pPr>
            <a:lvl3pPr algn="l">
              <a:defRPr sz="1800" b="1">
                <a:solidFill>
                  <a:srgbClr val="4A7772"/>
                </a:solidFill>
                <a:latin typeface="DejaVu Sans"/>
                <a:ea typeface="DejaVu Sans"/>
                <a:cs typeface="DejaVu Sans"/>
              </a:defRPr>
            </a:lvl3pPr>
            <a:lvl4pPr algn="l">
              <a:defRPr sz="1800" b="1">
                <a:solidFill>
                  <a:srgbClr val="4A7772"/>
                </a:solidFill>
                <a:latin typeface="DejaVu Sans"/>
                <a:ea typeface="DejaVu Sans"/>
                <a:cs typeface="DejaVu Sans"/>
              </a:defRPr>
            </a:lvl4pPr>
            <a:lvl5pPr algn="l">
              <a:defRPr sz="1800" b="1">
                <a:solidFill>
                  <a:srgbClr val="4A7772"/>
                </a:solidFill>
                <a:latin typeface="DejaVu Sans"/>
                <a:ea typeface="DejaVu Sans"/>
                <a:cs typeface="DejaVu Sans"/>
              </a:defRPr>
            </a:lvl5pPr>
            <a:lvl6pPr algn="l">
              <a:defRPr sz="1800" b="1">
                <a:solidFill>
                  <a:srgbClr val="4A7772"/>
                </a:solidFill>
                <a:latin typeface="DejaVu Sans"/>
                <a:ea typeface="DejaVu Sans"/>
                <a:cs typeface="DejaVu Sans"/>
              </a:defRPr>
            </a:lvl6pPr>
            <a:lvl7pPr algn="l">
              <a:defRPr sz="1800" b="1">
                <a:solidFill>
                  <a:srgbClr val="4A7772"/>
                </a:solidFill>
                <a:latin typeface="DejaVu Sans"/>
                <a:ea typeface="DejaVu Sans"/>
                <a:cs typeface="DejaVu Sans"/>
              </a:defRPr>
            </a:lvl7pPr>
            <a:lvl8pPr algn="l">
              <a:defRPr sz="1800" b="1">
                <a:solidFill>
                  <a:srgbClr val="4A7772"/>
                </a:solidFill>
                <a:latin typeface="DejaVu Sans"/>
                <a:ea typeface="DejaVu Sans"/>
                <a:cs typeface="DejaVu Sans"/>
              </a:defRPr>
            </a:lvl8pPr>
            <a:lvl9pPr algn="l">
              <a:defRPr sz="1800" b="1">
                <a:solidFill>
                  <a:srgbClr val="4A7772"/>
                </a:solidFill>
                <a:latin typeface="DejaVu Sans"/>
                <a:ea typeface="DejaVu Sans"/>
                <a:cs typeface="DejaVu Sans"/>
              </a:defRPr>
            </a:lvl9pPr>
          </a:lstStyle>
          <a:p xmlns:a="http://schemas.openxmlformats.org/drawingml/2006/main">
            <a:pPr algn="l">
              <a:defRPr sz="1800" b="1">
                <a:solidFill>
                  <a:srgbClr val="4A7772"/>
                </a:solidFill>
                <a:latin typeface="DejaVu Sans"/>
                <a:ea typeface="DejaVu Sans"/>
                <a:cs typeface="DejaVu Sans"/>
              </a:defRPr>
            </a:pPr>
            <a:r>
              <a:rPr sz="1800" b="1">
                <a:solidFill>
                  <a:srgbClr val="4A7772"/>
                </a:solidFill>
                <a:latin typeface="DejaVu Sans"/>
                <a:ea typeface="DejaVu Sans"/>
                <a:cs typeface="DejaVu Sans"/>
              </a:rPr>
              <a:t>Goal: train from scratch while improving recognition of rare classes.</a:t>
            </a:r>
          </a:p>
        </p:txBody>
      </p:sp>
    </p:spTree>
    <p:extLst>
      <p:ext uri="{BB962C8B-B14F-4D97-AF65-F5344CB8AC3E}">
        <p14:creationId xmlns:p14="http://schemas.microsoft.com/office/powerpoint/2010/main" val="441143758"/>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DATA">
            <a:extLst xmlns:a="http://schemas.openxmlformats.org/drawingml/2006/main">
              <a:ext uri="{FF2B5EF4-FFF2-40B4-BE49-F238E27FC236}">
                <a16:creationId xmlns:a16="http://schemas.microsoft.com/office/drawing/2014/main" id="{420E04B8-B158-41FF-870A-746412069CB4}"/>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DATA</a:t>
            </a:r>
          </a:p>
        </p:txBody>
      </p:sp>
      <p:sp>
        <p:nvSpPr>
          <p:cNvPr id="3" name="Benchmarks and evaluation protocol">
            <a:extLst xmlns:a="http://schemas.openxmlformats.org/drawingml/2006/main">
              <a:ext uri="{FF2B5EF4-FFF2-40B4-BE49-F238E27FC236}">
                <a16:creationId xmlns:a16="http://schemas.microsoft.com/office/drawing/2014/main" id="{AA58BD3E-BAA8-42C4-86DB-93EA12DF687C}"/>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Benchmarks and evaluation protocol</a:t>
            </a:r>
          </a:p>
        </p:txBody>
      </p:sp>
      <p:sp>
        <p:nvSpPr>
          <p:cNvPr id="4" name="">
            <a:extLst xmlns:a="http://schemas.openxmlformats.org/drawingml/2006/main">
              <a:ext uri="{FF2B5EF4-FFF2-40B4-BE49-F238E27FC236}">
                <a16:creationId xmlns:a16="http://schemas.microsoft.com/office/drawing/2014/main" id="{FC866B39-3E60-4E24-B425-C5A031ACF6D0}"/>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5BE73A6C-394B-4488-8970-216D8B0AB386}"/>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03 / 15">
            <a:extLst xmlns:a="http://schemas.openxmlformats.org/drawingml/2006/main">
              <a:ext uri="{FF2B5EF4-FFF2-40B4-BE49-F238E27FC236}">
                <a16:creationId xmlns:a16="http://schemas.microsoft.com/office/drawing/2014/main" id="{DC1C3810-CFE7-4154-819E-32A3288E7211}"/>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03 / 15</a:t>
            </a:r>
          </a:p>
        </p:txBody>
      </p:sp>
      <p:graphicFrame>
        <p:nvGraphicFramePr>
          <p:cNvPr id="7" name="">
            <a:extLst xmlns:a="http://schemas.openxmlformats.org/drawingml/2006/main">
              <a:ext uri="{FF2B5EF4-FFF2-40B4-BE49-F238E27FC236}">
                <a16:creationId xmlns:a16="http://schemas.microsoft.com/office/drawing/2014/main" id="{73C233A6-C35D-4781-82C7-5F5C3062D611}"/>
              </a:ext>
            </a:extLst>
          </p:cNvPr>
          <p:cNvGraphicFramePr/>
          <p:nvPr/>
        </p:nvGraphicFramePr>
        <p:xfrm>
          <a:off xmlns:a="http://schemas.openxmlformats.org/drawingml/2006/main" x="571500" y="1714500"/>
          <a:ext xmlns:a="http://schemas.openxmlformats.org/drawingml/2006/main" cx="11049000" cy="2524125"/>
        </p:xfrm>
        <a:graphic xmlns:a="http://schemas.openxmlformats.org/drawingml/2006/main">
          <a:graphicData uri="http://schemas.openxmlformats.org/drawingml/2006/table">
            <a:tbl>
              <a:tblPr/>
              <a:tblGrid>
                <a:gridCol w="2857500"/>
                <a:gridCol w="1428750"/>
                <a:gridCol w="1524000"/>
                <a:gridCol w="2667000"/>
                <a:gridCol w="2571750"/>
              </a:tblGrid>
              <a:tr h="631031">
                <a:tc>
                  <a:txBody>
                    <a:bodyPr/>
                    <a:lstStyle/>
                    <a:p>
                      <a:pPr algn="l"/>
                      <a:r>
                        <a:rPr sz="1725" b="1">
                          <a:solidFill>
                            <a:srgbClr val="FFFFFF"/>
                          </a:solidFill>
                          <a:latin typeface="DejaVu Sans"/>
                          <a:ea typeface="DejaVu Sans"/>
                          <a:cs typeface="DejaVu Sans"/>
                        </a:rPr>
                        <a:t>Dataset</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Classes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IF</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Train images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Test images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631031">
                <a:tc>
                  <a:txBody>
                    <a:bodyPr/>
                    <a:lstStyle/>
                    <a:p>
                      <a:pPr algn="l"/>
                      <a:r>
                        <a:rPr sz="1725" b="0">
                          <a:solidFill>
                            <a:srgbClr val="202B38"/>
                          </a:solidFill>
                          <a:latin typeface="DejaVu Sans"/>
                          <a:ea typeface="DejaVu Sans"/>
                          <a:cs typeface="DejaVu Sans"/>
                        </a:rPr>
                        <a:t>CIFAR-10-LT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100 / 50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12,406 / 13,996</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10,000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631031">
                <a:tc>
                  <a:txBody>
                    <a:bodyPr/>
                    <a:lstStyle/>
                    <a:p>
                      <a:pPr algn="l"/>
                      <a:r>
                        <a:rPr sz="1725" b="0">
                          <a:solidFill>
                            <a:srgbClr val="202B38"/>
                          </a:solidFill>
                          <a:latin typeface="DejaVu Sans"/>
                          <a:ea typeface="DejaVu Sans"/>
                          <a:cs typeface="DejaVu Sans"/>
                        </a:rPr>
                        <a:t>CIFAR-100-LT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100 / 50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10,847 / 12,608</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10,000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r h="631031">
                <a:tc>
                  <a:txBody>
                    <a:bodyPr/>
                    <a:lstStyle/>
                    <a:p>
                      <a:pPr algn="l"/>
                      <a:r>
                        <a:rPr sz="1725" b="0">
                          <a:solidFill>
                            <a:srgbClr val="202B38"/>
                          </a:solidFill>
                          <a:latin typeface="DejaVu Sans"/>
                          <a:ea typeface="DejaVu Sans"/>
                          <a:cs typeface="DejaVu Sans"/>
                        </a:rPr>
                        <a:t>ImageNet-LT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1,000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256</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115,846</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50,000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bl>
          </a:graphicData>
        </a:graphic>
      </p:graphicFrame>
      <p:sp>
        <p:nvSpPr>
          <p:cNvPr id="8" name="Balanced test sets">
            <a:extLst xmlns:a="http://schemas.openxmlformats.org/drawingml/2006/main">
              <a:ext uri="{FF2B5EF4-FFF2-40B4-BE49-F238E27FC236}">
                <a16:creationId xmlns:a16="http://schemas.microsoft.com/office/drawing/2014/main" id="{ECE7A2D1-D742-4501-BBF6-B135EC8320DA}"/>
              </a:ext>
            </a:extLst>
          </p:cNvPr>
          <p:cNvSpPr>
            <a:spLocks xmlns:a="http://schemas.openxmlformats.org/drawingml/2006/main" noGrp="1"/>
          </p:cNvSpPr>
          <p:nvPr/>
        </p:nvSpPr>
        <p:spPr>
          <a:xfrm xmlns:a="http://schemas.openxmlformats.org/drawingml/2006/main">
            <a:off x="571500" y="46196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Balanced test sets</a:t>
            </a:r>
          </a:p>
        </p:txBody>
      </p:sp>
      <p:sp>
        <p:nvSpPr>
          <p:cNvPr id="9" name="The report evaluates overall top-1, top-5 and macro-F1 on balance">
            <a:extLst xmlns:a="http://schemas.openxmlformats.org/drawingml/2006/main">
              <a:ext uri="{FF2B5EF4-FFF2-40B4-BE49-F238E27FC236}">
                <a16:creationId xmlns:a16="http://schemas.microsoft.com/office/drawing/2014/main" id="{E9DA2BCF-555A-49EB-933A-858DEBE9A6A2}"/>
              </a:ext>
            </a:extLst>
          </p:cNvPr>
          <p:cNvSpPr>
            <a:spLocks xmlns:a="http://schemas.openxmlformats.org/drawingml/2006/main" noGrp="1"/>
          </p:cNvSpPr>
          <p:nvPr/>
        </p:nvSpPr>
        <p:spPr>
          <a:xfrm xmlns:a="http://schemas.openxmlformats.org/drawingml/2006/main">
            <a:off x="571500" y="50673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The report evaluates overall top-1, top-5 and macro-F1 on balanced test sets.</a:t>
            </a:r>
          </a:p>
        </p:txBody>
      </p:sp>
      <p:sp>
        <p:nvSpPr>
          <p:cNvPr id="10" name="Frequency groups">
            <a:extLst xmlns:a="http://schemas.openxmlformats.org/drawingml/2006/main">
              <a:ext uri="{FF2B5EF4-FFF2-40B4-BE49-F238E27FC236}">
                <a16:creationId xmlns:a16="http://schemas.microsoft.com/office/drawing/2014/main" id="{394E9A0D-BAB8-4764-963F-4937B0AA6281}"/>
              </a:ext>
            </a:extLst>
          </p:cNvPr>
          <p:cNvSpPr>
            <a:spLocks xmlns:a="http://schemas.openxmlformats.org/drawingml/2006/main" noGrp="1"/>
          </p:cNvSpPr>
          <p:nvPr/>
        </p:nvSpPr>
        <p:spPr>
          <a:xfrm xmlns:a="http://schemas.openxmlformats.org/drawingml/2006/main">
            <a:off x="6286500" y="4619625"/>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Frequency groups</a:t>
            </a:r>
          </a:p>
        </p:txBody>
      </p:sp>
      <p:sp>
        <p:nvSpPr>
          <p:cNvPr id="11" name="CIFAR uses fixed class-index groups. ImageNet-LT uses &gt;100, 20–10">
            <a:extLst xmlns:a="http://schemas.openxmlformats.org/drawingml/2006/main">
              <a:ext uri="{FF2B5EF4-FFF2-40B4-BE49-F238E27FC236}">
                <a16:creationId xmlns:a16="http://schemas.microsoft.com/office/drawing/2014/main" id="{43132A32-0DF5-436D-9E82-81F32C6BDC3F}"/>
              </a:ext>
            </a:extLst>
          </p:cNvPr>
          <p:cNvSpPr>
            <a:spLocks xmlns:a="http://schemas.openxmlformats.org/drawingml/2006/main" noGrp="1"/>
          </p:cNvSpPr>
          <p:nvPr/>
        </p:nvSpPr>
        <p:spPr>
          <a:xfrm xmlns:a="http://schemas.openxmlformats.org/drawingml/2006/main">
            <a:off x="6286500" y="5067300"/>
            <a:ext cx="5334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CIFAR uses fixed class-index groups. ImageNet-LT uses &gt;100, 20–100 and &lt;20 training images.</a:t>
            </a:r>
          </a:p>
        </p:txBody>
      </p:sp>
    </p:spTree>
    <p:extLst>
      <p:ext uri="{BB962C8B-B14F-4D97-AF65-F5344CB8AC3E}">
        <p14:creationId xmlns:p14="http://schemas.microsoft.com/office/powerpoint/2010/main" val="850405673"/>
      </p:ext>
    </p:extLst>
  </p:cSld>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0E04819D-321C-4C9F-B877-84BEC988BDDE}"/>
              </a:ext>
            </a:extLst>
          </p:cNvPr>
          <p:cNvCxnSpPr>
            <a:stCxn xmlns:a="http://schemas.openxmlformats.org/drawingml/2006/main" id="17" idx="3"/>
            <a:endCxn xmlns:a="http://schemas.openxmlformats.org/drawingml/2006/main" id="18" idx="1"/>
          </p:cNvCxnSpPr>
          <p:nvPr/>
        </p:nvCxnSpPr>
        <p:spPr>
          <a:xfrm xmlns:a="http://schemas.openxmlformats.org/drawingml/2006/main">
            <a:off x="9286875"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3" name="">
            <a:extLst xmlns:a="http://schemas.openxmlformats.org/drawingml/2006/main">
              <a:ext uri="{FF2B5EF4-FFF2-40B4-BE49-F238E27FC236}">
                <a16:creationId xmlns:a16="http://schemas.microsoft.com/office/drawing/2014/main" id="{1BD6867C-C056-49E2-AEAD-3C5BF87ACFFF}"/>
              </a:ext>
            </a:extLst>
          </p:cNvPr>
          <p:cNvCxnSpPr>
            <a:stCxn xmlns:a="http://schemas.openxmlformats.org/drawingml/2006/main" id="16" idx="3"/>
            <a:endCxn xmlns:a="http://schemas.openxmlformats.org/drawingml/2006/main" id="17" idx="1"/>
          </p:cNvCxnSpPr>
          <p:nvPr/>
        </p:nvCxnSpPr>
        <p:spPr>
          <a:xfrm xmlns:a="http://schemas.openxmlformats.org/drawingml/2006/main">
            <a:off x="7429500"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4" name="">
            <a:extLst xmlns:a="http://schemas.openxmlformats.org/drawingml/2006/main">
              <a:ext uri="{FF2B5EF4-FFF2-40B4-BE49-F238E27FC236}">
                <a16:creationId xmlns:a16="http://schemas.microsoft.com/office/drawing/2014/main" id="{D6CDFAD7-CE5A-40E0-97FD-E8E4B700E747}"/>
              </a:ext>
            </a:extLst>
          </p:cNvPr>
          <p:cNvCxnSpPr>
            <a:stCxn xmlns:a="http://schemas.openxmlformats.org/drawingml/2006/main" id="15" idx="3"/>
            <a:endCxn xmlns:a="http://schemas.openxmlformats.org/drawingml/2006/main" id="16" idx="1"/>
          </p:cNvCxnSpPr>
          <p:nvPr/>
        </p:nvCxnSpPr>
        <p:spPr>
          <a:xfrm xmlns:a="http://schemas.openxmlformats.org/drawingml/2006/main">
            <a:off x="5572125"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5" name="">
            <a:extLst xmlns:a="http://schemas.openxmlformats.org/drawingml/2006/main">
              <a:ext uri="{FF2B5EF4-FFF2-40B4-BE49-F238E27FC236}">
                <a16:creationId xmlns:a16="http://schemas.microsoft.com/office/drawing/2014/main" id="{5877ADF5-B801-4A38-A7D0-DFB72EB11BE7}"/>
              </a:ext>
            </a:extLst>
          </p:cNvPr>
          <p:cNvCxnSpPr>
            <a:stCxn xmlns:a="http://schemas.openxmlformats.org/drawingml/2006/main" id="14" idx="3"/>
            <a:endCxn xmlns:a="http://schemas.openxmlformats.org/drawingml/2006/main" id="15" idx="1"/>
          </p:cNvCxnSpPr>
          <p:nvPr/>
        </p:nvCxnSpPr>
        <p:spPr>
          <a:xfrm xmlns:a="http://schemas.openxmlformats.org/drawingml/2006/main">
            <a:off x="3714750"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6" name="">
            <a:extLst xmlns:a="http://schemas.openxmlformats.org/drawingml/2006/main">
              <a:ext uri="{FF2B5EF4-FFF2-40B4-BE49-F238E27FC236}">
                <a16:creationId xmlns:a16="http://schemas.microsoft.com/office/drawing/2014/main" id="{5994A266-2E6C-474F-9BFB-29B4FFDC6A68}"/>
              </a:ext>
            </a:extLst>
          </p:cNvPr>
          <p:cNvCxnSpPr>
            <a:stCxn xmlns:a="http://schemas.openxmlformats.org/drawingml/2006/main" id="13" idx="3"/>
            <a:endCxn xmlns:a="http://schemas.openxmlformats.org/drawingml/2006/main" id="14" idx="1"/>
          </p:cNvCxnSpPr>
          <p:nvPr/>
        </p:nvCxnSpPr>
        <p:spPr>
          <a:xfrm xmlns:a="http://schemas.openxmlformats.org/drawingml/2006/main">
            <a:off x="1952625"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sp>
        <p:nvSpPr>
          <p:cNvPr id="7" name="MODEL 1">
            <a:extLst xmlns:a="http://schemas.openxmlformats.org/drawingml/2006/main">
              <a:ext uri="{FF2B5EF4-FFF2-40B4-BE49-F238E27FC236}">
                <a16:creationId xmlns:a16="http://schemas.microsoft.com/office/drawing/2014/main" id="{1061DD28-1628-4621-B8E4-508777B79DE1}"/>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MODEL 1</a:t>
            </a:r>
          </a:p>
        </p:txBody>
      </p:sp>
      <p:sp>
        <p:nvSpPr>
          <p:cNvPr id="8" name="ResNet-32: convolution and residual learning">
            <a:extLst xmlns:a="http://schemas.openxmlformats.org/drawingml/2006/main">
              <a:ext uri="{FF2B5EF4-FFF2-40B4-BE49-F238E27FC236}">
                <a16:creationId xmlns:a16="http://schemas.microsoft.com/office/drawing/2014/main" id="{220D3FEA-C1A0-47B6-A4E4-0E5835A917C5}"/>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ResNet-32: convolution and residual learning</a:t>
            </a:r>
          </a:p>
        </p:txBody>
      </p:sp>
      <p:sp>
        <p:nvSpPr>
          <p:cNvPr id="9" name="">
            <a:extLst xmlns:a="http://schemas.openxmlformats.org/drawingml/2006/main">
              <a:ext uri="{FF2B5EF4-FFF2-40B4-BE49-F238E27FC236}">
                <a16:creationId xmlns:a16="http://schemas.microsoft.com/office/drawing/2014/main" id="{C4D7DAFE-276E-4CDE-B7C0-0EE9E59F2F01}"/>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10" name="Training vision transformers on long-tailed data">
            <a:extLst xmlns:a="http://schemas.openxmlformats.org/drawingml/2006/main">
              <a:ext uri="{FF2B5EF4-FFF2-40B4-BE49-F238E27FC236}">
                <a16:creationId xmlns:a16="http://schemas.microsoft.com/office/drawing/2014/main" id="{BC19F02D-5935-48F3-8654-085949152518}"/>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11" name="04 / 15">
            <a:extLst xmlns:a="http://schemas.openxmlformats.org/drawingml/2006/main">
              <a:ext uri="{FF2B5EF4-FFF2-40B4-BE49-F238E27FC236}">
                <a16:creationId xmlns:a16="http://schemas.microsoft.com/office/drawing/2014/main" id="{79E1F243-DBC2-4B5F-B2D9-0EF90A770AED}"/>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04 / 15</a:t>
            </a:r>
          </a:p>
        </p:txBody>
      </p:sp>
      <p:sp>
        <p:nvSpPr>
          <p:cNvPr id="12" name="CIFAR architecture: 3 stages, 5 residual blocks per stage">
            <a:extLst xmlns:a="http://schemas.openxmlformats.org/drawingml/2006/main">
              <a:ext uri="{FF2B5EF4-FFF2-40B4-BE49-F238E27FC236}">
                <a16:creationId xmlns:a16="http://schemas.microsoft.com/office/drawing/2014/main" id="{53FD712A-5CE0-46FD-8F1F-10E1D877A491}"/>
              </a:ext>
            </a:extLst>
          </p:cNvPr>
          <p:cNvSpPr>
            <a:spLocks xmlns:a="http://schemas.openxmlformats.org/drawingml/2006/main" noGrp="1"/>
          </p:cNvSpPr>
          <p:nvPr/>
        </p:nvSpPr>
        <p:spPr>
          <a:xfrm xmlns:a="http://schemas.openxmlformats.org/drawingml/2006/main">
            <a:off x="571500" y="17145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4A7772"/>
                </a:solidFill>
                <a:latin typeface="DejaVu Sans"/>
                <a:ea typeface="DejaVu Sans"/>
                <a:cs typeface="DejaVu Sans"/>
              </a:defRPr>
            </a:defPPr>
            <a:lvl1pPr algn="l">
              <a:defRPr sz="2025" b="1">
                <a:solidFill>
                  <a:srgbClr val="4A7772"/>
                </a:solidFill>
                <a:latin typeface="DejaVu Sans"/>
                <a:ea typeface="DejaVu Sans"/>
                <a:cs typeface="DejaVu Sans"/>
              </a:defRPr>
            </a:lvl1pPr>
            <a:lvl2pPr algn="l">
              <a:defRPr sz="2025" b="1">
                <a:solidFill>
                  <a:srgbClr val="4A7772"/>
                </a:solidFill>
                <a:latin typeface="DejaVu Sans"/>
                <a:ea typeface="DejaVu Sans"/>
                <a:cs typeface="DejaVu Sans"/>
              </a:defRPr>
            </a:lvl2pPr>
            <a:lvl3pPr algn="l">
              <a:defRPr sz="2025" b="1">
                <a:solidFill>
                  <a:srgbClr val="4A7772"/>
                </a:solidFill>
                <a:latin typeface="DejaVu Sans"/>
                <a:ea typeface="DejaVu Sans"/>
                <a:cs typeface="DejaVu Sans"/>
              </a:defRPr>
            </a:lvl3pPr>
            <a:lvl4pPr algn="l">
              <a:defRPr sz="2025" b="1">
                <a:solidFill>
                  <a:srgbClr val="4A7772"/>
                </a:solidFill>
                <a:latin typeface="DejaVu Sans"/>
                <a:ea typeface="DejaVu Sans"/>
                <a:cs typeface="DejaVu Sans"/>
              </a:defRPr>
            </a:lvl4pPr>
            <a:lvl5pPr algn="l">
              <a:defRPr sz="2025" b="1">
                <a:solidFill>
                  <a:srgbClr val="4A7772"/>
                </a:solidFill>
                <a:latin typeface="DejaVu Sans"/>
                <a:ea typeface="DejaVu Sans"/>
                <a:cs typeface="DejaVu Sans"/>
              </a:defRPr>
            </a:lvl5pPr>
            <a:lvl6pPr algn="l">
              <a:defRPr sz="2025" b="1">
                <a:solidFill>
                  <a:srgbClr val="4A7772"/>
                </a:solidFill>
                <a:latin typeface="DejaVu Sans"/>
                <a:ea typeface="DejaVu Sans"/>
                <a:cs typeface="DejaVu Sans"/>
              </a:defRPr>
            </a:lvl6pPr>
            <a:lvl7pPr algn="l">
              <a:defRPr sz="2025" b="1">
                <a:solidFill>
                  <a:srgbClr val="4A7772"/>
                </a:solidFill>
                <a:latin typeface="DejaVu Sans"/>
                <a:ea typeface="DejaVu Sans"/>
                <a:cs typeface="DejaVu Sans"/>
              </a:defRPr>
            </a:lvl7pPr>
            <a:lvl8pPr algn="l">
              <a:defRPr sz="2025" b="1">
                <a:solidFill>
                  <a:srgbClr val="4A7772"/>
                </a:solidFill>
                <a:latin typeface="DejaVu Sans"/>
                <a:ea typeface="DejaVu Sans"/>
                <a:cs typeface="DejaVu Sans"/>
              </a:defRPr>
            </a:lvl8pPr>
            <a:lvl9pPr algn="l">
              <a:defRPr sz="2025" b="1">
                <a:solidFill>
                  <a:srgbClr val="4A7772"/>
                </a:solidFill>
                <a:latin typeface="DejaVu Sans"/>
                <a:ea typeface="DejaVu Sans"/>
                <a:cs typeface="DejaVu Sans"/>
              </a:defRPr>
            </a:lvl9pPr>
          </a:lstStyle>
          <a:p xmlns:a="http://schemas.openxmlformats.org/drawingml/2006/main">
            <a:pPr algn="l">
              <a:defRPr sz="2025" b="1">
                <a:solidFill>
                  <a:srgbClr val="4A7772"/>
                </a:solidFill>
                <a:latin typeface="DejaVu Sans"/>
                <a:ea typeface="DejaVu Sans"/>
                <a:cs typeface="DejaVu Sans"/>
              </a:defRPr>
            </a:pPr>
            <a:r>
              <a:rPr sz="2025" b="1">
                <a:solidFill>
                  <a:srgbClr val="4A7772"/>
                </a:solidFill>
                <a:latin typeface="DejaVu Sans"/>
                <a:ea typeface="DejaVu Sans"/>
                <a:cs typeface="DejaVu Sans"/>
              </a:rPr>
              <a:t>CIFAR architecture: 3 stages, 5 residual blocks per stage</a:t>
            </a:r>
          </a:p>
        </p:txBody>
      </p:sp>
      <p:sp>
        <p:nvSpPr>
          <p:cNvPr id="13" name="RGB input&#10;32 × 32">
            <a:extLst xmlns:a="http://schemas.openxmlformats.org/drawingml/2006/main">
              <a:ext uri="{FF2B5EF4-FFF2-40B4-BE49-F238E27FC236}">
                <a16:creationId xmlns:a16="http://schemas.microsoft.com/office/drawing/2014/main" id="{2CDD3936-64A1-4292-A9A9-D40A6C1AC189}"/>
              </a:ext>
            </a:extLst>
          </p:cNvPr>
          <p:cNvSpPr>
            <a:spLocks xmlns:a="http://schemas.openxmlformats.org/drawingml/2006/main" noGrp="1"/>
          </p:cNvSpPr>
          <p:nvPr/>
        </p:nvSpPr>
        <p:spPr>
          <a:xfrm xmlns:a="http://schemas.openxmlformats.org/drawingml/2006/main">
            <a:off x="571500" y="2476500"/>
            <a:ext cx="13811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RGB input</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32 × 32</a:t>
            </a:r>
          </a:p>
        </p:txBody>
      </p:sp>
      <p:sp>
        <p:nvSpPr>
          <p:cNvPr id="14" name="3 × 3 conv&#10;16 channels">
            <a:extLst xmlns:a="http://schemas.openxmlformats.org/drawingml/2006/main">
              <a:ext uri="{FF2B5EF4-FFF2-40B4-BE49-F238E27FC236}">
                <a16:creationId xmlns:a16="http://schemas.microsoft.com/office/drawing/2014/main" id="{5F511007-7523-49C6-895E-9FF88EB5AAE5}"/>
              </a:ext>
            </a:extLst>
          </p:cNvPr>
          <p:cNvSpPr>
            <a:spLocks xmlns:a="http://schemas.openxmlformats.org/drawingml/2006/main" noGrp="1"/>
          </p:cNvSpPr>
          <p:nvPr/>
        </p:nvSpPr>
        <p:spPr>
          <a:xfrm xmlns:a="http://schemas.openxmlformats.org/drawingml/2006/main">
            <a:off x="2238375" y="2476500"/>
            <a:ext cx="147637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3 × 3 conv</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16 channels</a:t>
            </a:r>
          </a:p>
        </p:txBody>
      </p:sp>
      <p:sp>
        <p:nvSpPr>
          <p:cNvPr id="15" name="Stage 1&#10;5 blocks / 16">
            <a:extLst xmlns:a="http://schemas.openxmlformats.org/drawingml/2006/main">
              <a:ext uri="{FF2B5EF4-FFF2-40B4-BE49-F238E27FC236}">
                <a16:creationId xmlns:a16="http://schemas.microsoft.com/office/drawing/2014/main" id="{6083F9F4-0EA2-4475-9827-8C797CAF318D}"/>
              </a:ext>
            </a:extLst>
          </p:cNvPr>
          <p:cNvSpPr>
            <a:spLocks xmlns:a="http://schemas.openxmlformats.org/drawingml/2006/main" noGrp="1"/>
          </p:cNvSpPr>
          <p:nvPr/>
        </p:nvSpPr>
        <p:spPr>
          <a:xfrm xmlns:a="http://schemas.openxmlformats.org/drawingml/2006/main">
            <a:off x="4000500" y="2476500"/>
            <a:ext cx="15716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Stage 1</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5 blocks / 16</a:t>
            </a:r>
          </a:p>
        </p:txBody>
      </p:sp>
      <p:sp>
        <p:nvSpPr>
          <p:cNvPr id="16" name="Stage 2&#10;5 blocks / 32">
            <a:extLst xmlns:a="http://schemas.openxmlformats.org/drawingml/2006/main">
              <a:ext uri="{FF2B5EF4-FFF2-40B4-BE49-F238E27FC236}">
                <a16:creationId xmlns:a16="http://schemas.microsoft.com/office/drawing/2014/main" id="{72F0CB79-ED90-4AD7-8B3F-42828B9E3B96}"/>
              </a:ext>
            </a:extLst>
          </p:cNvPr>
          <p:cNvSpPr>
            <a:spLocks xmlns:a="http://schemas.openxmlformats.org/drawingml/2006/main" noGrp="1"/>
          </p:cNvSpPr>
          <p:nvPr/>
        </p:nvSpPr>
        <p:spPr>
          <a:xfrm xmlns:a="http://schemas.openxmlformats.org/drawingml/2006/main">
            <a:off x="5857875" y="2476500"/>
            <a:ext cx="15716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Stage 2</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5 blocks / 32</a:t>
            </a:r>
          </a:p>
        </p:txBody>
      </p:sp>
      <p:sp>
        <p:nvSpPr>
          <p:cNvPr id="17" name="Stage 3&#10;5 blocks / 64">
            <a:extLst xmlns:a="http://schemas.openxmlformats.org/drawingml/2006/main">
              <a:ext uri="{FF2B5EF4-FFF2-40B4-BE49-F238E27FC236}">
                <a16:creationId xmlns:a16="http://schemas.microsoft.com/office/drawing/2014/main" id="{A465A9E0-B8DF-42D4-9F73-77159E059739}"/>
              </a:ext>
            </a:extLst>
          </p:cNvPr>
          <p:cNvSpPr>
            <a:spLocks xmlns:a="http://schemas.openxmlformats.org/drawingml/2006/main" noGrp="1"/>
          </p:cNvSpPr>
          <p:nvPr/>
        </p:nvSpPr>
        <p:spPr>
          <a:xfrm xmlns:a="http://schemas.openxmlformats.org/drawingml/2006/main">
            <a:off x="7715250" y="2476500"/>
            <a:ext cx="15716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Stage 3</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5 blocks / 64</a:t>
            </a:r>
          </a:p>
        </p:txBody>
      </p:sp>
      <p:sp>
        <p:nvSpPr>
          <p:cNvPr id="18" name="Global pool&#10;Linear head">
            <a:extLst xmlns:a="http://schemas.openxmlformats.org/drawingml/2006/main">
              <a:ext uri="{FF2B5EF4-FFF2-40B4-BE49-F238E27FC236}">
                <a16:creationId xmlns:a16="http://schemas.microsoft.com/office/drawing/2014/main" id="{F43E8766-A742-41CE-90F2-BBD3D26EB9DE}"/>
              </a:ext>
            </a:extLst>
          </p:cNvPr>
          <p:cNvSpPr>
            <a:spLocks xmlns:a="http://schemas.openxmlformats.org/drawingml/2006/main" noGrp="1"/>
          </p:cNvSpPr>
          <p:nvPr/>
        </p:nvSpPr>
        <p:spPr>
          <a:xfrm xmlns:a="http://schemas.openxmlformats.org/drawingml/2006/main">
            <a:off x="9572625" y="2476500"/>
            <a:ext cx="19526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Global pool</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Linear head</a:t>
            </a:r>
          </a:p>
        </p:txBody>
      </p:sp>
      <p:sp>
        <p:nvSpPr>
          <p:cNvPr id="19" name="Residual block:  y = ReLU(F(x) + shortcut(x))">
            <a:extLst xmlns:a="http://schemas.openxmlformats.org/drawingml/2006/main">
              <a:ext uri="{FF2B5EF4-FFF2-40B4-BE49-F238E27FC236}">
                <a16:creationId xmlns:a16="http://schemas.microsoft.com/office/drawing/2014/main" id="{25C9D43A-740D-41BA-98FB-5BAB42269240}"/>
              </a:ext>
            </a:extLst>
          </p:cNvPr>
          <p:cNvSpPr>
            <a:spLocks xmlns:a="http://schemas.openxmlformats.org/drawingml/2006/main" noGrp="1"/>
          </p:cNvSpPr>
          <p:nvPr/>
        </p:nvSpPr>
        <p:spPr>
          <a:xfrm xmlns:a="http://schemas.openxmlformats.org/drawingml/2006/main">
            <a:off x="571500" y="39147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02B38"/>
                </a:solidFill>
                <a:latin typeface="DejaVu Sans"/>
                <a:ea typeface="DejaVu Sans"/>
                <a:cs typeface="DejaVu Sans"/>
              </a:defRPr>
            </a:defPPr>
            <a:lvl1pPr algn="l">
              <a:defRPr sz="2325" b="1">
                <a:solidFill>
                  <a:srgbClr val="202B38"/>
                </a:solidFill>
                <a:latin typeface="DejaVu Sans"/>
                <a:ea typeface="DejaVu Sans"/>
                <a:cs typeface="DejaVu Sans"/>
              </a:defRPr>
            </a:lvl1pPr>
            <a:lvl2pPr algn="l">
              <a:defRPr sz="2325" b="1">
                <a:solidFill>
                  <a:srgbClr val="202B38"/>
                </a:solidFill>
                <a:latin typeface="DejaVu Sans"/>
                <a:ea typeface="DejaVu Sans"/>
                <a:cs typeface="DejaVu Sans"/>
              </a:defRPr>
            </a:lvl2pPr>
            <a:lvl3pPr algn="l">
              <a:defRPr sz="2325" b="1">
                <a:solidFill>
                  <a:srgbClr val="202B38"/>
                </a:solidFill>
                <a:latin typeface="DejaVu Sans"/>
                <a:ea typeface="DejaVu Sans"/>
                <a:cs typeface="DejaVu Sans"/>
              </a:defRPr>
            </a:lvl3pPr>
            <a:lvl4pPr algn="l">
              <a:defRPr sz="2325" b="1">
                <a:solidFill>
                  <a:srgbClr val="202B38"/>
                </a:solidFill>
                <a:latin typeface="DejaVu Sans"/>
                <a:ea typeface="DejaVu Sans"/>
                <a:cs typeface="DejaVu Sans"/>
              </a:defRPr>
            </a:lvl4pPr>
            <a:lvl5pPr algn="l">
              <a:defRPr sz="2325" b="1">
                <a:solidFill>
                  <a:srgbClr val="202B38"/>
                </a:solidFill>
                <a:latin typeface="DejaVu Sans"/>
                <a:ea typeface="DejaVu Sans"/>
                <a:cs typeface="DejaVu Sans"/>
              </a:defRPr>
            </a:lvl5pPr>
            <a:lvl6pPr algn="l">
              <a:defRPr sz="2325" b="1">
                <a:solidFill>
                  <a:srgbClr val="202B38"/>
                </a:solidFill>
                <a:latin typeface="DejaVu Sans"/>
                <a:ea typeface="DejaVu Sans"/>
                <a:cs typeface="DejaVu Sans"/>
              </a:defRPr>
            </a:lvl6pPr>
            <a:lvl7pPr algn="l">
              <a:defRPr sz="2325" b="1">
                <a:solidFill>
                  <a:srgbClr val="202B38"/>
                </a:solidFill>
                <a:latin typeface="DejaVu Sans"/>
                <a:ea typeface="DejaVu Sans"/>
                <a:cs typeface="DejaVu Sans"/>
              </a:defRPr>
            </a:lvl7pPr>
            <a:lvl8pPr algn="l">
              <a:defRPr sz="2325" b="1">
                <a:solidFill>
                  <a:srgbClr val="202B38"/>
                </a:solidFill>
                <a:latin typeface="DejaVu Sans"/>
                <a:ea typeface="DejaVu Sans"/>
                <a:cs typeface="DejaVu Sans"/>
              </a:defRPr>
            </a:lvl8pPr>
            <a:lvl9pPr algn="l">
              <a:defRPr sz="2325" b="1">
                <a:solidFill>
                  <a:srgbClr val="202B38"/>
                </a:solidFill>
                <a:latin typeface="DejaVu Sans"/>
                <a:ea typeface="DejaVu Sans"/>
                <a:cs typeface="DejaVu Sans"/>
              </a:defRPr>
            </a:lvl9pPr>
          </a:lstStyle>
          <a:p xmlns:a="http://schemas.openxmlformats.org/drawingml/2006/main">
            <a:pPr algn="l">
              <a:defRPr sz="2325" b="1">
                <a:solidFill>
                  <a:srgbClr val="202B38"/>
                </a:solidFill>
                <a:latin typeface="DejaVu Sans"/>
                <a:ea typeface="DejaVu Sans"/>
                <a:cs typeface="DejaVu Sans"/>
              </a:defRPr>
            </a:pPr>
            <a:r>
              <a:rPr sz="2325" b="1">
                <a:solidFill>
                  <a:srgbClr val="202B38"/>
                </a:solidFill>
                <a:latin typeface="DejaVu Sans"/>
                <a:ea typeface="DejaVu Sans"/>
                <a:cs typeface="DejaVu Sans"/>
              </a:rPr>
              <a:t>Residual block:  y = ReLU(F(x) + shortcut(x))</a:t>
            </a:r>
          </a:p>
        </p:txBody>
      </p:sp>
      <p:sp>
        <p:nvSpPr>
          <p:cNvPr id="20" name="Architecture role">
            <a:extLst xmlns:a="http://schemas.openxmlformats.org/drawingml/2006/main">
              <a:ext uri="{FF2B5EF4-FFF2-40B4-BE49-F238E27FC236}">
                <a16:creationId xmlns:a16="http://schemas.microsoft.com/office/drawing/2014/main" id="{A11AC8E6-5841-4776-BC67-21698E95748B}"/>
              </a:ext>
            </a:extLst>
          </p:cNvPr>
          <p:cNvSpPr>
            <a:spLocks xmlns:a="http://schemas.openxmlformats.org/drawingml/2006/main" noGrp="1"/>
          </p:cNvSpPr>
          <p:nvPr/>
        </p:nvSpPr>
        <p:spPr>
          <a:xfrm xmlns:a="http://schemas.openxmlformats.org/drawingml/2006/main">
            <a:off x="571500" y="4810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Architecture role</a:t>
            </a:r>
          </a:p>
        </p:txBody>
      </p:sp>
      <p:sp>
        <p:nvSpPr>
          <p:cNvPr id="21" name="Shared local filters and residual connections provide a strong ba">
            <a:extLst xmlns:a="http://schemas.openxmlformats.org/drawingml/2006/main">
              <a:ext uri="{FF2B5EF4-FFF2-40B4-BE49-F238E27FC236}">
                <a16:creationId xmlns:a16="http://schemas.microsoft.com/office/drawing/2014/main" id="{98F12759-869B-40A1-BE0C-2F7EBE770AD2}"/>
              </a:ext>
            </a:extLst>
          </p:cNvPr>
          <p:cNvSpPr>
            <a:spLocks xmlns:a="http://schemas.openxmlformats.org/drawingml/2006/main" noGrp="1"/>
          </p:cNvSpPr>
          <p:nvPr/>
        </p:nvSpPr>
        <p:spPr>
          <a:xfrm xmlns:a="http://schemas.openxmlformats.org/drawingml/2006/main">
            <a:off x="571500" y="5257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Shared local filters and residual connections provide a strong baseline for small images.</a:t>
            </a:r>
          </a:p>
        </p:txBody>
      </p:sp>
      <p:sp>
        <p:nvSpPr>
          <p:cNvPr id="22" name="Training method">
            <a:extLst xmlns:a="http://schemas.openxmlformats.org/drawingml/2006/main">
              <a:ext uri="{FF2B5EF4-FFF2-40B4-BE49-F238E27FC236}">
                <a16:creationId xmlns:a16="http://schemas.microsoft.com/office/drawing/2014/main" id="{FFB55268-DDE7-4682-B6B8-12577E981091}"/>
              </a:ext>
            </a:extLst>
          </p:cNvPr>
          <p:cNvSpPr>
            <a:spLocks xmlns:a="http://schemas.openxmlformats.org/drawingml/2006/main" noGrp="1"/>
          </p:cNvSpPr>
          <p:nvPr/>
        </p:nvSpPr>
        <p:spPr>
          <a:xfrm xmlns:a="http://schemas.openxmlformats.org/drawingml/2006/main">
            <a:off x="6286500" y="4810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Training method</a:t>
            </a:r>
          </a:p>
        </p:txBody>
      </p:sp>
      <p:sp>
        <p:nvSpPr>
          <p:cNvPr id="23" name="Cross-entropy, SGD at learning rate 0.1, momentum 0.9 and cosine ">
            <a:extLst xmlns:a="http://schemas.openxmlformats.org/drawingml/2006/main">
              <a:ext uri="{FF2B5EF4-FFF2-40B4-BE49-F238E27FC236}">
                <a16:creationId xmlns:a16="http://schemas.microsoft.com/office/drawing/2014/main" id="{2751FF75-86C7-4F66-A665-4036A00EC150}"/>
              </a:ext>
            </a:extLst>
          </p:cNvPr>
          <p:cNvSpPr>
            <a:spLocks xmlns:a="http://schemas.openxmlformats.org/drawingml/2006/main" noGrp="1"/>
          </p:cNvSpPr>
          <p:nvPr/>
        </p:nvSpPr>
        <p:spPr>
          <a:xfrm xmlns:a="http://schemas.openxmlformats.org/drawingml/2006/main">
            <a:off x="6286500" y="5257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Cross-entropy, SGD at learning rate 0.1, momentum 0.9 and cosine learning-rate decay.</a:t>
            </a:r>
          </a:p>
        </p:txBody>
      </p:sp>
    </p:spTree>
    <p:extLst>
      <p:ext uri="{BB962C8B-B14F-4D97-AF65-F5344CB8AC3E}">
        <p14:creationId xmlns:p14="http://schemas.microsoft.com/office/powerpoint/2010/main" val="1504320993"/>
      </p:ext>
    </p:extLst>
  </p:cSld>
</p:sld>
</file>

<file path=ppt/slides/slide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F2D4EADF-421D-42BF-AD9D-970EF455057B}"/>
              </a:ext>
            </a:extLst>
          </p:cNvPr>
          <p:cNvCxnSpPr>
            <a:stCxn xmlns:a="http://schemas.openxmlformats.org/drawingml/2006/main" id="15" idx="3"/>
            <a:endCxn xmlns:a="http://schemas.openxmlformats.org/drawingml/2006/main" id="16" idx="1"/>
          </p:cNvCxnSpPr>
          <p:nvPr/>
        </p:nvCxnSpPr>
        <p:spPr>
          <a:xfrm xmlns:a="http://schemas.openxmlformats.org/drawingml/2006/main">
            <a:off x="9239250" y="293370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3" name="">
            <a:extLst xmlns:a="http://schemas.openxmlformats.org/drawingml/2006/main">
              <a:ext uri="{FF2B5EF4-FFF2-40B4-BE49-F238E27FC236}">
                <a16:creationId xmlns:a16="http://schemas.microsoft.com/office/drawing/2014/main" id="{8B6FDB64-3B3E-431A-B20D-DC0C5EA99DCA}"/>
              </a:ext>
            </a:extLst>
          </p:cNvPr>
          <p:cNvCxnSpPr>
            <a:stCxn xmlns:a="http://schemas.openxmlformats.org/drawingml/2006/main" id="14" idx="3"/>
            <a:endCxn xmlns:a="http://schemas.openxmlformats.org/drawingml/2006/main" id="15" idx="1"/>
          </p:cNvCxnSpPr>
          <p:nvPr/>
        </p:nvCxnSpPr>
        <p:spPr>
          <a:xfrm xmlns:a="http://schemas.openxmlformats.org/drawingml/2006/main">
            <a:off x="6762750" y="293370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4" name="">
            <a:extLst xmlns:a="http://schemas.openxmlformats.org/drawingml/2006/main">
              <a:ext uri="{FF2B5EF4-FFF2-40B4-BE49-F238E27FC236}">
                <a16:creationId xmlns:a16="http://schemas.microsoft.com/office/drawing/2014/main" id="{21AC8EA4-07C4-45BC-875A-C15840FA07BE}"/>
              </a:ext>
            </a:extLst>
          </p:cNvPr>
          <p:cNvCxnSpPr>
            <a:stCxn xmlns:a="http://schemas.openxmlformats.org/drawingml/2006/main" id="13" idx="3"/>
            <a:endCxn xmlns:a="http://schemas.openxmlformats.org/drawingml/2006/main" id="14" idx="1"/>
          </p:cNvCxnSpPr>
          <p:nvPr/>
        </p:nvCxnSpPr>
        <p:spPr>
          <a:xfrm xmlns:a="http://schemas.openxmlformats.org/drawingml/2006/main">
            <a:off x="4381500" y="293370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5" name="">
            <a:extLst xmlns:a="http://schemas.openxmlformats.org/drawingml/2006/main">
              <a:ext uri="{FF2B5EF4-FFF2-40B4-BE49-F238E27FC236}">
                <a16:creationId xmlns:a16="http://schemas.microsoft.com/office/drawing/2014/main" id="{22849254-1450-4BC8-8DD2-18CFD46413F9}"/>
              </a:ext>
            </a:extLst>
          </p:cNvPr>
          <p:cNvCxnSpPr>
            <a:stCxn xmlns:a="http://schemas.openxmlformats.org/drawingml/2006/main" id="12" idx="3"/>
            <a:endCxn xmlns:a="http://schemas.openxmlformats.org/drawingml/2006/main" id="13" idx="1"/>
          </p:cNvCxnSpPr>
          <p:nvPr/>
        </p:nvCxnSpPr>
        <p:spPr>
          <a:xfrm xmlns:a="http://schemas.openxmlformats.org/drawingml/2006/main">
            <a:off x="2190750" y="293370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sp>
        <p:nvSpPr>
          <p:cNvPr id="6" name="MODEL 2">
            <a:extLst xmlns:a="http://schemas.openxmlformats.org/drawingml/2006/main">
              <a:ext uri="{FF2B5EF4-FFF2-40B4-BE49-F238E27FC236}">
                <a16:creationId xmlns:a16="http://schemas.microsoft.com/office/drawing/2014/main" id="{3532D7F9-E154-443F-BFA2-6F237B5853C7}"/>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MODEL 2</a:t>
            </a:r>
          </a:p>
        </p:txBody>
      </p:sp>
      <p:sp>
        <p:nvSpPr>
          <p:cNvPr id="7" name="ViT: image patches become a token sequence">
            <a:extLst xmlns:a="http://schemas.openxmlformats.org/drawingml/2006/main">
              <a:ext uri="{FF2B5EF4-FFF2-40B4-BE49-F238E27FC236}">
                <a16:creationId xmlns:a16="http://schemas.microsoft.com/office/drawing/2014/main" id="{CBDBEEAE-B3D6-4837-9D7E-8A8EE6D92DA2}"/>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ViT: image patches become a token sequence</a:t>
            </a:r>
          </a:p>
        </p:txBody>
      </p:sp>
      <p:sp>
        <p:nvSpPr>
          <p:cNvPr id="8" name="">
            <a:extLst xmlns:a="http://schemas.openxmlformats.org/drawingml/2006/main">
              <a:ext uri="{FF2B5EF4-FFF2-40B4-BE49-F238E27FC236}">
                <a16:creationId xmlns:a16="http://schemas.microsoft.com/office/drawing/2014/main" id="{D285B1F4-507A-4727-98C7-C2EC42DCF67E}"/>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9" name="Training vision transformers on long-tailed data">
            <a:extLst xmlns:a="http://schemas.openxmlformats.org/drawingml/2006/main">
              <a:ext uri="{FF2B5EF4-FFF2-40B4-BE49-F238E27FC236}">
                <a16:creationId xmlns:a16="http://schemas.microsoft.com/office/drawing/2014/main" id="{D7A99965-4FD1-4659-B270-FDCB165CC491}"/>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10" name="05 / 15">
            <a:extLst xmlns:a="http://schemas.openxmlformats.org/drawingml/2006/main">
              <a:ext uri="{FF2B5EF4-FFF2-40B4-BE49-F238E27FC236}">
                <a16:creationId xmlns:a16="http://schemas.microsoft.com/office/drawing/2014/main" id="{135707DF-2F76-4136-90F2-53F026120735}"/>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05 / 15</a:t>
            </a:r>
          </a:p>
        </p:txBody>
      </p:sp>
      <p:sp>
        <p:nvSpPr>
          <p:cNvPr id="11" name="224 × 224 input, 16 × 16 patches, 192-dimensional embeddings">
            <a:extLst xmlns:a="http://schemas.openxmlformats.org/drawingml/2006/main">
              <a:ext uri="{FF2B5EF4-FFF2-40B4-BE49-F238E27FC236}">
                <a16:creationId xmlns:a16="http://schemas.microsoft.com/office/drawing/2014/main" id="{9F610E5E-EF62-4E58-8DD1-4C9C791D24B0}"/>
              </a:ext>
            </a:extLst>
          </p:cNvPr>
          <p:cNvSpPr>
            <a:spLocks xmlns:a="http://schemas.openxmlformats.org/drawingml/2006/main" noGrp="1"/>
          </p:cNvSpPr>
          <p:nvPr/>
        </p:nvSpPr>
        <p:spPr>
          <a:xfrm xmlns:a="http://schemas.openxmlformats.org/drawingml/2006/main">
            <a:off x="571500" y="17145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4A7772"/>
                </a:solidFill>
                <a:latin typeface="DejaVu Sans"/>
                <a:ea typeface="DejaVu Sans"/>
                <a:cs typeface="DejaVu Sans"/>
              </a:defRPr>
            </a:defPPr>
            <a:lvl1pPr algn="l">
              <a:defRPr sz="1950" b="1">
                <a:solidFill>
                  <a:srgbClr val="4A7772"/>
                </a:solidFill>
                <a:latin typeface="DejaVu Sans"/>
                <a:ea typeface="DejaVu Sans"/>
                <a:cs typeface="DejaVu Sans"/>
              </a:defRPr>
            </a:lvl1pPr>
            <a:lvl2pPr algn="l">
              <a:defRPr sz="1950" b="1">
                <a:solidFill>
                  <a:srgbClr val="4A7772"/>
                </a:solidFill>
                <a:latin typeface="DejaVu Sans"/>
                <a:ea typeface="DejaVu Sans"/>
                <a:cs typeface="DejaVu Sans"/>
              </a:defRPr>
            </a:lvl2pPr>
            <a:lvl3pPr algn="l">
              <a:defRPr sz="1950" b="1">
                <a:solidFill>
                  <a:srgbClr val="4A7772"/>
                </a:solidFill>
                <a:latin typeface="DejaVu Sans"/>
                <a:ea typeface="DejaVu Sans"/>
                <a:cs typeface="DejaVu Sans"/>
              </a:defRPr>
            </a:lvl3pPr>
            <a:lvl4pPr algn="l">
              <a:defRPr sz="1950" b="1">
                <a:solidFill>
                  <a:srgbClr val="4A7772"/>
                </a:solidFill>
                <a:latin typeface="DejaVu Sans"/>
                <a:ea typeface="DejaVu Sans"/>
                <a:cs typeface="DejaVu Sans"/>
              </a:defRPr>
            </a:lvl4pPr>
            <a:lvl5pPr algn="l">
              <a:defRPr sz="1950" b="1">
                <a:solidFill>
                  <a:srgbClr val="4A7772"/>
                </a:solidFill>
                <a:latin typeface="DejaVu Sans"/>
                <a:ea typeface="DejaVu Sans"/>
                <a:cs typeface="DejaVu Sans"/>
              </a:defRPr>
            </a:lvl5pPr>
            <a:lvl6pPr algn="l">
              <a:defRPr sz="1950" b="1">
                <a:solidFill>
                  <a:srgbClr val="4A7772"/>
                </a:solidFill>
                <a:latin typeface="DejaVu Sans"/>
                <a:ea typeface="DejaVu Sans"/>
                <a:cs typeface="DejaVu Sans"/>
              </a:defRPr>
            </a:lvl6pPr>
            <a:lvl7pPr algn="l">
              <a:defRPr sz="1950" b="1">
                <a:solidFill>
                  <a:srgbClr val="4A7772"/>
                </a:solidFill>
                <a:latin typeface="DejaVu Sans"/>
                <a:ea typeface="DejaVu Sans"/>
                <a:cs typeface="DejaVu Sans"/>
              </a:defRPr>
            </a:lvl7pPr>
            <a:lvl8pPr algn="l">
              <a:defRPr sz="1950" b="1">
                <a:solidFill>
                  <a:srgbClr val="4A7772"/>
                </a:solidFill>
                <a:latin typeface="DejaVu Sans"/>
                <a:ea typeface="DejaVu Sans"/>
                <a:cs typeface="DejaVu Sans"/>
              </a:defRPr>
            </a:lvl8pPr>
            <a:lvl9pPr algn="l">
              <a:defRPr sz="1950" b="1">
                <a:solidFill>
                  <a:srgbClr val="4A7772"/>
                </a:solidFill>
                <a:latin typeface="DejaVu Sans"/>
                <a:ea typeface="DejaVu Sans"/>
                <a:cs typeface="DejaVu Sans"/>
              </a:defRPr>
            </a:lvl9pPr>
          </a:lstStyle>
          <a:p xmlns:a="http://schemas.openxmlformats.org/drawingml/2006/main">
            <a:pPr algn="l">
              <a:defRPr sz="1950" b="1">
                <a:solidFill>
                  <a:srgbClr val="4A7772"/>
                </a:solidFill>
                <a:latin typeface="DejaVu Sans"/>
                <a:ea typeface="DejaVu Sans"/>
                <a:cs typeface="DejaVu Sans"/>
              </a:defRPr>
            </a:pPr>
            <a:r>
              <a:rPr sz="1950" b="1">
                <a:solidFill>
                  <a:srgbClr val="4A7772"/>
                </a:solidFill>
                <a:latin typeface="DejaVu Sans"/>
                <a:ea typeface="DejaVu Sans"/>
                <a:cs typeface="DejaVu Sans"/>
              </a:rPr>
              <a:t>224 × 224 input, 16 × 16 patches, 192-dimensional embeddings</a:t>
            </a:r>
          </a:p>
        </p:txBody>
      </p:sp>
      <p:sp>
        <p:nvSpPr>
          <p:cNvPr id="12" name="RGB image&#10;224 × 224">
            <a:extLst xmlns:a="http://schemas.openxmlformats.org/drawingml/2006/main">
              <a:ext uri="{FF2B5EF4-FFF2-40B4-BE49-F238E27FC236}">
                <a16:creationId xmlns:a16="http://schemas.microsoft.com/office/drawing/2014/main" id="{51561A9F-545D-4583-91FF-E54CE9CF0F88}"/>
              </a:ext>
            </a:extLst>
          </p:cNvPr>
          <p:cNvSpPr>
            <a:spLocks xmlns:a="http://schemas.openxmlformats.org/drawingml/2006/main" noGrp="1"/>
          </p:cNvSpPr>
          <p:nvPr/>
        </p:nvSpPr>
        <p:spPr>
          <a:xfrm xmlns:a="http://schemas.openxmlformats.org/drawingml/2006/main">
            <a:off x="571500" y="2457450"/>
            <a:ext cx="16192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RGB image</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224 × 224</a:t>
            </a:r>
          </a:p>
        </p:txBody>
      </p:sp>
      <p:sp>
        <p:nvSpPr>
          <p:cNvPr id="13" name="Patch embedding&#10;196 patches">
            <a:extLst xmlns:a="http://schemas.openxmlformats.org/drawingml/2006/main">
              <a:ext uri="{FF2B5EF4-FFF2-40B4-BE49-F238E27FC236}">
                <a16:creationId xmlns:a16="http://schemas.microsoft.com/office/drawing/2014/main" id="{B153ED30-7B9A-47B3-9AFB-86BED02DF9E8}"/>
              </a:ext>
            </a:extLst>
          </p:cNvPr>
          <p:cNvSpPr>
            <a:spLocks xmlns:a="http://schemas.openxmlformats.org/drawingml/2006/main" noGrp="1"/>
          </p:cNvSpPr>
          <p:nvPr/>
        </p:nvSpPr>
        <p:spPr>
          <a:xfrm xmlns:a="http://schemas.openxmlformats.org/drawingml/2006/main">
            <a:off x="2476500" y="2457450"/>
            <a:ext cx="190500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Patch embedding</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196 patches</a:t>
            </a:r>
          </a:p>
        </p:txBody>
      </p:sp>
      <p:sp>
        <p:nvSpPr>
          <p:cNvPr id="14" name="CLS token +&#10;position embedding">
            <a:extLst xmlns:a="http://schemas.openxmlformats.org/drawingml/2006/main">
              <a:ext uri="{FF2B5EF4-FFF2-40B4-BE49-F238E27FC236}">
                <a16:creationId xmlns:a16="http://schemas.microsoft.com/office/drawing/2014/main" id="{A7902675-355E-47C5-9D99-7A97A751573C}"/>
              </a:ext>
            </a:extLst>
          </p:cNvPr>
          <p:cNvSpPr>
            <a:spLocks xmlns:a="http://schemas.openxmlformats.org/drawingml/2006/main" noGrp="1"/>
          </p:cNvSpPr>
          <p:nvPr/>
        </p:nvSpPr>
        <p:spPr>
          <a:xfrm xmlns:a="http://schemas.openxmlformats.org/drawingml/2006/main">
            <a:off x="4667250" y="2457450"/>
            <a:ext cx="209550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token +</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position embedding</a:t>
            </a:r>
          </a:p>
        </p:txBody>
      </p:sp>
      <p:sp>
        <p:nvSpPr>
          <p:cNvPr id="15" name="8 encoder blocks&#10;3 attention heads">
            <a:extLst xmlns:a="http://schemas.openxmlformats.org/drawingml/2006/main">
              <a:ext uri="{FF2B5EF4-FFF2-40B4-BE49-F238E27FC236}">
                <a16:creationId xmlns:a16="http://schemas.microsoft.com/office/drawing/2014/main" id="{A87A77FF-D935-4B8B-AD17-2AE446721967}"/>
              </a:ext>
            </a:extLst>
          </p:cNvPr>
          <p:cNvSpPr>
            <a:spLocks xmlns:a="http://schemas.openxmlformats.org/drawingml/2006/main" noGrp="1"/>
          </p:cNvSpPr>
          <p:nvPr/>
        </p:nvSpPr>
        <p:spPr>
          <a:xfrm xmlns:a="http://schemas.openxmlformats.org/drawingml/2006/main">
            <a:off x="7048500" y="2457450"/>
            <a:ext cx="21907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8 encoder blocks</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3 attention heads</a:t>
            </a:r>
          </a:p>
        </p:txBody>
      </p:sp>
      <p:sp>
        <p:nvSpPr>
          <p:cNvPr id="16" name="CLS output&#10;Linear classifier">
            <a:extLst xmlns:a="http://schemas.openxmlformats.org/drawingml/2006/main">
              <a:ext uri="{FF2B5EF4-FFF2-40B4-BE49-F238E27FC236}">
                <a16:creationId xmlns:a16="http://schemas.microsoft.com/office/drawing/2014/main" id="{AF37035E-A45F-45B9-A7BF-A480397F85CF}"/>
              </a:ext>
            </a:extLst>
          </p:cNvPr>
          <p:cNvSpPr>
            <a:spLocks xmlns:a="http://schemas.openxmlformats.org/drawingml/2006/main" noGrp="1"/>
          </p:cNvSpPr>
          <p:nvPr/>
        </p:nvSpPr>
        <p:spPr>
          <a:xfrm xmlns:a="http://schemas.openxmlformats.org/drawingml/2006/main">
            <a:off x="9525000" y="2457450"/>
            <a:ext cx="20002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output</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Linear classifier</a:t>
            </a:r>
          </a:p>
        </p:txBody>
      </p:sp>
      <p:sp>
        <p:nvSpPr>
          <p:cNvPr id="17" name="Each encoder block uses self-attention and an MLP with residual c">
            <a:extLst xmlns:a="http://schemas.openxmlformats.org/drawingml/2006/main">
              <a:ext uri="{FF2B5EF4-FFF2-40B4-BE49-F238E27FC236}">
                <a16:creationId xmlns:a16="http://schemas.microsoft.com/office/drawing/2014/main" id="{75AF8087-CF56-496D-8201-E977C4E07BA8}"/>
              </a:ext>
            </a:extLst>
          </p:cNvPr>
          <p:cNvSpPr>
            <a:spLocks xmlns:a="http://schemas.openxmlformats.org/drawingml/2006/main" noGrp="1"/>
          </p:cNvSpPr>
          <p:nvPr/>
        </p:nvSpPr>
        <p:spPr>
          <a:xfrm xmlns:a="http://schemas.openxmlformats.org/drawingml/2006/main">
            <a:off x="571500" y="3924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02B38"/>
                </a:solidFill>
                <a:latin typeface="DejaVu Sans"/>
                <a:ea typeface="DejaVu Sans"/>
                <a:cs typeface="DejaVu Sans"/>
              </a:defRPr>
            </a:defPPr>
            <a:lvl1pPr algn="l">
              <a:defRPr sz="2100" b="1">
                <a:solidFill>
                  <a:srgbClr val="202B38"/>
                </a:solidFill>
                <a:latin typeface="DejaVu Sans"/>
                <a:ea typeface="DejaVu Sans"/>
                <a:cs typeface="DejaVu Sans"/>
              </a:defRPr>
            </a:lvl1pPr>
            <a:lvl2pPr algn="l">
              <a:defRPr sz="2100" b="1">
                <a:solidFill>
                  <a:srgbClr val="202B38"/>
                </a:solidFill>
                <a:latin typeface="DejaVu Sans"/>
                <a:ea typeface="DejaVu Sans"/>
                <a:cs typeface="DejaVu Sans"/>
              </a:defRPr>
            </a:lvl2pPr>
            <a:lvl3pPr algn="l">
              <a:defRPr sz="2100" b="1">
                <a:solidFill>
                  <a:srgbClr val="202B38"/>
                </a:solidFill>
                <a:latin typeface="DejaVu Sans"/>
                <a:ea typeface="DejaVu Sans"/>
                <a:cs typeface="DejaVu Sans"/>
              </a:defRPr>
            </a:lvl3pPr>
            <a:lvl4pPr algn="l">
              <a:defRPr sz="2100" b="1">
                <a:solidFill>
                  <a:srgbClr val="202B38"/>
                </a:solidFill>
                <a:latin typeface="DejaVu Sans"/>
                <a:ea typeface="DejaVu Sans"/>
                <a:cs typeface="DejaVu Sans"/>
              </a:defRPr>
            </a:lvl4pPr>
            <a:lvl5pPr algn="l">
              <a:defRPr sz="2100" b="1">
                <a:solidFill>
                  <a:srgbClr val="202B38"/>
                </a:solidFill>
                <a:latin typeface="DejaVu Sans"/>
                <a:ea typeface="DejaVu Sans"/>
                <a:cs typeface="DejaVu Sans"/>
              </a:defRPr>
            </a:lvl5pPr>
            <a:lvl6pPr algn="l">
              <a:defRPr sz="2100" b="1">
                <a:solidFill>
                  <a:srgbClr val="202B38"/>
                </a:solidFill>
                <a:latin typeface="DejaVu Sans"/>
                <a:ea typeface="DejaVu Sans"/>
                <a:cs typeface="DejaVu Sans"/>
              </a:defRPr>
            </a:lvl6pPr>
            <a:lvl7pPr algn="l">
              <a:defRPr sz="2100" b="1">
                <a:solidFill>
                  <a:srgbClr val="202B38"/>
                </a:solidFill>
                <a:latin typeface="DejaVu Sans"/>
                <a:ea typeface="DejaVu Sans"/>
                <a:cs typeface="DejaVu Sans"/>
              </a:defRPr>
            </a:lvl7pPr>
            <a:lvl8pPr algn="l">
              <a:defRPr sz="2100" b="1">
                <a:solidFill>
                  <a:srgbClr val="202B38"/>
                </a:solidFill>
                <a:latin typeface="DejaVu Sans"/>
                <a:ea typeface="DejaVu Sans"/>
                <a:cs typeface="DejaVu Sans"/>
              </a:defRPr>
            </a:lvl8pPr>
            <a:lvl9pPr algn="l">
              <a:defRPr sz="2100" b="1">
                <a:solidFill>
                  <a:srgbClr val="202B38"/>
                </a:solidFill>
                <a:latin typeface="DejaVu Sans"/>
                <a:ea typeface="DejaVu Sans"/>
                <a:cs typeface="DejaVu Sans"/>
              </a:defRPr>
            </a:lvl9pPr>
          </a:lstStyle>
          <a:p xmlns:a="http://schemas.openxmlformats.org/drawingml/2006/main">
            <a:pPr algn="l">
              <a:defRPr sz="2100" b="1">
                <a:solidFill>
                  <a:srgbClr val="202B38"/>
                </a:solidFill>
                <a:latin typeface="DejaVu Sans"/>
                <a:ea typeface="DejaVu Sans"/>
                <a:cs typeface="DejaVu Sans"/>
              </a:defRPr>
            </a:pPr>
            <a:r>
              <a:rPr sz="2100" b="1">
                <a:solidFill>
                  <a:srgbClr val="202B38"/>
                </a:solidFill>
                <a:latin typeface="DejaVu Sans"/>
                <a:ea typeface="DejaVu Sans"/>
                <a:cs typeface="DejaVu Sans"/>
              </a:rPr>
              <a:t>Each encoder block uses self-attention and an MLP with residual connections.</a:t>
            </a:r>
          </a:p>
        </p:txBody>
      </p:sp>
      <p:sp>
        <p:nvSpPr>
          <p:cNvPr id="18" name="Training method">
            <a:extLst xmlns:a="http://schemas.openxmlformats.org/drawingml/2006/main">
              <a:ext uri="{FF2B5EF4-FFF2-40B4-BE49-F238E27FC236}">
                <a16:creationId xmlns:a16="http://schemas.microsoft.com/office/drawing/2014/main" id="{6DF1F140-2FBA-43B1-94E6-060C3C62A6B0}"/>
              </a:ext>
            </a:extLst>
          </p:cNvPr>
          <p:cNvSpPr>
            <a:spLocks xmlns:a="http://schemas.openxmlformats.org/drawingml/2006/main" noGrp="1"/>
          </p:cNvSpPr>
          <p:nvPr/>
        </p:nvSpPr>
        <p:spPr>
          <a:xfrm xmlns:a="http://schemas.openxmlformats.org/drawingml/2006/main">
            <a:off x="571500" y="48577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Training method</a:t>
            </a:r>
          </a:p>
        </p:txBody>
      </p:sp>
      <p:sp>
        <p:nvSpPr>
          <p:cNvPr id="19" name="AdamW, label smoothing and a 10-epoch warm-up. The baseline uses ">
            <a:extLst xmlns:a="http://schemas.openxmlformats.org/drawingml/2006/main">
              <a:ext uri="{FF2B5EF4-FFF2-40B4-BE49-F238E27FC236}">
                <a16:creationId xmlns:a16="http://schemas.microsoft.com/office/drawing/2014/main" id="{FDD48EE5-5E86-4A2B-AD56-F5703B5A1EDD}"/>
              </a:ext>
            </a:extLst>
          </p:cNvPr>
          <p:cNvSpPr>
            <a:spLocks xmlns:a="http://schemas.openxmlformats.org/drawingml/2006/main" noGrp="1"/>
          </p:cNvSpPr>
          <p:nvPr/>
        </p:nvSpPr>
        <p:spPr>
          <a:xfrm xmlns:a="http://schemas.openxmlformats.org/drawingml/2006/main">
            <a:off x="571500" y="53054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AdamW, label smoothing and a 10-epoch warm-up. The baseline uses no CNN teacher.</a:t>
            </a:r>
          </a:p>
        </p:txBody>
      </p:sp>
      <p:sp>
        <p:nvSpPr>
          <p:cNvPr id="20" name="Main limitation">
            <a:extLst xmlns:a="http://schemas.openxmlformats.org/drawingml/2006/main">
              <a:ext uri="{FF2B5EF4-FFF2-40B4-BE49-F238E27FC236}">
                <a16:creationId xmlns:a16="http://schemas.microsoft.com/office/drawing/2014/main" id="{FAC4588E-15FE-4E6C-8A9F-6D7759CF679F}"/>
              </a:ext>
            </a:extLst>
          </p:cNvPr>
          <p:cNvSpPr>
            <a:spLocks xmlns:a="http://schemas.openxmlformats.org/drawingml/2006/main" noGrp="1"/>
          </p:cNvSpPr>
          <p:nvPr/>
        </p:nvSpPr>
        <p:spPr>
          <a:xfrm xmlns:a="http://schemas.openxmlformats.org/drawingml/2006/main">
            <a:off x="6286500" y="48577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Main limitation</a:t>
            </a:r>
          </a:p>
        </p:txBody>
      </p:sp>
      <p:sp>
        <p:nvSpPr>
          <p:cNvPr id="21" name="Few examples per rare class can leave patch relationships poorly ">
            <a:extLst xmlns:a="http://schemas.openxmlformats.org/drawingml/2006/main">
              <a:ext uri="{FF2B5EF4-FFF2-40B4-BE49-F238E27FC236}">
                <a16:creationId xmlns:a16="http://schemas.microsoft.com/office/drawing/2014/main" id="{32458484-A946-40B7-92D3-9D1212BB05F0}"/>
              </a:ext>
            </a:extLst>
          </p:cNvPr>
          <p:cNvSpPr>
            <a:spLocks xmlns:a="http://schemas.openxmlformats.org/drawingml/2006/main" noGrp="1"/>
          </p:cNvSpPr>
          <p:nvPr/>
        </p:nvSpPr>
        <p:spPr>
          <a:xfrm xmlns:a="http://schemas.openxmlformats.org/drawingml/2006/main">
            <a:off x="6286500" y="53054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Few examples per rare class can leave patch relationships poorly learned.</a:t>
            </a:r>
          </a:p>
        </p:txBody>
      </p:sp>
    </p:spTree>
    <p:extLst>
      <p:ext uri="{BB962C8B-B14F-4D97-AF65-F5344CB8AC3E}">
        <p14:creationId xmlns:p14="http://schemas.microsoft.com/office/powerpoint/2010/main" val="1988676922"/>
      </p:ext>
    </p:extLst>
  </p:cSld>
</p:sld>
</file>

<file path=ppt/slides/slide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1DB56F26-B557-47C8-BC95-BEA5B6446A3E}"/>
              </a:ext>
            </a:extLst>
          </p:cNvPr>
          <p:cNvCxnSpPr>
            <a:stCxn xmlns:a="http://schemas.openxmlformats.org/drawingml/2006/main" id="15" idx="3"/>
            <a:endCxn xmlns:a="http://schemas.openxmlformats.org/drawingml/2006/main" id="16" idx="1"/>
          </p:cNvCxnSpPr>
          <p:nvPr/>
        </p:nvCxnSpPr>
        <p:spPr>
          <a:xfrm xmlns:a="http://schemas.openxmlformats.org/drawingml/2006/main">
            <a:off x="8382000" y="3000375"/>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3" name="">
            <a:extLst xmlns:a="http://schemas.openxmlformats.org/drawingml/2006/main">
              <a:ext uri="{FF2B5EF4-FFF2-40B4-BE49-F238E27FC236}">
                <a16:creationId xmlns:a16="http://schemas.microsoft.com/office/drawing/2014/main" id="{124283BB-65FE-4E63-A20B-FFCF82DA43B0}"/>
              </a:ext>
            </a:extLst>
          </p:cNvPr>
          <p:cNvCxnSpPr>
            <a:stCxn xmlns:a="http://schemas.openxmlformats.org/drawingml/2006/main" id="14" idx="3"/>
            <a:endCxn xmlns:a="http://schemas.openxmlformats.org/drawingml/2006/main" id="15" idx="1"/>
          </p:cNvCxnSpPr>
          <p:nvPr/>
        </p:nvCxnSpPr>
        <p:spPr>
          <a:xfrm xmlns:a="http://schemas.openxmlformats.org/drawingml/2006/main">
            <a:off x="6477000" y="3000375"/>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4" name="">
            <a:extLst xmlns:a="http://schemas.openxmlformats.org/drawingml/2006/main">
              <a:ext uri="{FF2B5EF4-FFF2-40B4-BE49-F238E27FC236}">
                <a16:creationId xmlns:a16="http://schemas.microsoft.com/office/drawing/2014/main" id="{DE624734-F1F7-46E8-BD09-9BB4E9B0B7F0}"/>
              </a:ext>
            </a:extLst>
          </p:cNvPr>
          <p:cNvCxnSpPr>
            <a:stCxn xmlns:a="http://schemas.openxmlformats.org/drawingml/2006/main" id="13" idx="3"/>
            <a:endCxn xmlns:a="http://schemas.openxmlformats.org/drawingml/2006/main" id="14" idx="1"/>
          </p:cNvCxnSpPr>
          <p:nvPr/>
        </p:nvCxnSpPr>
        <p:spPr>
          <a:xfrm xmlns:a="http://schemas.openxmlformats.org/drawingml/2006/main">
            <a:off x="4095750" y="3000375"/>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5" name="">
            <a:extLst xmlns:a="http://schemas.openxmlformats.org/drawingml/2006/main">
              <a:ext uri="{FF2B5EF4-FFF2-40B4-BE49-F238E27FC236}">
                <a16:creationId xmlns:a16="http://schemas.microsoft.com/office/drawing/2014/main" id="{ACBFE8B2-ECF5-450A-BF08-48AB9505F8FF}"/>
              </a:ext>
            </a:extLst>
          </p:cNvPr>
          <p:cNvCxnSpPr>
            <a:stCxn xmlns:a="http://schemas.openxmlformats.org/drawingml/2006/main" id="12" idx="3"/>
            <a:endCxn xmlns:a="http://schemas.openxmlformats.org/drawingml/2006/main" id="13" idx="1"/>
          </p:cNvCxnSpPr>
          <p:nvPr/>
        </p:nvCxnSpPr>
        <p:spPr>
          <a:xfrm xmlns:a="http://schemas.openxmlformats.org/drawingml/2006/main">
            <a:off x="2000250" y="3000375"/>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sp>
        <p:nvSpPr>
          <p:cNvPr id="6" name="MODEL 3">
            <a:extLst xmlns:a="http://schemas.openxmlformats.org/drawingml/2006/main">
              <a:ext uri="{FF2B5EF4-FFF2-40B4-BE49-F238E27FC236}">
                <a16:creationId xmlns:a16="http://schemas.microsoft.com/office/drawing/2014/main" id="{8E92628A-A698-4B3E-864A-4F3A62DB6657}"/>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MODEL 3</a:t>
            </a:r>
          </a:p>
        </p:txBody>
      </p:sp>
      <p:sp>
        <p:nvSpPr>
          <p:cNvPr id="7" name="DeiT-III: a different transformer training recipe">
            <a:extLst xmlns:a="http://schemas.openxmlformats.org/drawingml/2006/main">
              <a:ext uri="{FF2B5EF4-FFF2-40B4-BE49-F238E27FC236}">
                <a16:creationId xmlns:a16="http://schemas.microsoft.com/office/drawing/2014/main" id="{390268E8-D482-41C9-8A66-53B1D75E50DC}"/>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DeiT-III: a different transformer training recipe</a:t>
            </a:r>
          </a:p>
        </p:txBody>
      </p:sp>
      <p:sp>
        <p:nvSpPr>
          <p:cNvPr id="8" name="">
            <a:extLst xmlns:a="http://schemas.openxmlformats.org/drawingml/2006/main">
              <a:ext uri="{FF2B5EF4-FFF2-40B4-BE49-F238E27FC236}">
                <a16:creationId xmlns:a16="http://schemas.microsoft.com/office/drawing/2014/main" id="{DC9B93BF-54D5-4076-B3D6-48514892DFB1}"/>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9" name="Training vision transformers on long-tailed data">
            <a:extLst xmlns:a="http://schemas.openxmlformats.org/drawingml/2006/main">
              <a:ext uri="{FF2B5EF4-FFF2-40B4-BE49-F238E27FC236}">
                <a16:creationId xmlns:a16="http://schemas.microsoft.com/office/drawing/2014/main" id="{437F4353-2BB4-44DD-8011-A6E1D2FEDD24}"/>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10" name="06 / 15">
            <a:extLst xmlns:a="http://schemas.openxmlformats.org/drawingml/2006/main">
              <a:ext uri="{FF2B5EF4-FFF2-40B4-BE49-F238E27FC236}">
                <a16:creationId xmlns:a16="http://schemas.microsoft.com/office/drawing/2014/main" id="{51C1E343-6376-436E-9EF2-E157F965F5B1}"/>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06 / 15</a:t>
            </a:r>
          </a:p>
        </p:txBody>
      </p:sp>
      <p:sp>
        <p:nvSpPr>
          <p:cNvPr id="11" name="Same reported transformer scale as ViT, with no teacher">
            <a:extLst xmlns:a="http://schemas.openxmlformats.org/drawingml/2006/main">
              <a:ext uri="{FF2B5EF4-FFF2-40B4-BE49-F238E27FC236}">
                <a16:creationId xmlns:a16="http://schemas.microsoft.com/office/drawing/2014/main" id="{6132AF37-118F-4073-A029-9E6DB25EF382}"/>
              </a:ext>
            </a:extLst>
          </p:cNvPr>
          <p:cNvSpPr>
            <a:spLocks xmlns:a="http://schemas.openxmlformats.org/drawingml/2006/main" noGrp="1"/>
          </p:cNvSpPr>
          <p:nvPr/>
        </p:nvSpPr>
        <p:spPr>
          <a:xfrm xmlns:a="http://schemas.openxmlformats.org/drawingml/2006/main">
            <a:off x="571500" y="171450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4A7772"/>
                </a:solidFill>
                <a:latin typeface="DejaVu Sans"/>
                <a:ea typeface="DejaVu Sans"/>
                <a:cs typeface="DejaVu Sans"/>
              </a:defRPr>
            </a:defPPr>
            <a:lvl1pPr algn="l">
              <a:defRPr sz="2025" b="1">
                <a:solidFill>
                  <a:srgbClr val="4A7772"/>
                </a:solidFill>
                <a:latin typeface="DejaVu Sans"/>
                <a:ea typeface="DejaVu Sans"/>
                <a:cs typeface="DejaVu Sans"/>
              </a:defRPr>
            </a:lvl1pPr>
            <a:lvl2pPr algn="l">
              <a:defRPr sz="2025" b="1">
                <a:solidFill>
                  <a:srgbClr val="4A7772"/>
                </a:solidFill>
                <a:latin typeface="DejaVu Sans"/>
                <a:ea typeface="DejaVu Sans"/>
                <a:cs typeface="DejaVu Sans"/>
              </a:defRPr>
            </a:lvl2pPr>
            <a:lvl3pPr algn="l">
              <a:defRPr sz="2025" b="1">
                <a:solidFill>
                  <a:srgbClr val="4A7772"/>
                </a:solidFill>
                <a:latin typeface="DejaVu Sans"/>
                <a:ea typeface="DejaVu Sans"/>
                <a:cs typeface="DejaVu Sans"/>
              </a:defRPr>
            </a:lvl3pPr>
            <a:lvl4pPr algn="l">
              <a:defRPr sz="2025" b="1">
                <a:solidFill>
                  <a:srgbClr val="4A7772"/>
                </a:solidFill>
                <a:latin typeface="DejaVu Sans"/>
                <a:ea typeface="DejaVu Sans"/>
                <a:cs typeface="DejaVu Sans"/>
              </a:defRPr>
            </a:lvl4pPr>
            <a:lvl5pPr algn="l">
              <a:defRPr sz="2025" b="1">
                <a:solidFill>
                  <a:srgbClr val="4A7772"/>
                </a:solidFill>
                <a:latin typeface="DejaVu Sans"/>
                <a:ea typeface="DejaVu Sans"/>
                <a:cs typeface="DejaVu Sans"/>
              </a:defRPr>
            </a:lvl5pPr>
            <a:lvl6pPr algn="l">
              <a:defRPr sz="2025" b="1">
                <a:solidFill>
                  <a:srgbClr val="4A7772"/>
                </a:solidFill>
                <a:latin typeface="DejaVu Sans"/>
                <a:ea typeface="DejaVu Sans"/>
                <a:cs typeface="DejaVu Sans"/>
              </a:defRPr>
            </a:lvl6pPr>
            <a:lvl7pPr algn="l">
              <a:defRPr sz="2025" b="1">
                <a:solidFill>
                  <a:srgbClr val="4A7772"/>
                </a:solidFill>
                <a:latin typeface="DejaVu Sans"/>
                <a:ea typeface="DejaVu Sans"/>
                <a:cs typeface="DejaVu Sans"/>
              </a:defRPr>
            </a:lvl7pPr>
            <a:lvl8pPr algn="l">
              <a:defRPr sz="2025" b="1">
                <a:solidFill>
                  <a:srgbClr val="4A7772"/>
                </a:solidFill>
                <a:latin typeface="DejaVu Sans"/>
                <a:ea typeface="DejaVu Sans"/>
                <a:cs typeface="DejaVu Sans"/>
              </a:defRPr>
            </a:lvl8pPr>
            <a:lvl9pPr algn="l">
              <a:defRPr sz="2025" b="1">
                <a:solidFill>
                  <a:srgbClr val="4A7772"/>
                </a:solidFill>
                <a:latin typeface="DejaVu Sans"/>
                <a:ea typeface="DejaVu Sans"/>
                <a:cs typeface="DejaVu Sans"/>
              </a:defRPr>
            </a:lvl9pPr>
          </a:lstStyle>
          <a:p xmlns:a="http://schemas.openxmlformats.org/drawingml/2006/main">
            <a:pPr algn="l">
              <a:defRPr sz="2025" b="1">
                <a:solidFill>
                  <a:srgbClr val="4A7772"/>
                </a:solidFill>
                <a:latin typeface="DejaVu Sans"/>
                <a:ea typeface="DejaVu Sans"/>
                <a:cs typeface="DejaVu Sans"/>
              </a:defRPr>
            </a:pPr>
            <a:r>
              <a:rPr sz="2025" b="1">
                <a:solidFill>
                  <a:srgbClr val="4A7772"/>
                </a:solidFill>
                <a:latin typeface="DejaVu Sans"/>
                <a:ea typeface="DejaVu Sans"/>
                <a:cs typeface="DejaVu Sans"/>
              </a:rPr>
              <a:t>Same reported transformer scale as ViT, with no teacher</a:t>
            </a:r>
          </a:p>
        </p:txBody>
      </p:sp>
      <p:sp>
        <p:nvSpPr>
          <p:cNvPr id="12" name="LayerNorm">
            <a:extLst xmlns:a="http://schemas.openxmlformats.org/drawingml/2006/main">
              <a:ext uri="{FF2B5EF4-FFF2-40B4-BE49-F238E27FC236}">
                <a16:creationId xmlns:a16="http://schemas.microsoft.com/office/drawing/2014/main" id="{27E88AB0-58CC-4025-AECF-EF6DA6A91D5C}"/>
              </a:ext>
            </a:extLst>
          </p:cNvPr>
          <p:cNvSpPr>
            <a:spLocks xmlns:a="http://schemas.openxmlformats.org/drawingml/2006/main" noGrp="1"/>
          </p:cNvSpPr>
          <p:nvPr/>
        </p:nvSpPr>
        <p:spPr>
          <a:xfrm xmlns:a="http://schemas.openxmlformats.org/drawingml/2006/main">
            <a:off x="571500" y="2524125"/>
            <a:ext cx="14287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LayerNorm</a:t>
            </a:r>
          </a:p>
        </p:txBody>
      </p:sp>
      <p:sp>
        <p:nvSpPr>
          <p:cNvPr id="13" name="Multi-head&#10;self-attention">
            <a:extLst xmlns:a="http://schemas.openxmlformats.org/drawingml/2006/main">
              <a:ext uri="{FF2B5EF4-FFF2-40B4-BE49-F238E27FC236}">
                <a16:creationId xmlns:a16="http://schemas.microsoft.com/office/drawing/2014/main" id="{3C0852ED-7E09-4524-91F2-05AC2FBA6078}"/>
              </a:ext>
            </a:extLst>
          </p:cNvPr>
          <p:cNvSpPr>
            <a:spLocks xmlns:a="http://schemas.openxmlformats.org/drawingml/2006/main" noGrp="1"/>
          </p:cNvSpPr>
          <p:nvPr/>
        </p:nvSpPr>
        <p:spPr>
          <a:xfrm xmlns:a="http://schemas.openxmlformats.org/drawingml/2006/main">
            <a:off x="2286000" y="2524125"/>
            <a:ext cx="18097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Multi-head</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self-attention</a:t>
            </a:r>
          </a:p>
        </p:txBody>
      </p:sp>
      <p:sp>
        <p:nvSpPr>
          <p:cNvPr id="14" name="LayerScale +&#10;stochastic depth">
            <a:extLst xmlns:a="http://schemas.openxmlformats.org/drawingml/2006/main">
              <a:ext uri="{FF2B5EF4-FFF2-40B4-BE49-F238E27FC236}">
                <a16:creationId xmlns:a16="http://schemas.microsoft.com/office/drawing/2014/main" id="{56C987BC-0CB8-41E7-BBC0-0E1FDC3B99DC}"/>
              </a:ext>
            </a:extLst>
          </p:cNvPr>
          <p:cNvSpPr>
            <a:spLocks xmlns:a="http://schemas.openxmlformats.org/drawingml/2006/main" noGrp="1"/>
          </p:cNvSpPr>
          <p:nvPr/>
        </p:nvSpPr>
        <p:spPr>
          <a:xfrm xmlns:a="http://schemas.openxmlformats.org/drawingml/2006/main">
            <a:off x="4381500" y="2524125"/>
            <a:ext cx="209550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LayerScale +</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stochastic depth</a:t>
            </a:r>
          </a:p>
        </p:txBody>
      </p:sp>
      <p:sp>
        <p:nvSpPr>
          <p:cNvPr id="15" name="Residual&#10;addition">
            <a:extLst xmlns:a="http://schemas.openxmlformats.org/drawingml/2006/main">
              <a:ext uri="{FF2B5EF4-FFF2-40B4-BE49-F238E27FC236}">
                <a16:creationId xmlns:a16="http://schemas.microsoft.com/office/drawing/2014/main" id="{C32EE7E2-2DEC-42E9-8D7A-3B15E547DCF7}"/>
              </a:ext>
            </a:extLst>
          </p:cNvPr>
          <p:cNvSpPr>
            <a:spLocks xmlns:a="http://schemas.openxmlformats.org/drawingml/2006/main" noGrp="1"/>
          </p:cNvSpPr>
          <p:nvPr/>
        </p:nvSpPr>
        <p:spPr>
          <a:xfrm xmlns:a="http://schemas.openxmlformats.org/drawingml/2006/main">
            <a:off x="6762750" y="2524125"/>
            <a:ext cx="16192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Residual</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addition</a:t>
            </a:r>
          </a:p>
        </p:txBody>
      </p:sp>
      <p:sp>
        <p:nvSpPr>
          <p:cNvPr id="16" name="Norm + MLP&#10;LayerScale + residual">
            <a:extLst xmlns:a="http://schemas.openxmlformats.org/drawingml/2006/main">
              <a:ext uri="{FF2B5EF4-FFF2-40B4-BE49-F238E27FC236}">
                <a16:creationId xmlns:a16="http://schemas.microsoft.com/office/drawing/2014/main" id="{332FDC28-16E1-4536-B0FF-EE7A707D748A}"/>
              </a:ext>
            </a:extLst>
          </p:cNvPr>
          <p:cNvSpPr>
            <a:spLocks xmlns:a="http://schemas.openxmlformats.org/drawingml/2006/main" noGrp="1"/>
          </p:cNvSpPr>
          <p:nvPr/>
        </p:nvSpPr>
        <p:spPr>
          <a:xfrm xmlns:a="http://schemas.openxmlformats.org/drawingml/2006/main">
            <a:off x="8667750" y="2524125"/>
            <a:ext cx="285750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Norm + MLP</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LayerScale + residual</a:t>
            </a:r>
          </a:p>
        </p:txBody>
      </p:sp>
      <p:sp>
        <p:nvSpPr>
          <p:cNvPr id="17" name="The block repeats eight times before the classification head.">
            <a:extLst xmlns:a="http://schemas.openxmlformats.org/drawingml/2006/main">
              <a:ext uri="{FF2B5EF4-FFF2-40B4-BE49-F238E27FC236}">
                <a16:creationId xmlns:a16="http://schemas.microsoft.com/office/drawing/2014/main" id="{B26FFC6B-EFA4-4940-8BC6-6D1CAEF69C11}"/>
              </a:ext>
            </a:extLst>
          </p:cNvPr>
          <p:cNvSpPr>
            <a:spLocks xmlns:a="http://schemas.openxmlformats.org/drawingml/2006/main" noGrp="1"/>
          </p:cNvSpPr>
          <p:nvPr/>
        </p:nvSpPr>
        <p:spPr>
          <a:xfrm xmlns:a="http://schemas.openxmlformats.org/drawingml/2006/main">
            <a:off x="571500" y="38576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B38"/>
                </a:solidFill>
                <a:latin typeface="DejaVu Sans"/>
                <a:ea typeface="DejaVu Sans"/>
                <a:cs typeface="DejaVu Sans"/>
              </a:defRPr>
            </a:defPPr>
            <a:lvl1pPr algn="l">
              <a:defRPr sz="2025" b="1">
                <a:solidFill>
                  <a:srgbClr val="202B38"/>
                </a:solidFill>
                <a:latin typeface="DejaVu Sans"/>
                <a:ea typeface="DejaVu Sans"/>
                <a:cs typeface="DejaVu Sans"/>
              </a:defRPr>
            </a:lvl1pPr>
            <a:lvl2pPr algn="l">
              <a:defRPr sz="2025" b="1">
                <a:solidFill>
                  <a:srgbClr val="202B38"/>
                </a:solidFill>
                <a:latin typeface="DejaVu Sans"/>
                <a:ea typeface="DejaVu Sans"/>
                <a:cs typeface="DejaVu Sans"/>
              </a:defRPr>
            </a:lvl2pPr>
            <a:lvl3pPr algn="l">
              <a:defRPr sz="2025" b="1">
                <a:solidFill>
                  <a:srgbClr val="202B38"/>
                </a:solidFill>
                <a:latin typeface="DejaVu Sans"/>
                <a:ea typeface="DejaVu Sans"/>
                <a:cs typeface="DejaVu Sans"/>
              </a:defRPr>
            </a:lvl3pPr>
            <a:lvl4pPr algn="l">
              <a:defRPr sz="2025" b="1">
                <a:solidFill>
                  <a:srgbClr val="202B38"/>
                </a:solidFill>
                <a:latin typeface="DejaVu Sans"/>
                <a:ea typeface="DejaVu Sans"/>
                <a:cs typeface="DejaVu Sans"/>
              </a:defRPr>
            </a:lvl4pPr>
            <a:lvl5pPr algn="l">
              <a:defRPr sz="2025" b="1">
                <a:solidFill>
                  <a:srgbClr val="202B38"/>
                </a:solidFill>
                <a:latin typeface="DejaVu Sans"/>
                <a:ea typeface="DejaVu Sans"/>
                <a:cs typeface="DejaVu Sans"/>
              </a:defRPr>
            </a:lvl5pPr>
            <a:lvl6pPr algn="l">
              <a:defRPr sz="2025" b="1">
                <a:solidFill>
                  <a:srgbClr val="202B38"/>
                </a:solidFill>
                <a:latin typeface="DejaVu Sans"/>
                <a:ea typeface="DejaVu Sans"/>
                <a:cs typeface="DejaVu Sans"/>
              </a:defRPr>
            </a:lvl6pPr>
            <a:lvl7pPr algn="l">
              <a:defRPr sz="2025" b="1">
                <a:solidFill>
                  <a:srgbClr val="202B38"/>
                </a:solidFill>
                <a:latin typeface="DejaVu Sans"/>
                <a:ea typeface="DejaVu Sans"/>
                <a:cs typeface="DejaVu Sans"/>
              </a:defRPr>
            </a:lvl7pPr>
            <a:lvl8pPr algn="l">
              <a:defRPr sz="2025" b="1">
                <a:solidFill>
                  <a:srgbClr val="202B38"/>
                </a:solidFill>
                <a:latin typeface="DejaVu Sans"/>
                <a:ea typeface="DejaVu Sans"/>
                <a:cs typeface="DejaVu Sans"/>
              </a:defRPr>
            </a:lvl8pPr>
            <a:lvl9pPr algn="l">
              <a:defRPr sz="2025" b="1">
                <a:solidFill>
                  <a:srgbClr val="202B38"/>
                </a:solidFill>
                <a:latin typeface="DejaVu Sans"/>
                <a:ea typeface="DejaVu Sans"/>
                <a:cs typeface="DejaVu Sans"/>
              </a:defRPr>
            </a:lvl9pPr>
          </a:lstStyle>
          <a:p xmlns:a="http://schemas.openxmlformats.org/drawingml/2006/main">
            <a:pPr algn="l">
              <a:defRPr sz="2025" b="1">
                <a:solidFill>
                  <a:srgbClr val="202B38"/>
                </a:solidFill>
                <a:latin typeface="DejaVu Sans"/>
                <a:ea typeface="DejaVu Sans"/>
                <a:cs typeface="DejaVu Sans"/>
              </a:defRPr>
            </a:pPr>
            <a:r>
              <a:rPr sz="2025" b="1">
                <a:solidFill>
                  <a:srgbClr val="202B38"/>
                </a:solidFill>
                <a:latin typeface="DejaVu Sans"/>
                <a:ea typeface="DejaVu Sans"/>
                <a:cs typeface="DejaVu Sans"/>
              </a:rPr>
              <a:t>The block repeats eight times before the classification head.</a:t>
            </a:r>
          </a:p>
        </p:txBody>
      </p:sp>
      <p:sp>
        <p:nvSpPr>
          <p:cNvPr id="18" name="Regularization">
            <a:extLst xmlns:a="http://schemas.openxmlformats.org/drawingml/2006/main">
              <a:ext uri="{FF2B5EF4-FFF2-40B4-BE49-F238E27FC236}">
                <a16:creationId xmlns:a16="http://schemas.microsoft.com/office/drawing/2014/main" id="{B733E17F-AA44-4B1C-AA6F-31FC7D182B68}"/>
              </a:ext>
            </a:extLst>
          </p:cNvPr>
          <p:cNvSpPr>
            <a:spLocks xmlns:a="http://schemas.openxmlformats.org/drawingml/2006/main" noGrp="1"/>
          </p:cNvSpPr>
          <p:nvPr/>
        </p:nvSpPr>
        <p:spPr>
          <a:xfrm xmlns:a="http://schemas.openxmlformats.org/drawingml/2006/main">
            <a:off x="571500" y="47434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Regularization</a:t>
            </a:r>
          </a:p>
        </p:txBody>
      </p:sp>
      <p:sp>
        <p:nvSpPr>
          <p:cNvPr id="19" name="Stochastic depth and 3-Augment: grayscale, solarization and blur.">
            <a:extLst xmlns:a="http://schemas.openxmlformats.org/drawingml/2006/main">
              <a:ext uri="{FF2B5EF4-FFF2-40B4-BE49-F238E27FC236}">
                <a16:creationId xmlns:a16="http://schemas.microsoft.com/office/drawing/2014/main" id="{1F79B1C7-19BE-4352-A0D6-B6023AAD64E5}"/>
              </a:ext>
            </a:extLst>
          </p:cNvPr>
          <p:cNvSpPr>
            <a:spLocks xmlns:a="http://schemas.openxmlformats.org/drawingml/2006/main" noGrp="1"/>
          </p:cNvSpPr>
          <p:nvPr/>
        </p:nvSpPr>
        <p:spPr>
          <a:xfrm xmlns:a="http://schemas.openxmlformats.org/drawingml/2006/main">
            <a:off x="571500" y="51911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Stochastic depth and 3-Augment: grayscale, solarization and blur.</a:t>
            </a:r>
          </a:p>
        </p:txBody>
      </p:sp>
      <p:sp>
        <p:nvSpPr>
          <p:cNvPr id="20" name="Optimization">
            <a:extLst xmlns:a="http://schemas.openxmlformats.org/drawingml/2006/main">
              <a:ext uri="{FF2B5EF4-FFF2-40B4-BE49-F238E27FC236}">
                <a16:creationId xmlns:a16="http://schemas.microsoft.com/office/drawing/2014/main" id="{10ABE36B-DD7D-410E-AACF-81C7CBAF5E8E}"/>
              </a:ext>
            </a:extLst>
          </p:cNvPr>
          <p:cNvSpPr>
            <a:spLocks xmlns:a="http://schemas.openxmlformats.org/drawingml/2006/main" noGrp="1"/>
          </p:cNvSpPr>
          <p:nvPr/>
        </p:nvSpPr>
        <p:spPr>
          <a:xfrm xmlns:a="http://schemas.openxmlformats.org/drawingml/2006/main">
            <a:off x="6286500" y="47434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Optimization</a:t>
            </a:r>
          </a:p>
        </p:txBody>
      </p:sp>
      <p:sp>
        <p:nvSpPr>
          <p:cNvPr id="21" name="Binary cross-entropy with the DeiT-III-style recipe. LayerScale s">
            <a:extLst xmlns:a="http://schemas.openxmlformats.org/drawingml/2006/main">
              <a:ext uri="{FF2B5EF4-FFF2-40B4-BE49-F238E27FC236}">
                <a16:creationId xmlns:a16="http://schemas.microsoft.com/office/drawing/2014/main" id="{8C7B2E98-FDDC-4CA3-8274-243C07E69343}"/>
              </a:ext>
            </a:extLst>
          </p:cNvPr>
          <p:cNvSpPr>
            <a:spLocks xmlns:a="http://schemas.openxmlformats.org/drawingml/2006/main" noGrp="1"/>
          </p:cNvSpPr>
          <p:nvPr/>
        </p:nvSpPr>
        <p:spPr>
          <a:xfrm xmlns:a="http://schemas.openxmlformats.org/drawingml/2006/main">
            <a:off x="6286500" y="51911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Binary cross-entropy with the DeiT-III-style recipe. LayerScale scales each residual branch.</a:t>
            </a:r>
          </a:p>
        </p:txBody>
      </p:sp>
    </p:spTree>
    <p:extLst>
      <p:ext uri="{BB962C8B-B14F-4D97-AF65-F5344CB8AC3E}">
        <p14:creationId xmlns:p14="http://schemas.microsoft.com/office/powerpoint/2010/main" val="1909626556"/>
      </p:ext>
    </p:extLst>
  </p:cSld>
</p:sld>
</file>

<file path=ppt/slides/slide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6A88E912-05D6-4414-B659-7F5DD07D6345}"/>
              </a:ext>
            </a:extLst>
          </p:cNvPr>
          <p:cNvCxnSpPr>
            <a:stCxn xmlns:a="http://schemas.openxmlformats.org/drawingml/2006/main" id="19" idx="0"/>
            <a:endCxn xmlns:a="http://schemas.openxmlformats.org/drawingml/2006/main" id="20" idx="2"/>
          </p:cNvCxnSpPr>
          <p:nvPr/>
        </p:nvCxnSpPr>
        <p:spPr>
          <a:xfrm xmlns:a="http://schemas.openxmlformats.org/drawingml/2006/main" flipV="1">
            <a:off x="6762750" y="2952750"/>
            <a:ext cx="3429000" cy="1095375"/>
          </a:xfrm>
          <a:prstGeom xmlns:a="http://schemas.openxmlformats.org/drawingml/2006/main" prst="bentConnector4">
            <a:avLst>
              <a:gd name="adj1" fmla="val 0"/>
              <a:gd name="adj2" fmla="val 50000"/>
            </a:avLst>
          </a:prstGeom>
          <a:ln xmlns:a="http://schemas.openxmlformats.org/drawingml/2006/main" w="19050">
            <a:solidFill>
              <a:srgbClr val="8B98A4"/>
            </a:solidFill>
            <a:tailEnd type="triangle" w="sm" len="sm"/>
          </a:ln>
        </p:spPr>
      </p:cxnSp>
      <p:cxnSp>
        <p:nvCxnSpPr>
          <p:cNvPr id="3" name="">
            <a:extLst xmlns:a="http://schemas.openxmlformats.org/drawingml/2006/main">
              <a:ext uri="{FF2B5EF4-FFF2-40B4-BE49-F238E27FC236}">
                <a16:creationId xmlns:a16="http://schemas.microsoft.com/office/drawing/2014/main" id="{C117FA0A-0FC8-4F4A-BD80-2BC4E6981F38}"/>
              </a:ext>
            </a:extLst>
          </p:cNvPr>
          <p:cNvCxnSpPr>
            <a:stCxn xmlns:a="http://schemas.openxmlformats.org/drawingml/2006/main" id="19" idx="3"/>
            <a:endCxn xmlns:a="http://schemas.openxmlformats.org/drawingml/2006/main" id="21" idx="1"/>
          </p:cNvCxnSpPr>
          <p:nvPr/>
        </p:nvCxnSpPr>
        <p:spPr>
          <a:xfrm xmlns:a="http://schemas.openxmlformats.org/drawingml/2006/main">
            <a:off x="7905750" y="4500563"/>
            <a:ext cx="95250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4" name="">
            <a:extLst xmlns:a="http://schemas.openxmlformats.org/drawingml/2006/main">
              <a:ext uri="{FF2B5EF4-FFF2-40B4-BE49-F238E27FC236}">
                <a16:creationId xmlns:a16="http://schemas.microsoft.com/office/drawing/2014/main" id="{E993EEC2-751B-4EFE-8C17-CB62654FF813}"/>
              </a:ext>
            </a:extLst>
          </p:cNvPr>
          <p:cNvCxnSpPr>
            <a:stCxn xmlns:a="http://schemas.openxmlformats.org/drawingml/2006/main" id="18" idx="3"/>
            <a:endCxn xmlns:a="http://schemas.openxmlformats.org/drawingml/2006/main" id="20" idx="1"/>
          </p:cNvCxnSpPr>
          <p:nvPr/>
        </p:nvCxnSpPr>
        <p:spPr>
          <a:xfrm xmlns:a="http://schemas.openxmlformats.org/drawingml/2006/main">
            <a:off x="7905750" y="2547938"/>
            <a:ext cx="95250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5" name="">
            <a:extLst xmlns:a="http://schemas.openxmlformats.org/drawingml/2006/main">
              <a:ext uri="{FF2B5EF4-FFF2-40B4-BE49-F238E27FC236}">
                <a16:creationId xmlns:a16="http://schemas.microsoft.com/office/drawing/2014/main" id="{7037E2A0-43A6-4F09-9920-14D66BBCE6CB}"/>
              </a:ext>
            </a:extLst>
          </p:cNvPr>
          <p:cNvCxnSpPr>
            <a:stCxn xmlns:a="http://schemas.openxmlformats.org/drawingml/2006/main" id="17" idx="3"/>
            <a:endCxn xmlns:a="http://schemas.openxmlformats.org/drawingml/2006/main" id="19" idx="1"/>
          </p:cNvCxnSpPr>
          <p:nvPr/>
        </p:nvCxnSpPr>
        <p:spPr>
          <a:xfrm xmlns:a="http://schemas.openxmlformats.org/drawingml/2006/main">
            <a:off x="5143500" y="4500563"/>
            <a:ext cx="4762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6" name="">
            <a:extLst xmlns:a="http://schemas.openxmlformats.org/drawingml/2006/main">
              <a:ext uri="{FF2B5EF4-FFF2-40B4-BE49-F238E27FC236}">
                <a16:creationId xmlns:a16="http://schemas.microsoft.com/office/drawing/2014/main" id="{4CF7BA23-DAB6-46A5-BDBD-4EAA1297844F}"/>
              </a:ext>
            </a:extLst>
          </p:cNvPr>
          <p:cNvCxnSpPr>
            <a:stCxn xmlns:a="http://schemas.openxmlformats.org/drawingml/2006/main" id="16" idx="3"/>
            <a:endCxn xmlns:a="http://schemas.openxmlformats.org/drawingml/2006/main" id="18" idx="1"/>
          </p:cNvCxnSpPr>
          <p:nvPr/>
        </p:nvCxnSpPr>
        <p:spPr>
          <a:xfrm xmlns:a="http://schemas.openxmlformats.org/drawingml/2006/main">
            <a:off x="5143500" y="2547938"/>
            <a:ext cx="4762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7" name="">
            <a:extLst xmlns:a="http://schemas.openxmlformats.org/drawingml/2006/main">
              <a:ext uri="{FF2B5EF4-FFF2-40B4-BE49-F238E27FC236}">
                <a16:creationId xmlns:a16="http://schemas.microsoft.com/office/drawing/2014/main" id="{8F8605E8-A8BC-49AE-AB5E-CEBFB3296527}"/>
              </a:ext>
            </a:extLst>
          </p:cNvPr>
          <p:cNvCxnSpPr>
            <a:stCxn xmlns:a="http://schemas.openxmlformats.org/drawingml/2006/main" id="15" idx="3"/>
            <a:endCxn xmlns:a="http://schemas.openxmlformats.org/drawingml/2006/main" id="17" idx="1"/>
          </p:cNvCxnSpPr>
          <p:nvPr/>
        </p:nvCxnSpPr>
        <p:spPr>
          <a:xfrm xmlns:a="http://schemas.openxmlformats.org/drawingml/2006/main">
            <a:off x="2333625" y="3309938"/>
            <a:ext cx="523875" cy="1190625"/>
          </a:xfrm>
          <a:prstGeom xmlns:a="http://schemas.openxmlformats.org/drawingml/2006/main" prst="bentConnector3">
            <a:avLst>
              <a:gd name="adj1" fmla="val 50000"/>
            </a:avLst>
          </a:prstGeom>
          <a:ln xmlns:a="http://schemas.openxmlformats.org/drawingml/2006/main" w="19050">
            <a:solidFill>
              <a:srgbClr val="8B98A4"/>
            </a:solidFill>
            <a:tailEnd type="triangle" w="sm" len="sm"/>
          </a:ln>
        </p:spPr>
      </p:cxnSp>
      <p:cxnSp>
        <p:nvCxnSpPr>
          <p:cNvPr id="8" name="">
            <a:extLst xmlns:a="http://schemas.openxmlformats.org/drawingml/2006/main">
              <a:ext uri="{FF2B5EF4-FFF2-40B4-BE49-F238E27FC236}">
                <a16:creationId xmlns:a16="http://schemas.microsoft.com/office/drawing/2014/main" id="{B61D4D10-5363-4A5E-8C4A-B7DA444F4C1C}"/>
              </a:ext>
            </a:extLst>
          </p:cNvPr>
          <p:cNvCxnSpPr>
            <a:stCxn xmlns:a="http://schemas.openxmlformats.org/drawingml/2006/main" id="15" idx="3"/>
            <a:endCxn xmlns:a="http://schemas.openxmlformats.org/drawingml/2006/main" id="16" idx="1"/>
          </p:cNvCxnSpPr>
          <p:nvPr/>
        </p:nvCxnSpPr>
        <p:spPr>
          <a:xfrm xmlns:a="http://schemas.openxmlformats.org/drawingml/2006/main" flipV="1">
            <a:off x="2333625" y="2547938"/>
            <a:ext cx="523875" cy="762000"/>
          </a:xfrm>
          <a:prstGeom xmlns:a="http://schemas.openxmlformats.org/drawingml/2006/main" prst="bentConnector3">
            <a:avLst>
              <a:gd name="adj1" fmla="val 50000"/>
            </a:avLst>
          </a:prstGeom>
          <a:ln xmlns:a="http://schemas.openxmlformats.org/drawingml/2006/main" w="19050">
            <a:solidFill>
              <a:srgbClr val="8B98A4"/>
            </a:solidFill>
            <a:tailEnd type="triangle" w="sm" len="sm"/>
          </a:ln>
        </p:spPr>
      </p:cxnSp>
      <p:sp>
        <p:nvSpPr>
          <p:cNvPr id="9" name="MODEL 4">
            <a:extLst xmlns:a="http://schemas.openxmlformats.org/drawingml/2006/main">
              <a:ext uri="{FF2B5EF4-FFF2-40B4-BE49-F238E27FC236}">
                <a16:creationId xmlns:a16="http://schemas.microsoft.com/office/drawing/2014/main" id="{E86D1BE1-0AA5-438D-B3CC-FE4BC9615663}"/>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MODEL 4</a:t>
            </a:r>
          </a:p>
        </p:txBody>
      </p:sp>
      <p:sp>
        <p:nvSpPr>
          <p:cNvPr id="10" name="DeiT-LT: one student, two learning signals">
            <a:extLst xmlns:a="http://schemas.openxmlformats.org/drawingml/2006/main">
              <a:ext uri="{FF2B5EF4-FFF2-40B4-BE49-F238E27FC236}">
                <a16:creationId xmlns:a16="http://schemas.microsoft.com/office/drawing/2014/main" id="{3863AF3A-3A93-4875-97D0-A2E30B73B555}"/>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DeiT-LT: one student, two learning signals</a:t>
            </a:r>
          </a:p>
        </p:txBody>
      </p:sp>
      <p:sp>
        <p:nvSpPr>
          <p:cNvPr id="11" name="">
            <a:extLst xmlns:a="http://schemas.openxmlformats.org/drawingml/2006/main">
              <a:ext uri="{FF2B5EF4-FFF2-40B4-BE49-F238E27FC236}">
                <a16:creationId xmlns:a16="http://schemas.microsoft.com/office/drawing/2014/main" id="{3923493E-4CE5-4D6D-855B-357CEAB7FC96}"/>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12" name="Training vision transformers on long-tailed data">
            <a:extLst xmlns:a="http://schemas.openxmlformats.org/drawingml/2006/main">
              <a:ext uri="{FF2B5EF4-FFF2-40B4-BE49-F238E27FC236}">
                <a16:creationId xmlns:a16="http://schemas.microsoft.com/office/drawing/2014/main" id="{C3FDC5DB-C889-4E33-8A64-DEE551B1C40C}"/>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13" name="07 / 15">
            <a:extLst xmlns:a="http://schemas.openxmlformats.org/drawingml/2006/main">
              <a:ext uri="{FF2B5EF4-FFF2-40B4-BE49-F238E27FC236}">
                <a16:creationId xmlns:a16="http://schemas.microsoft.com/office/drawing/2014/main" id="{655FBF17-E292-4786-8FA1-EF0F483365E2}"/>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07 / 15</a:t>
            </a:r>
          </a:p>
        </p:txBody>
      </p:sp>
      <p:sp>
        <p:nvSpPr>
          <p:cNvPr id="14" name="The report names its full DeiT-LT-recipe model “DeiT-Final”">
            <a:extLst xmlns:a="http://schemas.openxmlformats.org/drawingml/2006/main">
              <a:ext uri="{FF2B5EF4-FFF2-40B4-BE49-F238E27FC236}">
                <a16:creationId xmlns:a16="http://schemas.microsoft.com/office/drawing/2014/main" id="{273567C5-8DE1-471B-8740-978DC68DC7C0}"/>
              </a:ext>
            </a:extLst>
          </p:cNvPr>
          <p:cNvSpPr>
            <a:spLocks xmlns:a="http://schemas.openxmlformats.org/drawingml/2006/main" noGrp="1"/>
          </p:cNvSpPr>
          <p:nvPr/>
        </p:nvSpPr>
        <p:spPr>
          <a:xfrm xmlns:a="http://schemas.openxmlformats.org/drawingml/2006/main">
            <a:off x="571500" y="16383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4A7772"/>
                </a:solidFill>
                <a:latin typeface="DejaVu Sans"/>
                <a:ea typeface="DejaVu Sans"/>
                <a:cs typeface="DejaVu Sans"/>
              </a:defRPr>
            </a:defPPr>
            <a:lvl1pPr algn="l">
              <a:defRPr sz="1875" b="1">
                <a:solidFill>
                  <a:srgbClr val="4A7772"/>
                </a:solidFill>
                <a:latin typeface="DejaVu Sans"/>
                <a:ea typeface="DejaVu Sans"/>
                <a:cs typeface="DejaVu Sans"/>
              </a:defRPr>
            </a:lvl1pPr>
            <a:lvl2pPr algn="l">
              <a:defRPr sz="1875" b="1">
                <a:solidFill>
                  <a:srgbClr val="4A7772"/>
                </a:solidFill>
                <a:latin typeface="DejaVu Sans"/>
                <a:ea typeface="DejaVu Sans"/>
                <a:cs typeface="DejaVu Sans"/>
              </a:defRPr>
            </a:lvl2pPr>
            <a:lvl3pPr algn="l">
              <a:defRPr sz="1875" b="1">
                <a:solidFill>
                  <a:srgbClr val="4A7772"/>
                </a:solidFill>
                <a:latin typeface="DejaVu Sans"/>
                <a:ea typeface="DejaVu Sans"/>
                <a:cs typeface="DejaVu Sans"/>
              </a:defRPr>
            </a:lvl3pPr>
            <a:lvl4pPr algn="l">
              <a:defRPr sz="1875" b="1">
                <a:solidFill>
                  <a:srgbClr val="4A7772"/>
                </a:solidFill>
                <a:latin typeface="DejaVu Sans"/>
                <a:ea typeface="DejaVu Sans"/>
                <a:cs typeface="DejaVu Sans"/>
              </a:defRPr>
            </a:lvl4pPr>
            <a:lvl5pPr algn="l">
              <a:defRPr sz="1875" b="1">
                <a:solidFill>
                  <a:srgbClr val="4A7772"/>
                </a:solidFill>
                <a:latin typeface="DejaVu Sans"/>
                <a:ea typeface="DejaVu Sans"/>
                <a:cs typeface="DejaVu Sans"/>
              </a:defRPr>
            </a:lvl5pPr>
            <a:lvl6pPr algn="l">
              <a:defRPr sz="1875" b="1">
                <a:solidFill>
                  <a:srgbClr val="4A7772"/>
                </a:solidFill>
                <a:latin typeface="DejaVu Sans"/>
                <a:ea typeface="DejaVu Sans"/>
                <a:cs typeface="DejaVu Sans"/>
              </a:defRPr>
            </a:lvl6pPr>
            <a:lvl7pPr algn="l">
              <a:defRPr sz="1875" b="1">
                <a:solidFill>
                  <a:srgbClr val="4A7772"/>
                </a:solidFill>
                <a:latin typeface="DejaVu Sans"/>
                <a:ea typeface="DejaVu Sans"/>
                <a:cs typeface="DejaVu Sans"/>
              </a:defRPr>
            </a:lvl7pPr>
            <a:lvl8pPr algn="l">
              <a:defRPr sz="1875" b="1">
                <a:solidFill>
                  <a:srgbClr val="4A7772"/>
                </a:solidFill>
                <a:latin typeface="DejaVu Sans"/>
                <a:ea typeface="DejaVu Sans"/>
                <a:cs typeface="DejaVu Sans"/>
              </a:defRPr>
            </a:lvl8pPr>
            <a:lvl9pPr algn="l">
              <a:defRPr sz="1875" b="1">
                <a:solidFill>
                  <a:srgbClr val="4A7772"/>
                </a:solidFill>
                <a:latin typeface="DejaVu Sans"/>
                <a:ea typeface="DejaVu Sans"/>
                <a:cs typeface="DejaVu Sans"/>
              </a:defRPr>
            </a:lvl9pPr>
          </a:lstStyle>
          <a:p xmlns:a="http://schemas.openxmlformats.org/drawingml/2006/main">
            <a:pPr algn="l">
              <a:defRPr sz="1875" b="1">
                <a:solidFill>
                  <a:srgbClr val="4A7772"/>
                </a:solidFill>
                <a:latin typeface="DejaVu Sans"/>
                <a:ea typeface="DejaVu Sans"/>
                <a:cs typeface="DejaVu Sans"/>
              </a:defRPr>
            </a:pPr>
            <a:r>
              <a:rPr sz="1875" b="1">
                <a:solidFill>
                  <a:srgbClr val="4A7772"/>
                </a:solidFill>
                <a:latin typeface="DejaVu Sans"/>
                <a:ea typeface="DejaVu Sans"/>
                <a:cs typeface="DejaVu Sans"/>
              </a:rPr>
              <a:t>The report names its full DeiT-LT-recipe model “DeiT-Final”</a:t>
            </a:r>
          </a:p>
        </p:txBody>
      </p:sp>
      <p:sp>
        <p:nvSpPr>
          <p:cNvPr id="15" name="Strongly&#10;augmented image">
            <a:extLst xmlns:a="http://schemas.openxmlformats.org/drawingml/2006/main">
              <a:ext uri="{FF2B5EF4-FFF2-40B4-BE49-F238E27FC236}">
                <a16:creationId xmlns:a16="http://schemas.microsoft.com/office/drawing/2014/main" id="{29CA2364-924D-472E-95F2-5CF47E78C4F0}"/>
              </a:ext>
            </a:extLst>
          </p:cNvPr>
          <p:cNvSpPr>
            <a:spLocks xmlns:a="http://schemas.openxmlformats.org/drawingml/2006/main" noGrp="1"/>
          </p:cNvSpPr>
          <p:nvPr/>
        </p:nvSpPr>
        <p:spPr>
          <a:xfrm xmlns:a="http://schemas.openxmlformats.org/drawingml/2006/main">
            <a:off x="571500" y="2809875"/>
            <a:ext cx="1762125" cy="100012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Strongly</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augmented image</a:t>
            </a:r>
          </a:p>
        </p:txBody>
      </p:sp>
      <p:sp>
        <p:nvSpPr>
          <p:cNvPr id="16" name="Frozen CNN teacher">
            <a:extLst xmlns:a="http://schemas.openxmlformats.org/drawingml/2006/main">
              <a:ext uri="{FF2B5EF4-FFF2-40B4-BE49-F238E27FC236}">
                <a16:creationId xmlns:a16="http://schemas.microsoft.com/office/drawing/2014/main" id="{0A08BEA2-9DBC-4A8E-B4DD-BFAC59C9D568}"/>
              </a:ext>
            </a:extLst>
          </p:cNvPr>
          <p:cNvSpPr>
            <a:spLocks xmlns:a="http://schemas.openxmlformats.org/drawingml/2006/main" noGrp="1"/>
          </p:cNvSpPr>
          <p:nvPr/>
        </p:nvSpPr>
        <p:spPr>
          <a:xfrm xmlns:a="http://schemas.openxmlformats.org/drawingml/2006/main">
            <a:off x="2857500" y="2143125"/>
            <a:ext cx="2286000" cy="809625"/>
          </a:xfrm>
          <a:prstGeom xmlns:a="http://schemas.openxmlformats.org/drawingml/2006/main" prst="rect">
            <a:avLst/>
          </a:prstGeom>
          <a:solidFill xmlns:a="http://schemas.openxmlformats.org/drawingml/2006/main">
            <a:srgbClr val="F0F1ED"/>
          </a:solidFill>
          <a:ln xmlns:a="http://schemas.openxmlformats.org/drawingml/2006/main" w="14288">
            <a:solidFill>
              <a:srgbClr val="B66D4F"/>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Frozen CNN teacher</a:t>
            </a:r>
          </a:p>
        </p:txBody>
      </p:sp>
      <p:sp>
        <p:nvSpPr>
          <p:cNvPr id="17" name="ViT student&#10;CLS + DIST tokens">
            <a:extLst xmlns:a="http://schemas.openxmlformats.org/drawingml/2006/main">
              <a:ext uri="{FF2B5EF4-FFF2-40B4-BE49-F238E27FC236}">
                <a16:creationId xmlns:a16="http://schemas.microsoft.com/office/drawing/2014/main" id="{9FA2C1EC-4574-4DD1-84AA-489A0454E90E}"/>
              </a:ext>
            </a:extLst>
          </p:cNvPr>
          <p:cNvSpPr>
            <a:spLocks xmlns:a="http://schemas.openxmlformats.org/drawingml/2006/main" noGrp="1"/>
          </p:cNvSpPr>
          <p:nvPr/>
        </p:nvSpPr>
        <p:spPr>
          <a:xfrm xmlns:a="http://schemas.openxmlformats.org/drawingml/2006/main">
            <a:off x="2857500" y="4048125"/>
            <a:ext cx="2286000" cy="90487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ViT student</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 DIST tokens</a:t>
            </a:r>
          </a:p>
        </p:txBody>
      </p:sp>
      <p:sp>
        <p:nvSpPr>
          <p:cNvPr id="18" name="Teacher hard label&#10;y_t = argmax g(x)">
            <a:extLst xmlns:a="http://schemas.openxmlformats.org/drawingml/2006/main">
              <a:ext uri="{FF2B5EF4-FFF2-40B4-BE49-F238E27FC236}">
                <a16:creationId xmlns:a16="http://schemas.microsoft.com/office/drawing/2014/main" id="{4FBCCA2B-1B62-45B4-AF42-EBCBD4AFADB4}"/>
              </a:ext>
            </a:extLst>
          </p:cNvPr>
          <p:cNvSpPr>
            <a:spLocks xmlns:a="http://schemas.openxmlformats.org/drawingml/2006/main" noGrp="1"/>
          </p:cNvSpPr>
          <p:nvPr/>
        </p:nvSpPr>
        <p:spPr>
          <a:xfrm xmlns:a="http://schemas.openxmlformats.org/drawingml/2006/main">
            <a:off x="5619750" y="2143125"/>
            <a:ext cx="2286000" cy="809625"/>
          </a:xfrm>
          <a:prstGeom xmlns:a="http://schemas.openxmlformats.org/drawingml/2006/main" prst="rect">
            <a:avLst/>
          </a:prstGeom>
          <a:solidFill xmlns:a="http://schemas.openxmlformats.org/drawingml/2006/main">
            <a:srgbClr val="F0F1ED"/>
          </a:solidFill>
          <a:ln xmlns:a="http://schemas.openxmlformats.org/drawingml/2006/main" w="14288">
            <a:solidFill>
              <a:srgbClr val="B66D4F"/>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Teacher hard label</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y_t = argmax g(x)</a:t>
            </a:r>
          </a:p>
        </p:txBody>
      </p:sp>
      <p:sp>
        <p:nvSpPr>
          <p:cNvPr id="19" name="CLS and DIST&#10;classification heads">
            <a:extLst xmlns:a="http://schemas.openxmlformats.org/drawingml/2006/main">
              <a:ext uri="{FF2B5EF4-FFF2-40B4-BE49-F238E27FC236}">
                <a16:creationId xmlns:a16="http://schemas.microsoft.com/office/drawing/2014/main" id="{CF298976-3911-4A64-B56E-F6E933A0E75F}"/>
              </a:ext>
            </a:extLst>
          </p:cNvPr>
          <p:cNvSpPr>
            <a:spLocks xmlns:a="http://schemas.openxmlformats.org/drawingml/2006/main" noGrp="1"/>
          </p:cNvSpPr>
          <p:nvPr/>
        </p:nvSpPr>
        <p:spPr>
          <a:xfrm xmlns:a="http://schemas.openxmlformats.org/drawingml/2006/main">
            <a:off x="5619750" y="4048125"/>
            <a:ext cx="2286000" cy="90487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and DIST</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classification heads</a:t>
            </a:r>
          </a:p>
        </p:txBody>
      </p:sp>
      <p:sp>
        <p:nvSpPr>
          <p:cNvPr id="20" name="DIST loss&#10;Deferred re-weighting">
            <a:extLst xmlns:a="http://schemas.openxmlformats.org/drawingml/2006/main">
              <a:ext uri="{FF2B5EF4-FFF2-40B4-BE49-F238E27FC236}">
                <a16:creationId xmlns:a16="http://schemas.microsoft.com/office/drawing/2014/main" id="{F9EE8675-BB31-4071-9BE3-08D994034D1E}"/>
              </a:ext>
            </a:extLst>
          </p:cNvPr>
          <p:cNvSpPr>
            <a:spLocks xmlns:a="http://schemas.openxmlformats.org/drawingml/2006/main" noGrp="1"/>
          </p:cNvSpPr>
          <p:nvPr/>
        </p:nvSpPr>
        <p:spPr>
          <a:xfrm xmlns:a="http://schemas.openxmlformats.org/drawingml/2006/main">
            <a:off x="8858250" y="2143125"/>
            <a:ext cx="2667000" cy="80962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DIST loss</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Deferred re-weighting</a:t>
            </a:r>
          </a:p>
        </p:txBody>
      </p:sp>
      <p:sp>
        <p:nvSpPr>
          <p:cNvPr id="21" name="CLS loss&#10;True class label">
            <a:extLst xmlns:a="http://schemas.openxmlformats.org/drawingml/2006/main">
              <a:ext uri="{FF2B5EF4-FFF2-40B4-BE49-F238E27FC236}">
                <a16:creationId xmlns:a16="http://schemas.microsoft.com/office/drawing/2014/main" id="{1EB0C715-F170-4125-89D4-4806ED80E398}"/>
              </a:ext>
            </a:extLst>
          </p:cNvPr>
          <p:cNvSpPr>
            <a:spLocks xmlns:a="http://schemas.openxmlformats.org/drawingml/2006/main" noGrp="1"/>
          </p:cNvSpPr>
          <p:nvPr/>
        </p:nvSpPr>
        <p:spPr>
          <a:xfrm xmlns:a="http://schemas.openxmlformats.org/drawingml/2006/main">
            <a:off x="8858250" y="4048125"/>
            <a:ext cx="2667000" cy="90487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loss</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True class label</a:t>
            </a:r>
          </a:p>
        </p:txBody>
      </p:sp>
      <p:sp>
        <p:nvSpPr>
          <p:cNvPr id="22" name="At inference, the student combines its CLS and DIST outputs.">
            <a:extLst xmlns:a="http://schemas.openxmlformats.org/drawingml/2006/main">
              <a:ext uri="{FF2B5EF4-FFF2-40B4-BE49-F238E27FC236}">
                <a16:creationId xmlns:a16="http://schemas.microsoft.com/office/drawing/2014/main" id="{FD1A4D22-6478-4826-A5DC-D6143384BA5B}"/>
              </a:ext>
            </a:extLst>
          </p:cNvPr>
          <p:cNvSpPr>
            <a:spLocks xmlns:a="http://schemas.openxmlformats.org/drawingml/2006/main" noGrp="1"/>
          </p:cNvSpPr>
          <p:nvPr/>
        </p:nvSpPr>
        <p:spPr>
          <a:xfrm xmlns:a="http://schemas.openxmlformats.org/drawingml/2006/main">
            <a:off x="571500" y="547687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02B38"/>
                </a:solidFill>
                <a:latin typeface="DejaVu Sans"/>
                <a:ea typeface="DejaVu Sans"/>
                <a:cs typeface="DejaVu Sans"/>
              </a:defRPr>
            </a:defPPr>
            <a:lvl1pPr algn="l">
              <a:defRPr sz="2100" b="1">
                <a:solidFill>
                  <a:srgbClr val="202B38"/>
                </a:solidFill>
                <a:latin typeface="DejaVu Sans"/>
                <a:ea typeface="DejaVu Sans"/>
                <a:cs typeface="DejaVu Sans"/>
              </a:defRPr>
            </a:lvl1pPr>
            <a:lvl2pPr algn="l">
              <a:defRPr sz="2100" b="1">
                <a:solidFill>
                  <a:srgbClr val="202B38"/>
                </a:solidFill>
                <a:latin typeface="DejaVu Sans"/>
                <a:ea typeface="DejaVu Sans"/>
                <a:cs typeface="DejaVu Sans"/>
              </a:defRPr>
            </a:lvl2pPr>
            <a:lvl3pPr algn="l">
              <a:defRPr sz="2100" b="1">
                <a:solidFill>
                  <a:srgbClr val="202B38"/>
                </a:solidFill>
                <a:latin typeface="DejaVu Sans"/>
                <a:ea typeface="DejaVu Sans"/>
                <a:cs typeface="DejaVu Sans"/>
              </a:defRPr>
            </a:lvl3pPr>
            <a:lvl4pPr algn="l">
              <a:defRPr sz="2100" b="1">
                <a:solidFill>
                  <a:srgbClr val="202B38"/>
                </a:solidFill>
                <a:latin typeface="DejaVu Sans"/>
                <a:ea typeface="DejaVu Sans"/>
                <a:cs typeface="DejaVu Sans"/>
              </a:defRPr>
            </a:lvl4pPr>
            <a:lvl5pPr algn="l">
              <a:defRPr sz="2100" b="1">
                <a:solidFill>
                  <a:srgbClr val="202B38"/>
                </a:solidFill>
                <a:latin typeface="DejaVu Sans"/>
                <a:ea typeface="DejaVu Sans"/>
                <a:cs typeface="DejaVu Sans"/>
              </a:defRPr>
            </a:lvl5pPr>
            <a:lvl6pPr algn="l">
              <a:defRPr sz="2100" b="1">
                <a:solidFill>
                  <a:srgbClr val="202B38"/>
                </a:solidFill>
                <a:latin typeface="DejaVu Sans"/>
                <a:ea typeface="DejaVu Sans"/>
                <a:cs typeface="DejaVu Sans"/>
              </a:defRPr>
            </a:lvl6pPr>
            <a:lvl7pPr algn="l">
              <a:defRPr sz="2100" b="1">
                <a:solidFill>
                  <a:srgbClr val="202B38"/>
                </a:solidFill>
                <a:latin typeface="DejaVu Sans"/>
                <a:ea typeface="DejaVu Sans"/>
                <a:cs typeface="DejaVu Sans"/>
              </a:defRPr>
            </a:lvl7pPr>
            <a:lvl8pPr algn="l">
              <a:defRPr sz="2100" b="1">
                <a:solidFill>
                  <a:srgbClr val="202B38"/>
                </a:solidFill>
                <a:latin typeface="DejaVu Sans"/>
                <a:ea typeface="DejaVu Sans"/>
                <a:cs typeface="DejaVu Sans"/>
              </a:defRPr>
            </a:lvl8pPr>
            <a:lvl9pPr algn="l">
              <a:defRPr sz="2100" b="1">
                <a:solidFill>
                  <a:srgbClr val="202B38"/>
                </a:solidFill>
                <a:latin typeface="DejaVu Sans"/>
                <a:ea typeface="DejaVu Sans"/>
                <a:cs typeface="DejaVu Sans"/>
              </a:defRPr>
            </a:lvl9pPr>
          </a:lstStyle>
          <a:p xmlns:a="http://schemas.openxmlformats.org/drawingml/2006/main">
            <a:pPr algn="l">
              <a:defRPr sz="2100" b="1">
                <a:solidFill>
                  <a:srgbClr val="202B38"/>
                </a:solidFill>
                <a:latin typeface="DejaVu Sans"/>
                <a:ea typeface="DejaVu Sans"/>
                <a:cs typeface="DejaVu Sans"/>
              </a:defRPr>
            </a:pPr>
            <a:r>
              <a:rPr sz="2100" b="1">
                <a:solidFill>
                  <a:srgbClr val="202B38"/>
                </a:solidFill>
                <a:latin typeface="DejaVu Sans"/>
                <a:ea typeface="DejaVu Sans"/>
                <a:cs typeface="DejaVu Sans"/>
              </a:rPr>
              <a:t>At inference, the student combines its CLS and DIST outputs.</a:t>
            </a:r>
          </a:p>
        </p:txBody>
      </p:sp>
    </p:spTree>
    <p:extLst>
      <p:ext uri="{BB962C8B-B14F-4D97-AF65-F5344CB8AC3E}">
        <p14:creationId xmlns:p14="http://schemas.microsoft.com/office/powerpoint/2010/main" val="1161058948"/>
      </p:ext>
    </p:extLst>
  </p:cSld>
</p:sld>
</file>

<file path=ppt/slides/slide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TRAINING MECHANISMS">
            <a:extLst xmlns:a="http://schemas.openxmlformats.org/drawingml/2006/main">
              <a:ext uri="{FF2B5EF4-FFF2-40B4-BE49-F238E27FC236}">
                <a16:creationId xmlns:a16="http://schemas.microsoft.com/office/drawing/2014/main" id="{72F088C3-84CC-47E3-8BF5-62CDC763FFF8}"/>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TRAINING MECHANISMS</a:t>
            </a:r>
          </a:p>
        </p:txBody>
      </p:sp>
      <p:sp>
        <p:nvSpPr>
          <p:cNvPr id="3" name="The DeiT-LT methodology">
            <a:extLst xmlns:a="http://schemas.openxmlformats.org/drawingml/2006/main">
              <a:ext uri="{FF2B5EF4-FFF2-40B4-BE49-F238E27FC236}">
                <a16:creationId xmlns:a16="http://schemas.microsoft.com/office/drawing/2014/main" id="{2E34368D-CF28-4CFE-B344-49C759045A82}"/>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The DeiT-LT methodology</a:t>
            </a:r>
          </a:p>
        </p:txBody>
      </p:sp>
      <p:sp>
        <p:nvSpPr>
          <p:cNvPr id="4" name="">
            <a:extLst xmlns:a="http://schemas.openxmlformats.org/drawingml/2006/main">
              <a:ext uri="{FF2B5EF4-FFF2-40B4-BE49-F238E27FC236}">
                <a16:creationId xmlns:a16="http://schemas.microsoft.com/office/drawing/2014/main" id="{75EA951D-703F-48F1-9637-FC21C98A605D}"/>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C62FAA01-5147-44C5-B8FB-1221DE46ECB8}"/>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08 / 15">
            <a:extLst xmlns:a="http://schemas.openxmlformats.org/drawingml/2006/main">
              <a:ext uri="{FF2B5EF4-FFF2-40B4-BE49-F238E27FC236}">
                <a16:creationId xmlns:a16="http://schemas.microsoft.com/office/drawing/2014/main" id="{010346C2-9430-41C7-A200-D0AFA8FC3D08}"/>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08 / 15</a:t>
            </a:r>
          </a:p>
        </p:txBody>
      </p:sp>
      <p:sp>
        <p:nvSpPr>
          <p:cNvPr id="7" name="01">
            <a:extLst xmlns:a="http://schemas.openxmlformats.org/drawingml/2006/main">
              <a:ext uri="{FF2B5EF4-FFF2-40B4-BE49-F238E27FC236}">
                <a16:creationId xmlns:a16="http://schemas.microsoft.com/office/drawing/2014/main" id="{6EEC6007-6911-4821-862F-E09B7B18242D}"/>
              </a:ext>
            </a:extLst>
          </p:cNvPr>
          <p:cNvSpPr>
            <a:spLocks xmlns:a="http://schemas.openxmlformats.org/drawingml/2006/main" noGrp="1"/>
          </p:cNvSpPr>
          <p:nvPr/>
        </p:nvSpPr>
        <p:spPr>
          <a:xfrm xmlns:a="http://schemas.openxmlformats.org/drawingml/2006/main">
            <a:off x="571500" y="172402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D5DD2"/>
                </a:solidFill>
                <a:latin typeface="DejaVu Sans"/>
                <a:ea typeface="DejaVu Sans"/>
                <a:cs typeface="DejaVu Sans"/>
              </a:defRPr>
            </a:defPPr>
            <a:lvl1pPr algn="l">
              <a:defRPr sz="2325" b="1">
                <a:solidFill>
                  <a:srgbClr val="3D5DD2"/>
                </a:solidFill>
                <a:latin typeface="DejaVu Sans"/>
                <a:ea typeface="DejaVu Sans"/>
                <a:cs typeface="DejaVu Sans"/>
              </a:defRPr>
            </a:lvl1pPr>
            <a:lvl2pPr algn="l">
              <a:defRPr sz="2325" b="1">
                <a:solidFill>
                  <a:srgbClr val="3D5DD2"/>
                </a:solidFill>
                <a:latin typeface="DejaVu Sans"/>
                <a:ea typeface="DejaVu Sans"/>
                <a:cs typeface="DejaVu Sans"/>
              </a:defRPr>
            </a:lvl2pPr>
            <a:lvl3pPr algn="l">
              <a:defRPr sz="2325" b="1">
                <a:solidFill>
                  <a:srgbClr val="3D5DD2"/>
                </a:solidFill>
                <a:latin typeface="DejaVu Sans"/>
                <a:ea typeface="DejaVu Sans"/>
                <a:cs typeface="DejaVu Sans"/>
              </a:defRPr>
            </a:lvl3pPr>
            <a:lvl4pPr algn="l">
              <a:defRPr sz="2325" b="1">
                <a:solidFill>
                  <a:srgbClr val="3D5DD2"/>
                </a:solidFill>
                <a:latin typeface="DejaVu Sans"/>
                <a:ea typeface="DejaVu Sans"/>
                <a:cs typeface="DejaVu Sans"/>
              </a:defRPr>
            </a:lvl4pPr>
            <a:lvl5pPr algn="l">
              <a:defRPr sz="2325" b="1">
                <a:solidFill>
                  <a:srgbClr val="3D5DD2"/>
                </a:solidFill>
                <a:latin typeface="DejaVu Sans"/>
                <a:ea typeface="DejaVu Sans"/>
                <a:cs typeface="DejaVu Sans"/>
              </a:defRPr>
            </a:lvl5pPr>
            <a:lvl6pPr algn="l">
              <a:defRPr sz="2325" b="1">
                <a:solidFill>
                  <a:srgbClr val="3D5DD2"/>
                </a:solidFill>
                <a:latin typeface="DejaVu Sans"/>
                <a:ea typeface="DejaVu Sans"/>
                <a:cs typeface="DejaVu Sans"/>
              </a:defRPr>
            </a:lvl6pPr>
            <a:lvl7pPr algn="l">
              <a:defRPr sz="2325" b="1">
                <a:solidFill>
                  <a:srgbClr val="3D5DD2"/>
                </a:solidFill>
                <a:latin typeface="DejaVu Sans"/>
                <a:ea typeface="DejaVu Sans"/>
                <a:cs typeface="DejaVu Sans"/>
              </a:defRPr>
            </a:lvl7pPr>
            <a:lvl8pPr algn="l">
              <a:defRPr sz="2325" b="1">
                <a:solidFill>
                  <a:srgbClr val="3D5DD2"/>
                </a:solidFill>
                <a:latin typeface="DejaVu Sans"/>
                <a:ea typeface="DejaVu Sans"/>
                <a:cs typeface="DejaVu Sans"/>
              </a:defRPr>
            </a:lvl8pPr>
            <a:lvl9pPr algn="l">
              <a:defRPr sz="2325" b="1">
                <a:solidFill>
                  <a:srgbClr val="3D5DD2"/>
                </a:solidFill>
                <a:latin typeface="DejaVu Sans"/>
                <a:ea typeface="DejaVu Sans"/>
                <a:cs typeface="DejaVu Sans"/>
              </a:defRPr>
            </a:lvl9pPr>
          </a:lstStyle>
          <a:p xmlns:a="http://schemas.openxmlformats.org/drawingml/2006/main">
            <a:pPr algn="l">
              <a:defRPr sz="2325" b="1">
                <a:solidFill>
                  <a:srgbClr val="3D5DD2"/>
                </a:solidFill>
                <a:latin typeface="DejaVu Sans"/>
                <a:ea typeface="DejaVu Sans"/>
                <a:cs typeface="DejaVu Sans"/>
              </a:defRPr>
            </a:pPr>
            <a:r>
              <a:rPr sz="2325" b="1">
                <a:solidFill>
                  <a:srgbClr val="3D5DD2"/>
                </a:solidFill>
                <a:latin typeface="DejaVu Sans"/>
                <a:ea typeface="DejaVu Sans"/>
                <a:cs typeface="DejaVu Sans"/>
              </a:rPr>
              <a:t>01</a:t>
            </a:r>
          </a:p>
        </p:txBody>
      </p:sp>
      <p:sp>
        <p:nvSpPr>
          <p:cNvPr id="8" name="OOD distillation">
            <a:extLst xmlns:a="http://schemas.openxmlformats.org/drawingml/2006/main">
              <a:ext uri="{FF2B5EF4-FFF2-40B4-BE49-F238E27FC236}">
                <a16:creationId xmlns:a16="http://schemas.microsoft.com/office/drawing/2014/main" id="{58DA21FB-4CB8-476E-B5D9-38198FB95AB0}"/>
              </a:ext>
            </a:extLst>
          </p:cNvPr>
          <p:cNvSpPr>
            <a:spLocks xmlns:a="http://schemas.openxmlformats.org/drawingml/2006/main" noGrp="1"/>
          </p:cNvSpPr>
          <p:nvPr/>
        </p:nvSpPr>
        <p:spPr>
          <a:xfrm xmlns:a="http://schemas.openxmlformats.org/drawingml/2006/main">
            <a:off x="1428750" y="17240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B38"/>
                </a:solidFill>
                <a:latin typeface="DejaVu Sans"/>
                <a:ea typeface="DejaVu Sans"/>
                <a:cs typeface="DejaVu Sans"/>
              </a:defRPr>
            </a:defPPr>
            <a:lvl1pPr algn="l">
              <a:defRPr sz="2025" b="1">
                <a:solidFill>
                  <a:srgbClr val="202B38"/>
                </a:solidFill>
                <a:latin typeface="DejaVu Sans"/>
                <a:ea typeface="DejaVu Sans"/>
                <a:cs typeface="DejaVu Sans"/>
              </a:defRPr>
            </a:lvl1pPr>
            <a:lvl2pPr algn="l">
              <a:defRPr sz="2025" b="1">
                <a:solidFill>
                  <a:srgbClr val="202B38"/>
                </a:solidFill>
                <a:latin typeface="DejaVu Sans"/>
                <a:ea typeface="DejaVu Sans"/>
                <a:cs typeface="DejaVu Sans"/>
              </a:defRPr>
            </a:lvl2pPr>
            <a:lvl3pPr algn="l">
              <a:defRPr sz="2025" b="1">
                <a:solidFill>
                  <a:srgbClr val="202B38"/>
                </a:solidFill>
                <a:latin typeface="DejaVu Sans"/>
                <a:ea typeface="DejaVu Sans"/>
                <a:cs typeface="DejaVu Sans"/>
              </a:defRPr>
            </a:lvl3pPr>
            <a:lvl4pPr algn="l">
              <a:defRPr sz="2025" b="1">
                <a:solidFill>
                  <a:srgbClr val="202B38"/>
                </a:solidFill>
                <a:latin typeface="DejaVu Sans"/>
                <a:ea typeface="DejaVu Sans"/>
                <a:cs typeface="DejaVu Sans"/>
              </a:defRPr>
            </a:lvl4pPr>
            <a:lvl5pPr algn="l">
              <a:defRPr sz="2025" b="1">
                <a:solidFill>
                  <a:srgbClr val="202B38"/>
                </a:solidFill>
                <a:latin typeface="DejaVu Sans"/>
                <a:ea typeface="DejaVu Sans"/>
                <a:cs typeface="DejaVu Sans"/>
              </a:defRPr>
            </a:lvl5pPr>
            <a:lvl6pPr algn="l">
              <a:defRPr sz="2025" b="1">
                <a:solidFill>
                  <a:srgbClr val="202B38"/>
                </a:solidFill>
                <a:latin typeface="DejaVu Sans"/>
                <a:ea typeface="DejaVu Sans"/>
                <a:cs typeface="DejaVu Sans"/>
              </a:defRPr>
            </a:lvl6pPr>
            <a:lvl7pPr algn="l">
              <a:defRPr sz="2025" b="1">
                <a:solidFill>
                  <a:srgbClr val="202B38"/>
                </a:solidFill>
                <a:latin typeface="DejaVu Sans"/>
                <a:ea typeface="DejaVu Sans"/>
                <a:cs typeface="DejaVu Sans"/>
              </a:defRPr>
            </a:lvl7pPr>
            <a:lvl8pPr algn="l">
              <a:defRPr sz="2025" b="1">
                <a:solidFill>
                  <a:srgbClr val="202B38"/>
                </a:solidFill>
                <a:latin typeface="DejaVu Sans"/>
                <a:ea typeface="DejaVu Sans"/>
                <a:cs typeface="DejaVu Sans"/>
              </a:defRPr>
            </a:lvl8pPr>
            <a:lvl9pPr algn="l">
              <a:defRPr sz="2025" b="1">
                <a:solidFill>
                  <a:srgbClr val="202B38"/>
                </a:solidFill>
                <a:latin typeface="DejaVu Sans"/>
                <a:ea typeface="DejaVu Sans"/>
                <a:cs typeface="DejaVu Sans"/>
              </a:defRPr>
            </a:lvl9pPr>
          </a:lstStyle>
          <a:p xmlns:a="http://schemas.openxmlformats.org/drawingml/2006/main">
            <a:pPr algn="l">
              <a:defRPr sz="2025" b="1">
                <a:solidFill>
                  <a:srgbClr val="202B38"/>
                </a:solidFill>
                <a:latin typeface="DejaVu Sans"/>
                <a:ea typeface="DejaVu Sans"/>
                <a:cs typeface="DejaVu Sans"/>
              </a:defRPr>
            </a:pPr>
            <a:r>
              <a:rPr sz="2025" b="1">
                <a:solidFill>
                  <a:srgbClr val="202B38"/>
                </a:solidFill>
                <a:latin typeface="DejaVu Sans"/>
                <a:ea typeface="DejaVu Sans"/>
                <a:cs typeface="DejaVu Sans"/>
              </a:rPr>
              <a:t>OOD distillation</a:t>
            </a:r>
          </a:p>
        </p:txBody>
      </p:sp>
      <p:sp>
        <p:nvSpPr>
          <p:cNvPr id="9" name="Train the teacher with mild augmentation. Distill on strong Mixup">
            <a:extLst xmlns:a="http://schemas.openxmlformats.org/drawingml/2006/main">
              <a:ext uri="{FF2B5EF4-FFF2-40B4-BE49-F238E27FC236}">
                <a16:creationId xmlns:a16="http://schemas.microsoft.com/office/drawing/2014/main" id="{761C550F-1023-4E90-AA8E-EA716EB8F21C}"/>
              </a:ext>
            </a:extLst>
          </p:cNvPr>
          <p:cNvSpPr>
            <a:spLocks xmlns:a="http://schemas.openxmlformats.org/drawingml/2006/main" noGrp="1"/>
          </p:cNvSpPr>
          <p:nvPr/>
        </p:nvSpPr>
        <p:spPr>
          <a:xfrm xmlns:a="http://schemas.openxmlformats.org/drawingml/2006/main">
            <a:off x="5143500" y="1724025"/>
            <a:ext cx="638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Train the teacher with mild augmentation. Distill on strong Mixup / CutMix images to encourage local image structure.</a:t>
            </a:r>
          </a:p>
        </p:txBody>
      </p:sp>
      <p:sp>
        <p:nvSpPr>
          <p:cNvPr id="10" name="02">
            <a:extLst xmlns:a="http://schemas.openxmlformats.org/drawingml/2006/main">
              <a:ext uri="{FF2B5EF4-FFF2-40B4-BE49-F238E27FC236}">
                <a16:creationId xmlns:a16="http://schemas.microsoft.com/office/drawing/2014/main" id="{42CFC9B2-D1C4-46B7-8980-BB6524D04D43}"/>
              </a:ext>
            </a:extLst>
          </p:cNvPr>
          <p:cNvSpPr>
            <a:spLocks xmlns:a="http://schemas.openxmlformats.org/drawingml/2006/main" noGrp="1"/>
          </p:cNvSpPr>
          <p:nvPr/>
        </p:nvSpPr>
        <p:spPr>
          <a:xfrm xmlns:a="http://schemas.openxmlformats.org/drawingml/2006/main">
            <a:off x="571500" y="28384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D5DD2"/>
                </a:solidFill>
                <a:latin typeface="DejaVu Sans"/>
                <a:ea typeface="DejaVu Sans"/>
                <a:cs typeface="DejaVu Sans"/>
              </a:defRPr>
            </a:defPPr>
            <a:lvl1pPr algn="l">
              <a:defRPr sz="2325" b="1">
                <a:solidFill>
                  <a:srgbClr val="3D5DD2"/>
                </a:solidFill>
                <a:latin typeface="DejaVu Sans"/>
                <a:ea typeface="DejaVu Sans"/>
                <a:cs typeface="DejaVu Sans"/>
              </a:defRPr>
            </a:lvl1pPr>
            <a:lvl2pPr algn="l">
              <a:defRPr sz="2325" b="1">
                <a:solidFill>
                  <a:srgbClr val="3D5DD2"/>
                </a:solidFill>
                <a:latin typeface="DejaVu Sans"/>
                <a:ea typeface="DejaVu Sans"/>
                <a:cs typeface="DejaVu Sans"/>
              </a:defRPr>
            </a:lvl2pPr>
            <a:lvl3pPr algn="l">
              <a:defRPr sz="2325" b="1">
                <a:solidFill>
                  <a:srgbClr val="3D5DD2"/>
                </a:solidFill>
                <a:latin typeface="DejaVu Sans"/>
                <a:ea typeface="DejaVu Sans"/>
                <a:cs typeface="DejaVu Sans"/>
              </a:defRPr>
            </a:lvl3pPr>
            <a:lvl4pPr algn="l">
              <a:defRPr sz="2325" b="1">
                <a:solidFill>
                  <a:srgbClr val="3D5DD2"/>
                </a:solidFill>
                <a:latin typeface="DejaVu Sans"/>
                <a:ea typeface="DejaVu Sans"/>
                <a:cs typeface="DejaVu Sans"/>
              </a:defRPr>
            </a:lvl4pPr>
            <a:lvl5pPr algn="l">
              <a:defRPr sz="2325" b="1">
                <a:solidFill>
                  <a:srgbClr val="3D5DD2"/>
                </a:solidFill>
                <a:latin typeface="DejaVu Sans"/>
                <a:ea typeface="DejaVu Sans"/>
                <a:cs typeface="DejaVu Sans"/>
              </a:defRPr>
            </a:lvl5pPr>
            <a:lvl6pPr algn="l">
              <a:defRPr sz="2325" b="1">
                <a:solidFill>
                  <a:srgbClr val="3D5DD2"/>
                </a:solidFill>
                <a:latin typeface="DejaVu Sans"/>
                <a:ea typeface="DejaVu Sans"/>
                <a:cs typeface="DejaVu Sans"/>
              </a:defRPr>
            </a:lvl6pPr>
            <a:lvl7pPr algn="l">
              <a:defRPr sz="2325" b="1">
                <a:solidFill>
                  <a:srgbClr val="3D5DD2"/>
                </a:solidFill>
                <a:latin typeface="DejaVu Sans"/>
                <a:ea typeface="DejaVu Sans"/>
                <a:cs typeface="DejaVu Sans"/>
              </a:defRPr>
            </a:lvl7pPr>
            <a:lvl8pPr algn="l">
              <a:defRPr sz="2325" b="1">
                <a:solidFill>
                  <a:srgbClr val="3D5DD2"/>
                </a:solidFill>
                <a:latin typeface="DejaVu Sans"/>
                <a:ea typeface="DejaVu Sans"/>
                <a:cs typeface="DejaVu Sans"/>
              </a:defRPr>
            </a:lvl8pPr>
            <a:lvl9pPr algn="l">
              <a:defRPr sz="2325" b="1">
                <a:solidFill>
                  <a:srgbClr val="3D5DD2"/>
                </a:solidFill>
                <a:latin typeface="DejaVu Sans"/>
                <a:ea typeface="DejaVu Sans"/>
                <a:cs typeface="DejaVu Sans"/>
              </a:defRPr>
            </a:lvl9pPr>
          </a:lstStyle>
          <a:p xmlns:a="http://schemas.openxmlformats.org/drawingml/2006/main">
            <a:pPr algn="l">
              <a:defRPr sz="2325" b="1">
                <a:solidFill>
                  <a:srgbClr val="3D5DD2"/>
                </a:solidFill>
                <a:latin typeface="DejaVu Sans"/>
                <a:ea typeface="DejaVu Sans"/>
                <a:cs typeface="DejaVu Sans"/>
              </a:defRPr>
            </a:pPr>
            <a:r>
              <a:rPr sz="2325" b="1">
                <a:solidFill>
                  <a:srgbClr val="3D5DD2"/>
                </a:solidFill>
                <a:latin typeface="DejaVu Sans"/>
                <a:ea typeface="DejaVu Sans"/>
                <a:cs typeface="DejaVu Sans"/>
              </a:rPr>
              <a:t>02</a:t>
            </a:r>
          </a:p>
        </p:txBody>
      </p:sp>
      <p:sp>
        <p:nvSpPr>
          <p:cNvPr id="11" name="Deferred re-weighting">
            <a:extLst xmlns:a="http://schemas.openxmlformats.org/drawingml/2006/main">
              <a:ext uri="{FF2B5EF4-FFF2-40B4-BE49-F238E27FC236}">
                <a16:creationId xmlns:a16="http://schemas.microsoft.com/office/drawing/2014/main" id="{9AF44A91-AEED-4602-96C4-8A841E1C4231}"/>
              </a:ext>
            </a:extLst>
          </p:cNvPr>
          <p:cNvSpPr>
            <a:spLocks xmlns:a="http://schemas.openxmlformats.org/drawingml/2006/main" noGrp="1"/>
          </p:cNvSpPr>
          <p:nvPr/>
        </p:nvSpPr>
        <p:spPr>
          <a:xfrm xmlns:a="http://schemas.openxmlformats.org/drawingml/2006/main">
            <a:off x="1428750" y="28384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B38"/>
                </a:solidFill>
                <a:latin typeface="DejaVu Sans"/>
                <a:ea typeface="DejaVu Sans"/>
                <a:cs typeface="DejaVu Sans"/>
              </a:defRPr>
            </a:defPPr>
            <a:lvl1pPr algn="l">
              <a:defRPr sz="2025" b="1">
                <a:solidFill>
                  <a:srgbClr val="202B38"/>
                </a:solidFill>
                <a:latin typeface="DejaVu Sans"/>
                <a:ea typeface="DejaVu Sans"/>
                <a:cs typeface="DejaVu Sans"/>
              </a:defRPr>
            </a:lvl1pPr>
            <a:lvl2pPr algn="l">
              <a:defRPr sz="2025" b="1">
                <a:solidFill>
                  <a:srgbClr val="202B38"/>
                </a:solidFill>
                <a:latin typeface="DejaVu Sans"/>
                <a:ea typeface="DejaVu Sans"/>
                <a:cs typeface="DejaVu Sans"/>
              </a:defRPr>
            </a:lvl2pPr>
            <a:lvl3pPr algn="l">
              <a:defRPr sz="2025" b="1">
                <a:solidFill>
                  <a:srgbClr val="202B38"/>
                </a:solidFill>
                <a:latin typeface="DejaVu Sans"/>
                <a:ea typeface="DejaVu Sans"/>
                <a:cs typeface="DejaVu Sans"/>
              </a:defRPr>
            </a:lvl3pPr>
            <a:lvl4pPr algn="l">
              <a:defRPr sz="2025" b="1">
                <a:solidFill>
                  <a:srgbClr val="202B38"/>
                </a:solidFill>
                <a:latin typeface="DejaVu Sans"/>
                <a:ea typeface="DejaVu Sans"/>
                <a:cs typeface="DejaVu Sans"/>
              </a:defRPr>
            </a:lvl4pPr>
            <a:lvl5pPr algn="l">
              <a:defRPr sz="2025" b="1">
                <a:solidFill>
                  <a:srgbClr val="202B38"/>
                </a:solidFill>
                <a:latin typeface="DejaVu Sans"/>
                <a:ea typeface="DejaVu Sans"/>
                <a:cs typeface="DejaVu Sans"/>
              </a:defRPr>
            </a:lvl5pPr>
            <a:lvl6pPr algn="l">
              <a:defRPr sz="2025" b="1">
                <a:solidFill>
                  <a:srgbClr val="202B38"/>
                </a:solidFill>
                <a:latin typeface="DejaVu Sans"/>
                <a:ea typeface="DejaVu Sans"/>
                <a:cs typeface="DejaVu Sans"/>
              </a:defRPr>
            </a:lvl6pPr>
            <a:lvl7pPr algn="l">
              <a:defRPr sz="2025" b="1">
                <a:solidFill>
                  <a:srgbClr val="202B38"/>
                </a:solidFill>
                <a:latin typeface="DejaVu Sans"/>
                <a:ea typeface="DejaVu Sans"/>
                <a:cs typeface="DejaVu Sans"/>
              </a:defRPr>
            </a:lvl7pPr>
            <a:lvl8pPr algn="l">
              <a:defRPr sz="2025" b="1">
                <a:solidFill>
                  <a:srgbClr val="202B38"/>
                </a:solidFill>
                <a:latin typeface="DejaVu Sans"/>
                <a:ea typeface="DejaVu Sans"/>
                <a:cs typeface="DejaVu Sans"/>
              </a:defRPr>
            </a:lvl8pPr>
            <a:lvl9pPr algn="l">
              <a:defRPr sz="2025" b="1">
                <a:solidFill>
                  <a:srgbClr val="202B38"/>
                </a:solidFill>
                <a:latin typeface="DejaVu Sans"/>
                <a:ea typeface="DejaVu Sans"/>
                <a:cs typeface="DejaVu Sans"/>
              </a:defRPr>
            </a:lvl9pPr>
          </a:lstStyle>
          <a:p xmlns:a="http://schemas.openxmlformats.org/drawingml/2006/main">
            <a:pPr algn="l">
              <a:defRPr sz="2025" b="1">
                <a:solidFill>
                  <a:srgbClr val="202B38"/>
                </a:solidFill>
                <a:latin typeface="DejaVu Sans"/>
                <a:ea typeface="DejaVu Sans"/>
                <a:cs typeface="DejaVu Sans"/>
              </a:defRPr>
            </a:pPr>
            <a:r>
              <a:rPr sz="2025" b="1">
                <a:solidFill>
                  <a:srgbClr val="202B38"/>
                </a:solidFill>
                <a:latin typeface="DejaVu Sans"/>
                <a:ea typeface="DejaVu Sans"/>
                <a:cs typeface="DejaVu Sans"/>
              </a:rPr>
              <a:t>Deferred re-weighting</a:t>
            </a:r>
          </a:p>
        </p:txBody>
      </p:sp>
      <p:sp>
        <p:nvSpPr>
          <p:cNvPr id="12" name="Activate class weights late in training on the DIST loss. Rare cl">
            <a:extLst xmlns:a="http://schemas.openxmlformats.org/drawingml/2006/main">
              <a:ext uri="{FF2B5EF4-FFF2-40B4-BE49-F238E27FC236}">
                <a16:creationId xmlns:a16="http://schemas.microsoft.com/office/drawing/2014/main" id="{8979E08D-A1F2-42EA-91BC-D107AEA2D8C6}"/>
              </a:ext>
            </a:extLst>
          </p:cNvPr>
          <p:cNvSpPr>
            <a:spLocks xmlns:a="http://schemas.openxmlformats.org/drawingml/2006/main" noGrp="1"/>
          </p:cNvSpPr>
          <p:nvPr/>
        </p:nvSpPr>
        <p:spPr>
          <a:xfrm xmlns:a="http://schemas.openxmlformats.org/drawingml/2006/main">
            <a:off x="5143500" y="2838450"/>
            <a:ext cx="638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Activate class weights late in training on the DIST loss. Rare classes receive more weight.</a:t>
            </a:r>
          </a:p>
        </p:txBody>
      </p:sp>
      <p:sp>
        <p:nvSpPr>
          <p:cNvPr id="13" name="03">
            <a:extLst xmlns:a="http://schemas.openxmlformats.org/drawingml/2006/main">
              <a:ext uri="{FF2B5EF4-FFF2-40B4-BE49-F238E27FC236}">
                <a16:creationId xmlns:a16="http://schemas.microsoft.com/office/drawing/2014/main" id="{91792940-A39E-4B66-B9FF-8AF88859D09E}"/>
              </a:ext>
            </a:extLst>
          </p:cNvPr>
          <p:cNvSpPr>
            <a:spLocks xmlns:a="http://schemas.openxmlformats.org/drawingml/2006/main" noGrp="1"/>
          </p:cNvSpPr>
          <p:nvPr/>
        </p:nvSpPr>
        <p:spPr>
          <a:xfrm xmlns:a="http://schemas.openxmlformats.org/drawingml/2006/main">
            <a:off x="571500" y="395287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D5DD2"/>
                </a:solidFill>
                <a:latin typeface="DejaVu Sans"/>
                <a:ea typeface="DejaVu Sans"/>
                <a:cs typeface="DejaVu Sans"/>
              </a:defRPr>
            </a:defPPr>
            <a:lvl1pPr algn="l">
              <a:defRPr sz="2325" b="1">
                <a:solidFill>
                  <a:srgbClr val="3D5DD2"/>
                </a:solidFill>
                <a:latin typeface="DejaVu Sans"/>
                <a:ea typeface="DejaVu Sans"/>
                <a:cs typeface="DejaVu Sans"/>
              </a:defRPr>
            </a:lvl1pPr>
            <a:lvl2pPr algn="l">
              <a:defRPr sz="2325" b="1">
                <a:solidFill>
                  <a:srgbClr val="3D5DD2"/>
                </a:solidFill>
                <a:latin typeface="DejaVu Sans"/>
                <a:ea typeface="DejaVu Sans"/>
                <a:cs typeface="DejaVu Sans"/>
              </a:defRPr>
            </a:lvl2pPr>
            <a:lvl3pPr algn="l">
              <a:defRPr sz="2325" b="1">
                <a:solidFill>
                  <a:srgbClr val="3D5DD2"/>
                </a:solidFill>
                <a:latin typeface="DejaVu Sans"/>
                <a:ea typeface="DejaVu Sans"/>
                <a:cs typeface="DejaVu Sans"/>
              </a:defRPr>
            </a:lvl3pPr>
            <a:lvl4pPr algn="l">
              <a:defRPr sz="2325" b="1">
                <a:solidFill>
                  <a:srgbClr val="3D5DD2"/>
                </a:solidFill>
                <a:latin typeface="DejaVu Sans"/>
                <a:ea typeface="DejaVu Sans"/>
                <a:cs typeface="DejaVu Sans"/>
              </a:defRPr>
            </a:lvl4pPr>
            <a:lvl5pPr algn="l">
              <a:defRPr sz="2325" b="1">
                <a:solidFill>
                  <a:srgbClr val="3D5DD2"/>
                </a:solidFill>
                <a:latin typeface="DejaVu Sans"/>
                <a:ea typeface="DejaVu Sans"/>
                <a:cs typeface="DejaVu Sans"/>
              </a:defRPr>
            </a:lvl5pPr>
            <a:lvl6pPr algn="l">
              <a:defRPr sz="2325" b="1">
                <a:solidFill>
                  <a:srgbClr val="3D5DD2"/>
                </a:solidFill>
                <a:latin typeface="DejaVu Sans"/>
                <a:ea typeface="DejaVu Sans"/>
                <a:cs typeface="DejaVu Sans"/>
              </a:defRPr>
            </a:lvl6pPr>
            <a:lvl7pPr algn="l">
              <a:defRPr sz="2325" b="1">
                <a:solidFill>
                  <a:srgbClr val="3D5DD2"/>
                </a:solidFill>
                <a:latin typeface="DejaVu Sans"/>
                <a:ea typeface="DejaVu Sans"/>
                <a:cs typeface="DejaVu Sans"/>
              </a:defRPr>
            </a:lvl7pPr>
            <a:lvl8pPr algn="l">
              <a:defRPr sz="2325" b="1">
                <a:solidFill>
                  <a:srgbClr val="3D5DD2"/>
                </a:solidFill>
                <a:latin typeface="DejaVu Sans"/>
                <a:ea typeface="DejaVu Sans"/>
                <a:cs typeface="DejaVu Sans"/>
              </a:defRPr>
            </a:lvl8pPr>
            <a:lvl9pPr algn="l">
              <a:defRPr sz="2325" b="1">
                <a:solidFill>
                  <a:srgbClr val="3D5DD2"/>
                </a:solidFill>
                <a:latin typeface="DejaVu Sans"/>
                <a:ea typeface="DejaVu Sans"/>
                <a:cs typeface="DejaVu Sans"/>
              </a:defRPr>
            </a:lvl9pPr>
          </a:lstStyle>
          <a:p xmlns:a="http://schemas.openxmlformats.org/drawingml/2006/main">
            <a:pPr algn="l">
              <a:defRPr sz="2325" b="1">
                <a:solidFill>
                  <a:srgbClr val="3D5DD2"/>
                </a:solidFill>
                <a:latin typeface="DejaVu Sans"/>
                <a:ea typeface="DejaVu Sans"/>
                <a:cs typeface="DejaVu Sans"/>
              </a:defRPr>
            </a:pPr>
            <a:r>
              <a:rPr sz="2325" b="1">
                <a:solidFill>
                  <a:srgbClr val="3D5DD2"/>
                </a:solidFill>
                <a:latin typeface="DejaVu Sans"/>
                <a:ea typeface="DejaVu Sans"/>
                <a:cs typeface="DejaVu Sans"/>
              </a:rPr>
              <a:t>03</a:t>
            </a:r>
          </a:p>
        </p:txBody>
      </p:sp>
      <p:sp>
        <p:nvSpPr>
          <p:cNvPr id="14" name="SAM-trained teacher">
            <a:extLst xmlns:a="http://schemas.openxmlformats.org/drawingml/2006/main">
              <a:ext uri="{FF2B5EF4-FFF2-40B4-BE49-F238E27FC236}">
                <a16:creationId xmlns:a16="http://schemas.microsoft.com/office/drawing/2014/main" id="{DA15A405-72CA-4C72-9361-08109B0EA619}"/>
              </a:ext>
            </a:extLst>
          </p:cNvPr>
          <p:cNvSpPr>
            <a:spLocks xmlns:a="http://schemas.openxmlformats.org/drawingml/2006/main" noGrp="1"/>
          </p:cNvSpPr>
          <p:nvPr/>
        </p:nvSpPr>
        <p:spPr>
          <a:xfrm xmlns:a="http://schemas.openxmlformats.org/drawingml/2006/main">
            <a:off x="1428750" y="395287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B38"/>
                </a:solidFill>
                <a:latin typeface="DejaVu Sans"/>
                <a:ea typeface="DejaVu Sans"/>
                <a:cs typeface="DejaVu Sans"/>
              </a:defRPr>
            </a:defPPr>
            <a:lvl1pPr algn="l">
              <a:defRPr sz="2025" b="1">
                <a:solidFill>
                  <a:srgbClr val="202B38"/>
                </a:solidFill>
                <a:latin typeface="DejaVu Sans"/>
                <a:ea typeface="DejaVu Sans"/>
                <a:cs typeface="DejaVu Sans"/>
              </a:defRPr>
            </a:lvl1pPr>
            <a:lvl2pPr algn="l">
              <a:defRPr sz="2025" b="1">
                <a:solidFill>
                  <a:srgbClr val="202B38"/>
                </a:solidFill>
                <a:latin typeface="DejaVu Sans"/>
                <a:ea typeface="DejaVu Sans"/>
                <a:cs typeface="DejaVu Sans"/>
              </a:defRPr>
            </a:lvl2pPr>
            <a:lvl3pPr algn="l">
              <a:defRPr sz="2025" b="1">
                <a:solidFill>
                  <a:srgbClr val="202B38"/>
                </a:solidFill>
                <a:latin typeface="DejaVu Sans"/>
                <a:ea typeface="DejaVu Sans"/>
                <a:cs typeface="DejaVu Sans"/>
              </a:defRPr>
            </a:lvl3pPr>
            <a:lvl4pPr algn="l">
              <a:defRPr sz="2025" b="1">
                <a:solidFill>
                  <a:srgbClr val="202B38"/>
                </a:solidFill>
                <a:latin typeface="DejaVu Sans"/>
                <a:ea typeface="DejaVu Sans"/>
                <a:cs typeface="DejaVu Sans"/>
              </a:defRPr>
            </a:lvl4pPr>
            <a:lvl5pPr algn="l">
              <a:defRPr sz="2025" b="1">
                <a:solidFill>
                  <a:srgbClr val="202B38"/>
                </a:solidFill>
                <a:latin typeface="DejaVu Sans"/>
                <a:ea typeface="DejaVu Sans"/>
                <a:cs typeface="DejaVu Sans"/>
              </a:defRPr>
            </a:lvl5pPr>
            <a:lvl6pPr algn="l">
              <a:defRPr sz="2025" b="1">
                <a:solidFill>
                  <a:srgbClr val="202B38"/>
                </a:solidFill>
                <a:latin typeface="DejaVu Sans"/>
                <a:ea typeface="DejaVu Sans"/>
                <a:cs typeface="DejaVu Sans"/>
              </a:defRPr>
            </a:lvl6pPr>
            <a:lvl7pPr algn="l">
              <a:defRPr sz="2025" b="1">
                <a:solidFill>
                  <a:srgbClr val="202B38"/>
                </a:solidFill>
                <a:latin typeface="DejaVu Sans"/>
                <a:ea typeface="DejaVu Sans"/>
                <a:cs typeface="DejaVu Sans"/>
              </a:defRPr>
            </a:lvl7pPr>
            <a:lvl8pPr algn="l">
              <a:defRPr sz="2025" b="1">
                <a:solidFill>
                  <a:srgbClr val="202B38"/>
                </a:solidFill>
                <a:latin typeface="DejaVu Sans"/>
                <a:ea typeface="DejaVu Sans"/>
                <a:cs typeface="DejaVu Sans"/>
              </a:defRPr>
            </a:lvl8pPr>
            <a:lvl9pPr algn="l">
              <a:defRPr sz="2025" b="1">
                <a:solidFill>
                  <a:srgbClr val="202B38"/>
                </a:solidFill>
                <a:latin typeface="DejaVu Sans"/>
                <a:ea typeface="DejaVu Sans"/>
                <a:cs typeface="DejaVu Sans"/>
              </a:defRPr>
            </a:lvl9pPr>
          </a:lstStyle>
          <a:p xmlns:a="http://schemas.openxmlformats.org/drawingml/2006/main">
            <a:pPr algn="l">
              <a:defRPr sz="2025" b="1">
                <a:solidFill>
                  <a:srgbClr val="202B38"/>
                </a:solidFill>
                <a:latin typeface="DejaVu Sans"/>
                <a:ea typeface="DejaVu Sans"/>
                <a:cs typeface="DejaVu Sans"/>
              </a:defRPr>
            </a:pPr>
            <a:r>
              <a:rPr sz="2025" b="1">
                <a:solidFill>
                  <a:srgbClr val="202B38"/>
                </a:solidFill>
                <a:latin typeface="DejaVu Sans"/>
                <a:ea typeface="DejaVu Sans"/>
                <a:cs typeface="DejaVu Sans"/>
              </a:rPr>
              <a:t>SAM-trained teacher</a:t>
            </a:r>
          </a:p>
        </p:txBody>
      </p:sp>
      <p:sp>
        <p:nvSpPr>
          <p:cNvPr id="15" name="The base method uses SAM with a long-tail loss to encourage flatt">
            <a:extLst xmlns:a="http://schemas.openxmlformats.org/drawingml/2006/main">
              <a:ext uri="{FF2B5EF4-FFF2-40B4-BE49-F238E27FC236}">
                <a16:creationId xmlns:a16="http://schemas.microsoft.com/office/drawing/2014/main" id="{FD398DC8-A41D-44D0-ACBE-7D3C6252834D}"/>
              </a:ext>
            </a:extLst>
          </p:cNvPr>
          <p:cNvSpPr>
            <a:spLocks xmlns:a="http://schemas.openxmlformats.org/drawingml/2006/main" noGrp="1"/>
          </p:cNvSpPr>
          <p:nvPr/>
        </p:nvSpPr>
        <p:spPr>
          <a:xfrm xmlns:a="http://schemas.openxmlformats.org/drawingml/2006/main">
            <a:off x="5143500" y="3952875"/>
            <a:ext cx="638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The base method uses SAM with a long-tail loss to encourage flatter minima and lower-rank teacher features.</a:t>
            </a:r>
          </a:p>
        </p:txBody>
      </p:sp>
      <p:sp>
        <p:nvSpPr>
          <p:cNvPr id="16" name="L = ½ CE(f_CLS(x), y) + ½ DRW(f_DIST(x), y_t)">
            <a:extLst xmlns:a="http://schemas.openxmlformats.org/drawingml/2006/main">
              <a:ext uri="{FF2B5EF4-FFF2-40B4-BE49-F238E27FC236}">
                <a16:creationId xmlns:a16="http://schemas.microsoft.com/office/drawing/2014/main" id="{ADC123D0-C322-450D-A603-E8E79EC23394}"/>
              </a:ext>
            </a:extLst>
          </p:cNvPr>
          <p:cNvSpPr>
            <a:spLocks xmlns:a="http://schemas.openxmlformats.org/drawingml/2006/main" noGrp="1"/>
          </p:cNvSpPr>
          <p:nvPr/>
        </p:nvSpPr>
        <p:spPr>
          <a:xfrm xmlns:a="http://schemas.openxmlformats.org/drawingml/2006/main">
            <a:off x="571500" y="52959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D5DD2"/>
                </a:solidFill>
                <a:latin typeface="DejaVu Sans"/>
                <a:ea typeface="DejaVu Sans"/>
                <a:cs typeface="DejaVu Sans"/>
              </a:defRPr>
            </a:defPPr>
            <a:lvl1pPr algn="l">
              <a:defRPr sz="2325" b="1">
                <a:solidFill>
                  <a:srgbClr val="3D5DD2"/>
                </a:solidFill>
                <a:latin typeface="DejaVu Sans"/>
                <a:ea typeface="DejaVu Sans"/>
                <a:cs typeface="DejaVu Sans"/>
              </a:defRPr>
            </a:lvl1pPr>
            <a:lvl2pPr algn="l">
              <a:defRPr sz="2325" b="1">
                <a:solidFill>
                  <a:srgbClr val="3D5DD2"/>
                </a:solidFill>
                <a:latin typeface="DejaVu Sans"/>
                <a:ea typeface="DejaVu Sans"/>
                <a:cs typeface="DejaVu Sans"/>
              </a:defRPr>
            </a:lvl2pPr>
            <a:lvl3pPr algn="l">
              <a:defRPr sz="2325" b="1">
                <a:solidFill>
                  <a:srgbClr val="3D5DD2"/>
                </a:solidFill>
                <a:latin typeface="DejaVu Sans"/>
                <a:ea typeface="DejaVu Sans"/>
                <a:cs typeface="DejaVu Sans"/>
              </a:defRPr>
            </a:lvl3pPr>
            <a:lvl4pPr algn="l">
              <a:defRPr sz="2325" b="1">
                <a:solidFill>
                  <a:srgbClr val="3D5DD2"/>
                </a:solidFill>
                <a:latin typeface="DejaVu Sans"/>
                <a:ea typeface="DejaVu Sans"/>
                <a:cs typeface="DejaVu Sans"/>
              </a:defRPr>
            </a:lvl4pPr>
            <a:lvl5pPr algn="l">
              <a:defRPr sz="2325" b="1">
                <a:solidFill>
                  <a:srgbClr val="3D5DD2"/>
                </a:solidFill>
                <a:latin typeface="DejaVu Sans"/>
                <a:ea typeface="DejaVu Sans"/>
                <a:cs typeface="DejaVu Sans"/>
              </a:defRPr>
            </a:lvl5pPr>
            <a:lvl6pPr algn="l">
              <a:defRPr sz="2325" b="1">
                <a:solidFill>
                  <a:srgbClr val="3D5DD2"/>
                </a:solidFill>
                <a:latin typeface="DejaVu Sans"/>
                <a:ea typeface="DejaVu Sans"/>
                <a:cs typeface="DejaVu Sans"/>
              </a:defRPr>
            </a:lvl6pPr>
            <a:lvl7pPr algn="l">
              <a:defRPr sz="2325" b="1">
                <a:solidFill>
                  <a:srgbClr val="3D5DD2"/>
                </a:solidFill>
                <a:latin typeface="DejaVu Sans"/>
                <a:ea typeface="DejaVu Sans"/>
                <a:cs typeface="DejaVu Sans"/>
              </a:defRPr>
            </a:lvl7pPr>
            <a:lvl8pPr algn="l">
              <a:defRPr sz="2325" b="1">
                <a:solidFill>
                  <a:srgbClr val="3D5DD2"/>
                </a:solidFill>
                <a:latin typeface="DejaVu Sans"/>
                <a:ea typeface="DejaVu Sans"/>
                <a:cs typeface="DejaVu Sans"/>
              </a:defRPr>
            </a:lvl8pPr>
            <a:lvl9pPr algn="l">
              <a:defRPr sz="2325" b="1">
                <a:solidFill>
                  <a:srgbClr val="3D5DD2"/>
                </a:solidFill>
                <a:latin typeface="DejaVu Sans"/>
                <a:ea typeface="DejaVu Sans"/>
                <a:cs typeface="DejaVu Sans"/>
              </a:defRPr>
            </a:lvl9pPr>
          </a:lstStyle>
          <a:p xmlns:a="http://schemas.openxmlformats.org/drawingml/2006/main">
            <a:pPr algn="l">
              <a:defRPr sz="2325" b="1">
                <a:solidFill>
                  <a:srgbClr val="3D5DD2"/>
                </a:solidFill>
                <a:latin typeface="DejaVu Sans"/>
                <a:ea typeface="DejaVu Sans"/>
                <a:cs typeface="DejaVu Sans"/>
              </a:defRPr>
            </a:pPr>
            <a:r>
              <a:rPr sz="2325" b="1">
                <a:solidFill>
                  <a:srgbClr val="3D5DD2"/>
                </a:solidFill>
                <a:latin typeface="DejaVu Sans"/>
                <a:ea typeface="DejaVu Sans"/>
                <a:cs typeface="DejaVu Sans"/>
              </a:rPr>
              <a:t>L = ½ CE(f_CLS(x), y) + ½ DRW(f_DIST(x), y_t)</a:t>
            </a:r>
          </a:p>
        </p:txBody>
      </p:sp>
      <p:sp>
        <p:nvSpPr>
          <p:cNvPr id="17" name="The method aims for complementary head- and tail-class behavior.">
            <a:extLst xmlns:a="http://schemas.openxmlformats.org/drawingml/2006/main">
              <a:ext uri="{FF2B5EF4-FFF2-40B4-BE49-F238E27FC236}">
                <a16:creationId xmlns:a16="http://schemas.microsoft.com/office/drawing/2014/main" id="{483B8B3E-C4A1-4BE3-BB02-2CA41B1BEC48}"/>
              </a:ext>
            </a:extLst>
          </p:cNvPr>
          <p:cNvSpPr>
            <a:spLocks xmlns:a="http://schemas.openxmlformats.org/drawingml/2006/main" noGrp="1"/>
          </p:cNvSpPr>
          <p:nvPr/>
        </p:nvSpPr>
        <p:spPr>
          <a:xfrm xmlns:a="http://schemas.openxmlformats.org/drawingml/2006/main">
            <a:off x="571500" y="580072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07C"/>
                </a:solidFill>
                <a:latin typeface="DejaVu Sans"/>
                <a:ea typeface="DejaVu Sans"/>
                <a:cs typeface="DejaVu Sans"/>
              </a:defRPr>
            </a:defPPr>
            <a:lvl1pPr algn="l">
              <a:defRPr sz="1575" b="0">
                <a:solidFill>
                  <a:srgbClr val="64707C"/>
                </a:solidFill>
                <a:latin typeface="DejaVu Sans"/>
                <a:ea typeface="DejaVu Sans"/>
                <a:cs typeface="DejaVu Sans"/>
              </a:defRPr>
            </a:lvl1pPr>
            <a:lvl2pPr algn="l">
              <a:defRPr sz="1575" b="0">
                <a:solidFill>
                  <a:srgbClr val="64707C"/>
                </a:solidFill>
                <a:latin typeface="DejaVu Sans"/>
                <a:ea typeface="DejaVu Sans"/>
                <a:cs typeface="DejaVu Sans"/>
              </a:defRPr>
            </a:lvl2pPr>
            <a:lvl3pPr algn="l">
              <a:defRPr sz="1575" b="0">
                <a:solidFill>
                  <a:srgbClr val="64707C"/>
                </a:solidFill>
                <a:latin typeface="DejaVu Sans"/>
                <a:ea typeface="DejaVu Sans"/>
                <a:cs typeface="DejaVu Sans"/>
              </a:defRPr>
            </a:lvl3pPr>
            <a:lvl4pPr algn="l">
              <a:defRPr sz="1575" b="0">
                <a:solidFill>
                  <a:srgbClr val="64707C"/>
                </a:solidFill>
                <a:latin typeface="DejaVu Sans"/>
                <a:ea typeface="DejaVu Sans"/>
                <a:cs typeface="DejaVu Sans"/>
              </a:defRPr>
            </a:lvl4pPr>
            <a:lvl5pPr algn="l">
              <a:defRPr sz="1575" b="0">
                <a:solidFill>
                  <a:srgbClr val="64707C"/>
                </a:solidFill>
                <a:latin typeface="DejaVu Sans"/>
                <a:ea typeface="DejaVu Sans"/>
                <a:cs typeface="DejaVu Sans"/>
              </a:defRPr>
            </a:lvl5pPr>
            <a:lvl6pPr algn="l">
              <a:defRPr sz="1575" b="0">
                <a:solidFill>
                  <a:srgbClr val="64707C"/>
                </a:solidFill>
                <a:latin typeface="DejaVu Sans"/>
                <a:ea typeface="DejaVu Sans"/>
                <a:cs typeface="DejaVu Sans"/>
              </a:defRPr>
            </a:lvl6pPr>
            <a:lvl7pPr algn="l">
              <a:defRPr sz="1575" b="0">
                <a:solidFill>
                  <a:srgbClr val="64707C"/>
                </a:solidFill>
                <a:latin typeface="DejaVu Sans"/>
                <a:ea typeface="DejaVu Sans"/>
                <a:cs typeface="DejaVu Sans"/>
              </a:defRPr>
            </a:lvl7pPr>
            <a:lvl8pPr algn="l">
              <a:defRPr sz="1575" b="0">
                <a:solidFill>
                  <a:srgbClr val="64707C"/>
                </a:solidFill>
                <a:latin typeface="DejaVu Sans"/>
                <a:ea typeface="DejaVu Sans"/>
                <a:cs typeface="DejaVu Sans"/>
              </a:defRPr>
            </a:lvl8pPr>
            <a:lvl9pPr algn="l">
              <a:defRPr sz="1575" b="0">
                <a:solidFill>
                  <a:srgbClr val="64707C"/>
                </a:solidFill>
                <a:latin typeface="DejaVu Sans"/>
                <a:ea typeface="DejaVu Sans"/>
                <a:cs typeface="DejaVu Sans"/>
              </a:defRPr>
            </a:lvl9pPr>
          </a:lstStyle>
          <a:p xmlns:a="http://schemas.openxmlformats.org/drawingml/2006/main">
            <a:pPr algn="l">
              <a:defRPr sz="1575" b="0">
                <a:solidFill>
                  <a:srgbClr val="64707C"/>
                </a:solidFill>
                <a:latin typeface="DejaVu Sans"/>
                <a:ea typeface="DejaVu Sans"/>
                <a:cs typeface="DejaVu Sans"/>
              </a:defRPr>
            </a:pPr>
            <a:r>
              <a:rPr sz="1575" b="0">
                <a:solidFill>
                  <a:srgbClr val="64707C"/>
                </a:solidFill>
                <a:latin typeface="DejaVu Sans"/>
                <a:ea typeface="DejaVu Sans"/>
                <a:cs typeface="DejaVu Sans"/>
              </a:rPr>
              <a:t>The method aims for complementary head- and tail-class behavior.</a:t>
            </a:r>
          </a:p>
        </p:txBody>
      </p:sp>
    </p:spTree>
    <p:extLst>
      <p:ext uri="{BB962C8B-B14F-4D97-AF65-F5344CB8AC3E}">
        <p14:creationId xmlns:p14="http://schemas.microsoft.com/office/powerpoint/2010/main" val="2139494549"/>
      </p:ext>
    </p:extLst>
  </p:cSld>
</p:sld>
</file>

<file path=ppt/slides/slide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EXPERIMENTAL SETUP">
            <a:extLst xmlns:a="http://schemas.openxmlformats.org/drawingml/2006/main">
              <a:ext uri="{FF2B5EF4-FFF2-40B4-BE49-F238E27FC236}">
                <a16:creationId xmlns:a16="http://schemas.microsoft.com/office/drawing/2014/main" id="{68EE721B-8C74-496A-9588-0EBD900738B1}"/>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EXPERIMENTAL SETUP</a:t>
            </a:r>
          </a:p>
        </p:txBody>
      </p:sp>
      <p:sp>
        <p:nvSpPr>
          <p:cNvPr id="3" name="Training budgets and comparison limits">
            <a:extLst xmlns:a="http://schemas.openxmlformats.org/drawingml/2006/main">
              <a:ext uri="{FF2B5EF4-FFF2-40B4-BE49-F238E27FC236}">
                <a16:creationId xmlns:a16="http://schemas.microsoft.com/office/drawing/2014/main" id="{CABF57BC-6DC2-4250-903D-8E82A3D98762}"/>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Training budgets and comparison limits</a:t>
            </a:r>
          </a:p>
        </p:txBody>
      </p:sp>
      <p:sp>
        <p:nvSpPr>
          <p:cNvPr id="4" name="">
            <a:extLst xmlns:a="http://schemas.openxmlformats.org/drawingml/2006/main">
              <a:ext uri="{FF2B5EF4-FFF2-40B4-BE49-F238E27FC236}">
                <a16:creationId xmlns:a16="http://schemas.microsoft.com/office/drawing/2014/main" id="{6646CD84-E8B2-43F8-ACB9-62E407B36421}"/>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2933C7B0-5DFA-4B3D-95FD-D2951AFF02AA}"/>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09 / 15">
            <a:extLst xmlns:a="http://schemas.openxmlformats.org/drawingml/2006/main">
              <a:ext uri="{FF2B5EF4-FFF2-40B4-BE49-F238E27FC236}">
                <a16:creationId xmlns:a16="http://schemas.microsoft.com/office/drawing/2014/main" id="{2D400F08-719F-4CAC-9685-2DE3D43FFB8C}"/>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09 / 15</a:t>
            </a:r>
          </a:p>
        </p:txBody>
      </p:sp>
      <p:graphicFrame>
        <p:nvGraphicFramePr>
          <p:cNvPr id="7" name="">
            <a:extLst xmlns:a="http://schemas.openxmlformats.org/drawingml/2006/main">
              <a:ext uri="{FF2B5EF4-FFF2-40B4-BE49-F238E27FC236}">
                <a16:creationId xmlns:a16="http://schemas.microsoft.com/office/drawing/2014/main" id="{845CA4A8-488D-444E-95E5-66F151F6387F}"/>
              </a:ext>
            </a:extLst>
          </p:cNvPr>
          <p:cNvGraphicFramePr/>
          <p:nvPr/>
        </p:nvGraphicFramePr>
        <p:xfrm>
          <a:off xmlns:a="http://schemas.openxmlformats.org/drawingml/2006/main" x="571500" y="1714500"/>
          <a:ext xmlns:a="http://schemas.openxmlformats.org/drawingml/2006/main" cx="11049000" cy="2905125"/>
        </p:xfrm>
        <a:graphic xmlns:a="http://schemas.openxmlformats.org/drawingml/2006/main">
          <a:graphicData uri="http://schemas.openxmlformats.org/drawingml/2006/table">
            <a:tbl>
              <a:tblPr/>
              <a:tblGrid>
                <a:gridCol w="4191000"/>
                <a:gridCol w="3429000"/>
                <a:gridCol w="3429000"/>
              </a:tblGrid>
              <a:tr h="581025">
                <a:tc>
                  <a:txBody>
                    <a:bodyPr/>
                    <a:lstStyle/>
                    <a:p>
                      <a:pPr algn="l"/>
                      <a:r>
                        <a:rPr sz="1800" b="1">
                          <a:solidFill>
                            <a:srgbClr val="FFFFFF"/>
                          </a:solidFill>
                          <a:latin typeface="DejaVu Sans"/>
                          <a:ea typeface="DejaVu Sans"/>
                          <a:cs typeface="DejaVu Sans"/>
                        </a:rPr>
                        <a:t>Model</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800" b="1">
                          <a:solidFill>
                            <a:srgbClr val="FFFFFF"/>
                          </a:solidFill>
                          <a:latin typeface="DejaVu Sans"/>
                          <a:ea typeface="DejaVu Sans"/>
                          <a:cs typeface="DejaVu Sans"/>
                        </a:rPr>
                        <a:t>CIFAR-LT epochs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800" b="1">
                          <a:solidFill>
                            <a:srgbClr val="FFFFFF"/>
                          </a:solidFill>
                          <a:latin typeface="DejaVu Sans"/>
                          <a:ea typeface="DejaVu Sans"/>
                          <a:cs typeface="DejaVu Sans"/>
                        </a:rPr>
                        <a:t>ImageNet-LT epochs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581025">
                <a:tc>
                  <a:txBody>
                    <a:bodyPr/>
                    <a:lstStyle/>
                    <a:p>
                      <a:pPr algn="l"/>
                      <a:r>
                        <a:rPr sz="1800" b="0">
                          <a:solidFill>
                            <a:srgbClr val="202B38"/>
                          </a:solidFill>
                          <a:latin typeface="DejaVu Sans"/>
                          <a:ea typeface="DejaVu Sans"/>
                          <a:cs typeface="DejaVu Sans"/>
                        </a:rPr>
                        <a:t>ResNet-32</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800"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800" b="0">
                          <a:solidFill>
                            <a:srgbClr val="202B38"/>
                          </a:solidFill>
                          <a:latin typeface="DejaVu Sans"/>
                          <a:ea typeface="DejaVu Sans"/>
                          <a:cs typeface="DejaVu Sans"/>
                        </a:rPr>
                        <a:t>1,400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81025">
                <a:tc>
                  <a:txBody>
                    <a:bodyPr/>
                    <a:lstStyle/>
                    <a:p>
                      <a:pPr algn="l"/>
                      <a:r>
                        <a:rPr sz="1800" b="0">
                          <a:solidFill>
                            <a:srgbClr val="202B38"/>
                          </a:solidFill>
                          <a:latin typeface="DejaVu Sans"/>
                          <a:ea typeface="DejaVu Sans"/>
                          <a:cs typeface="DejaVu Sans"/>
                        </a:rPr>
                        <a:t>ViT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800"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800" b="0">
                          <a:solidFill>
                            <a:srgbClr val="202B38"/>
                          </a:solidFill>
                          <a:latin typeface="DejaVu Sans"/>
                          <a:ea typeface="DejaVu Sans"/>
                          <a:cs typeface="DejaVu Sans"/>
                        </a:rPr>
                        <a:t>1,400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r h="581025">
                <a:tc>
                  <a:txBody>
                    <a:bodyPr/>
                    <a:lstStyle/>
                    <a:p>
                      <a:pPr algn="l"/>
                      <a:r>
                        <a:rPr sz="1800" b="0">
                          <a:solidFill>
                            <a:srgbClr val="202B38"/>
                          </a:solidFill>
                          <a:latin typeface="DejaVu Sans"/>
                          <a:ea typeface="DejaVu Sans"/>
                          <a:cs typeface="DejaVu Sans"/>
                        </a:rPr>
                        <a:t>DeiT-III</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800"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800"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81025">
                <a:tc>
                  <a:txBody>
                    <a:bodyPr/>
                    <a:lstStyle/>
                    <a:p>
                      <a:pPr algn="l"/>
                      <a:r>
                        <a:rPr sz="1800" b="0">
                          <a:solidFill>
                            <a:srgbClr val="202B38"/>
                          </a:solidFill>
                          <a:latin typeface="DejaVu Sans"/>
                          <a:ea typeface="DejaVu Sans"/>
                          <a:cs typeface="DejaVu Sans"/>
                        </a:rPr>
                        <a:t>DeiT-Final</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800" b="0">
                          <a:solidFill>
                            <a:srgbClr val="202B38"/>
                          </a:solidFill>
                          <a:latin typeface="DejaVu Sans"/>
                          <a:ea typeface="DejaVu Sans"/>
                          <a:cs typeface="DejaVu Sans"/>
                        </a:rPr>
                        <a:t>1,200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800" b="0">
                          <a:solidFill>
                            <a:srgbClr val="202B38"/>
                          </a:solidFill>
                          <a:latin typeface="DejaVu Sans"/>
                          <a:ea typeface="DejaVu Sans"/>
                          <a:cs typeface="DejaVu Sans"/>
                        </a:rPr>
                        <a:t>1,400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bl>
          </a:graphicData>
        </a:graphic>
      </p:graphicFrame>
      <p:sp>
        <p:nvSpPr>
          <p:cNvPr id="8" name="Shared baseline settings">
            <a:extLst xmlns:a="http://schemas.openxmlformats.org/drawingml/2006/main">
              <a:ext uri="{FF2B5EF4-FFF2-40B4-BE49-F238E27FC236}">
                <a16:creationId xmlns:a16="http://schemas.microsoft.com/office/drawing/2014/main" id="{DAD7AEA5-473B-4C52-8BE1-B5228EBD8733}"/>
              </a:ext>
            </a:extLst>
          </p:cNvPr>
          <p:cNvSpPr>
            <a:spLocks xmlns:a="http://schemas.openxmlformats.org/drawingml/2006/main" noGrp="1"/>
          </p:cNvSpPr>
          <p:nvPr/>
        </p:nvSpPr>
        <p:spPr>
          <a:xfrm xmlns:a="http://schemas.openxmlformats.org/drawingml/2006/main">
            <a:off x="571500" y="4810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Shared baseline settings</a:t>
            </a:r>
          </a:p>
        </p:txBody>
      </p:sp>
      <p:sp>
        <p:nvSpPr>
          <p:cNvPr id="9" name="The report specifies batch size 64 and seed 42 for the baselines ">
            <a:extLst xmlns:a="http://schemas.openxmlformats.org/drawingml/2006/main">
              <a:ext uri="{FF2B5EF4-FFF2-40B4-BE49-F238E27FC236}">
                <a16:creationId xmlns:a16="http://schemas.microsoft.com/office/drawing/2014/main" id="{45680C3C-AA8F-4231-AB1F-6A259C7BF338}"/>
              </a:ext>
            </a:extLst>
          </p:cNvPr>
          <p:cNvSpPr>
            <a:spLocks xmlns:a="http://schemas.openxmlformats.org/drawingml/2006/main" noGrp="1"/>
          </p:cNvSpPr>
          <p:nvPr/>
        </p:nvSpPr>
        <p:spPr>
          <a:xfrm xmlns:a="http://schemas.openxmlformats.org/drawingml/2006/main">
            <a:off x="571500" y="5257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The report specifies batch size 64 and seed 42 for the baselines on a Kaggle GPU.</a:t>
            </a:r>
          </a:p>
        </p:txBody>
      </p:sp>
      <p:sp>
        <p:nvSpPr>
          <p:cNvPr id="10" name="Unequal compute">
            <a:extLst xmlns:a="http://schemas.openxmlformats.org/drawingml/2006/main">
              <a:ext uri="{FF2B5EF4-FFF2-40B4-BE49-F238E27FC236}">
                <a16:creationId xmlns:a16="http://schemas.microsoft.com/office/drawing/2014/main" id="{8C4FF38E-AE7B-4E33-93F4-7D81AB7CFDD3}"/>
              </a:ext>
            </a:extLst>
          </p:cNvPr>
          <p:cNvSpPr>
            <a:spLocks xmlns:a="http://schemas.openxmlformats.org/drawingml/2006/main" noGrp="1"/>
          </p:cNvSpPr>
          <p:nvPr/>
        </p:nvSpPr>
        <p:spPr>
          <a:xfrm xmlns:a="http://schemas.openxmlformats.org/drawingml/2006/main">
            <a:off x="6286500" y="4810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Unequal compute</a:t>
            </a:r>
          </a:p>
        </p:txBody>
      </p:sp>
      <p:sp>
        <p:nvSpPr>
          <p:cNvPr id="11" name="On CIFAR, DeiT-Final receives 12× the epochs. Architecture effect">
            <a:extLst xmlns:a="http://schemas.openxmlformats.org/drawingml/2006/main">
              <a:ext uri="{FF2B5EF4-FFF2-40B4-BE49-F238E27FC236}">
                <a16:creationId xmlns:a16="http://schemas.microsoft.com/office/drawing/2014/main" id="{B50C1F27-29E4-4ED9-8815-4C729940EFF7}"/>
              </a:ext>
            </a:extLst>
          </p:cNvPr>
          <p:cNvSpPr>
            <a:spLocks xmlns:a="http://schemas.openxmlformats.org/drawingml/2006/main" noGrp="1"/>
          </p:cNvSpPr>
          <p:nvPr/>
        </p:nvSpPr>
        <p:spPr>
          <a:xfrm xmlns:a="http://schemas.openxmlformats.org/drawingml/2006/main">
            <a:off x="6286500" y="5257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On CIFAR, DeiT-Final receives 12× the epochs. Architecture effects and training-budget effects remain confounded.</a:t>
            </a:r>
          </a:p>
        </p:txBody>
      </p:sp>
    </p:spTree>
    <p:extLst>
      <p:ext uri="{BB962C8B-B14F-4D97-AF65-F5344CB8AC3E}">
        <p14:creationId xmlns:p14="http://schemas.microsoft.com/office/powerpoint/2010/main" val="1015825676"/>
      </p:ext>
    </p:extLst>
  </p:cSld>
</p:sld>
</file>

<file path=ppt/slides/slide1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AA1B3EA9-1AC9-478B-A950-F081D20E1A9C}"/>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Reported top-1 accuracy across five settings">
            <a:extLst xmlns:a="http://schemas.openxmlformats.org/drawingml/2006/main">
              <a:ext uri="{FF2B5EF4-FFF2-40B4-BE49-F238E27FC236}">
                <a16:creationId xmlns:a16="http://schemas.microsoft.com/office/drawing/2014/main" id="{76C4F129-AB00-405A-B5D4-8125F4F9CD8A}"/>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Reported top-1 accuracy across five settings</a:t>
            </a:r>
          </a:p>
        </p:txBody>
      </p:sp>
      <p:sp>
        <p:nvSpPr>
          <p:cNvPr id="4" name="">
            <a:extLst xmlns:a="http://schemas.openxmlformats.org/drawingml/2006/main">
              <a:ext uri="{FF2B5EF4-FFF2-40B4-BE49-F238E27FC236}">
                <a16:creationId xmlns:a16="http://schemas.microsoft.com/office/drawing/2014/main" id="{C9B35C08-1094-4277-A232-FD5993CA1BCE}"/>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Source: updated report, Tables 2–6. Values as reported. Baseline ">
            <a:extLst xmlns:a="http://schemas.openxmlformats.org/drawingml/2006/main">
              <a:ext uri="{FF2B5EF4-FFF2-40B4-BE49-F238E27FC236}">
                <a16:creationId xmlns:a16="http://schemas.microsoft.com/office/drawing/2014/main" id="{F25AEC68-EE6F-455F-B3C7-4309B4B6DA1D}"/>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Source: updated report, Tables 2–6. Values as reported. Baseline provenance: workspace CSVs label values synthetic. Reported results need verification.</a:t>
            </a:r>
          </a:p>
        </p:txBody>
      </p:sp>
      <p:sp>
        <p:nvSpPr>
          <p:cNvPr id="6" name="10 / 15">
            <a:extLst xmlns:a="http://schemas.openxmlformats.org/drawingml/2006/main">
              <a:ext uri="{FF2B5EF4-FFF2-40B4-BE49-F238E27FC236}">
                <a16:creationId xmlns:a16="http://schemas.microsoft.com/office/drawing/2014/main" id="{A86DA778-9439-4A9D-8891-66683FDB5B8E}"/>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10 / 15</a:t>
            </a:r>
          </a:p>
        </p:txBody>
      </p:sp>
      <p:graphicFrame>
        <p:nvGraphicFramePr>
          <p:cNvPr id="7" name="">
            <a:extLst xmlns:a="http://schemas.openxmlformats.org/drawingml/2006/main">
              <a:ext uri="{FF2B5EF4-FFF2-40B4-BE49-F238E27FC236}">
                <a16:creationId xmlns:a16="http://schemas.microsoft.com/office/drawing/2014/main" id="{D6A13E1F-FA20-4D62-AB87-FAF4C2526015}"/>
              </a:ext>
            </a:extLst>
          </p:cNvPr>
          <p:cNvGraphicFramePr/>
          <p:nvPr/>
        </p:nvGraphicFramePr>
        <p:xfrm>
          <a:off xmlns:a="http://schemas.openxmlformats.org/drawingml/2006/main" x="571500" y="1714500"/>
          <a:ext xmlns:a="http://schemas.openxmlformats.org/drawingml/2006/main" cx="11049000" cy="3333750"/>
        </p:xfrm>
        <a:graphic xmlns:a="http://schemas.openxmlformats.org/drawingml/2006/main">
          <a:graphicData uri="http://schemas.openxmlformats.org/drawingml/2006/table">
            <a:tbl>
              <a:tblPr/>
              <a:tblGrid>
                <a:gridCol w="3143250"/>
                <a:gridCol w="2047875"/>
                <a:gridCol w="1762125"/>
                <a:gridCol w="2047875"/>
                <a:gridCol w="2047875"/>
              </a:tblGrid>
              <a:tr h="555625">
                <a:tc>
                  <a:txBody>
                    <a:bodyPr/>
                    <a:lstStyle/>
                    <a:p>
                      <a:pPr algn="l"/>
                      <a:r>
                        <a:rPr sz="1725" b="1">
                          <a:solidFill>
                            <a:srgbClr val="FFFFFF"/>
                          </a:solidFill>
                          <a:latin typeface="DejaVu Sans"/>
                          <a:ea typeface="DejaVu Sans"/>
                          <a:cs typeface="DejaVu Sans"/>
                        </a:rPr>
                        <a:t>Dataset / IF</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ResNet-32</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ViT</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DeiT-III</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DeiT-Final</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555625">
                <a:tc>
                  <a:txBody>
                    <a:bodyPr/>
                    <a:lstStyle/>
                    <a:p>
                      <a:pPr algn="l"/>
                      <a:r>
                        <a:rPr sz="1725" b="0">
                          <a:solidFill>
                            <a:srgbClr val="202B38"/>
                          </a:solidFill>
                          <a:latin typeface="DejaVu Sans"/>
                          <a:ea typeface="DejaVu Sans"/>
                          <a:cs typeface="DejaVu Sans"/>
                        </a:rPr>
                        <a:t>CIFAR-10 / 100</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74.5</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62.5</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59.0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78.3</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r h="555625">
                <a:tc>
                  <a:txBody>
                    <a:bodyPr/>
                    <a:lstStyle/>
                    <a:p>
                      <a:pPr algn="l"/>
                      <a:r>
                        <a:rPr sz="1725" b="0">
                          <a:solidFill>
                            <a:srgbClr val="202B38"/>
                          </a:solidFill>
                          <a:latin typeface="DejaVu Sans"/>
                          <a:ea typeface="DejaVu Sans"/>
                          <a:cs typeface="DejaVu Sans"/>
                        </a:rPr>
                        <a:t>CIFAR-10 / 50</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79.2</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70.0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68.1</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80.6</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r h="555625">
                <a:tc>
                  <a:txBody>
                    <a:bodyPr/>
                    <a:lstStyle/>
                    <a:p>
                      <a:pPr algn="l"/>
                      <a:r>
                        <a:rPr sz="1725" b="0">
                          <a:solidFill>
                            <a:srgbClr val="202B38"/>
                          </a:solidFill>
                          <a:latin typeface="DejaVu Sans"/>
                          <a:ea typeface="DejaVu Sans"/>
                          <a:cs typeface="DejaVu Sans"/>
                        </a:rPr>
                        <a:t>CIFAR-100 / 100</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38.2</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34.9</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38.0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46.8</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r h="555625">
                <a:tc>
                  <a:txBody>
                    <a:bodyPr/>
                    <a:lstStyle/>
                    <a:p>
                      <a:pPr algn="l"/>
                      <a:r>
                        <a:rPr sz="1725" b="0">
                          <a:solidFill>
                            <a:srgbClr val="202B38"/>
                          </a:solidFill>
                          <a:latin typeface="DejaVu Sans"/>
                          <a:ea typeface="DejaVu Sans"/>
                          <a:cs typeface="DejaVu Sans"/>
                        </a:rPr>
                        <a:t>CIFAR-100 / 50</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46.1</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38.9</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44.0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50.4</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r h="555625">
                <a:tc>
                  <a:txBody>
                    <a:bodyPr/>
                    <a:lstStyle/>
                    <a:p>
                      <a:pPr algn="l"/>
                      <a:r>
                        <a:rPr sz="1725" b="0">
                          <a:solidFill>
                            <a:srgbClr val="202B38"/>
                          </a:solidFill>
                          <a:latin typeface="DejaVu Sans"/>
                          <a:ea typeface="DejaVu Sans"/>
                          <a:cs typeface="DejaVu Sans"/>
                        </a:rPr>
                        <a:t>ImageNet-LT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41.3</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35.0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42.3</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46.5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bl>
          </a:graphicData>
        </a:graphic>
      </p:graphicFrame>
      <p:sp>
        <p:nvSpPr>
          <p:cNvPr id="8" name="DeiT-Final ranks first in the supplied report’s top-1 tables.">
            <a:extLst xmlns:a="http://schemas.openxmlformats.org/drawingml/2006/main">
              <a:ext uri="{FF2B5EF4-FFF2-40B4-BE49-F238E27FC236}">
                <a16:creationId xmlns:a16="http://schemas.microsoft.com/office/drawing/2014/main" id="{B64D40F8-60D3-48B5-B997-9982D3097AE1}"/>
              </a:ext>
            </a:extLst>
          </p:cNvPr>
          <p:cNvSpPr>
            <a:spLocks xmlns:a="http://schemas.openxmlformats.org/drawingml/2006/main" noGrp="1"/>
          </p:cNvSpPr>
          <p:nvPr/>
        </p:nvSpPr>
        <p:spPr>
          <a:xfrm xmlns:a="http://schemas.openxmlformats.org/drawingml/2006/main">
            <a:off x="571500" y="53340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3D5DD2"/>
                </a:solidFill>
                <a:latin typeface="DejaVu Sans"/>
                <a:ea typeface="DejaVu Sans"/>
                <a:cs typeface="DejaVu Sans"/>
              </a:defRPr>
            </a:defPPr>
            <a:lvl1pPr algn="l">
              <a:defRPr sz="2100" b="1">
                <a:solidFill>
                  <a:srgbClr val="3D5DD2"/>
                </a:solidFill>
                <a:latin typeface="DejaVu Sans"/>
                <a:ea typeface="DejaVu Sans"/>
                <a:cs typeface="DejaVu Sans"/>
              </a:defRPr>
            </a:lvl1pPr>
            <a:lvl2pPr algn="l">
              <a:defRPr sz="2100" b="1">
                <a:solidFill>
                  <a:srgbClr val="3D5DD2"/>
                </a:solidFill>
                <a:latin typeface="DejaVu Sans"/>
                <a:ea typeface="DejaVu Sans"/>
                <a:cs typeface="DejaVu Sans"/>
              </a:defRPr>
            </a:lvl2pPr>
            <a:lvl3pPr algn="l">
              <a:defRPr sz="2100" b="1">
                <a:solidFill>
                  <a:srgbClr val="3D5DD2"/>
                </a:solidFill>
                <a:latin typeface="DejaVu Sans"/>
                <a:ea typeface="DejaVu Sans"/>
                <a:cs typeface="DejaVu Sans"/>
              </a:defRPr>
            </a:lvl3pPr>
            <a:lvl4pPr algn="l">
              <a:defRPr sz="2100" b="1">
                <a:solidFill>
                  <a:srgbClr val="3D5DD2"/>
                </a:solidFill>
                <a:latin typeface="DejaVu Sans"/>
                <a:ea typeface="DejaVu Sans"/>
                <a:cs typeface="DejaVu Sans"/>
              </a:defRPr>
            </a:lvl4pPr>
            <a:lvl5pPr algn="l">
              <a:defRPr sz="2100" b="1">
                <a:solidFill>
                  <a:srgbClr val="3D5DD2"/>
                </a:solidFill>
                <a:latin typeface="DejaVu Sans"/>
                <a:ea typeface="DejaVu Sans"/>
                <a:cs typeface="DejaVu Sans"/>
              </a:defRPr>
            </a:lvl5pPr>
            <a:lvl6pPr algn="l">
              <a:defRPr sz="2100" b="1">
                <a:solidFill>
                  <a:srgbClr val="3D5DD2"/>
                </a:solidFill>
                <a:latin typeface="DejaVu Sans"/>
                <a:ea typeface="DejaVu Sans"/>
                <a:cs typeface="DejaVu Sans"/>
              </a:defRPr>
            </a:lvl6pPr>
            <a:lvl7pPr algn="l">
              <a:defRPr sz="2100" b="1">
                <a:solidFill>
                  <a:srgbClr val="3D5DD2"/>
                </a:solidFill>
                <a:latin typeface="DejaVu Sans"/>
                <a:ea typeface="DejaVu Sans"/>
                <a:cs typeface="DejaVu Sans"/>
              </a:defRPr>
            </a:lvl7pPr>
            <a:lvl8pPr algn="l">
              <a:defRPr sz="2100" b="1">
                <a:solidFill>
                  <a:srgbClr val="3D5DD2"/>
                </a:solidFill>
                <a:latin typeface="DejaVu Sans"/>
                <a:ea typeface="DejaVu Sans"/>
                <a:cs typeface="DejaVu Sans"/>
              </a:defRPr>
            </a:lvl8pPr>
            <a:lvl9pPr algn="l">
              <a:defRPr sz="2100" b="1">
                <a:solidFill>
                  <a:srgbClr val="3D5DD2"/>
                </a:solidFill>
                <a:latin typeface="DejaVu Sans"/>
                <a:ea typeface="DejaVu Sans"/>
                <a:cs typeface="DejaVu Sans"/>
              </a:defRPr>
            </a:lvl9pPr>
          </a:lstStyle>
          <a:p xmlns:a="http://schemas.openxmlformats.org/drawingml/2006/main">
            <a:pPr algn="l">
              <a:defRPr sz="2100" b="1">
                <a:solidFill>
                  <a:srgbClr val="3D5DD2"/>
                </a:solidFill>
                <a:latin typeface="DejaVu Sans"/>
                <a:ea typeface="DejaVu Sans"/>
                <a:cs typeface="DejaVu Sans"/>
              </a:defRPr>
            </a:pPr>
            <a:r>
              <a:rPr sz="2100" b="1">
                <a:solidFill>
                  <a:srgbClr val="3D5DD2"/>
                </a:solidFill>
                <a:latin typeface="DejaVu Sans"/>
                <a:ea typeface="DejaVu Sans"/>
                <a:cs typeface="DejaVu Sans"/>
              </a:rPr>
              <a:t>DeiT-Final ranks first in the supplied report’s top-1 tables.</a:t>
            </a:r>
          </a:p>
        </p:txBody>
      </p:sp>
      <p:sp>
        <p:nvSpPr>
          <p:cNvPr id="9" name="Lead over the best baseline: +3.8, +1.4, +8.6, +4.3 and +4.2 perc">
            <a:extLst xmlns:a="http://schemas.openxmlformats.org/drawingml/2006/main">
              <a:ext uri="{FF2B5EF4-FFF2-40B4-BE49-F238E27FC236}">
                <a16:creationId xmlns:a16="http://schemas.microsoft.com/office/drawing/2014/main" id="{018FE6FC-C047-46F9-938F-06F6EFDA5A82}"/>
              </a:ext>
            </a:extLst>
          </p:cNvPr>
          <p:cNvSpPr>
            <a:spLocks xmlns:a="http://schemas.openxmlformats.org/drawingml/2006/main" noGrp="1"/>
          </p:cNvSpPr>
          <p:nvPr/>
        </p:nvSpPr>
        <p:spPr>
          <a:xfrm xmlns:a="http://schemas.openxmlformats.org/drawingml/2006/main">
            <a:off x="571500" y="58102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07C"/>
                </a:solidFill>
                <a:latin typeface="DejaVu Sans"/>
                <a:ea typeface="DejaVu Sans"/>
                <a:cs typeface="DejaVu Sans"/>
              </a:defRPr>
            </a:defPPr>
            <a:lvl1pPr algn="l">
              <a:defRPr sz="1575" b="0">
                <a:solidFill>
                  <a:srgbClr val="64707C"/>
                </a:solidFill>
                <a:latin typeface="DejaVu Sans"/>
                <a:ea typeface="DejaVu Sans"/>
                <a:cs typeface="DejaVu Sans"/>
              </a:defRPr>
            </a:lvl1pPr>
            <a:lvl2pPr algn="l">
              <a:defRPr sz="1575" b="0">
                <a:solidFill>
                  <a:srgbClr val="64707C"/>
                </a:solidFill>
                <a:latin typeface="DejaVu Sans"/>
                <a:ea typeface="DejaVu Sans"/>
                <a:cs typeface="DejaVu Sans"/>
              </a:defRPr>
            </a:lvl2pPr>
            <a:lvl3pPr algn="l">
              <a:defRPr sz="1575" b="0">
                <a:solidFill>
                  <a:srgbClr val="64707C"/>
                </a:solidFill>
                <a:latin typeface="DejaVu Sans"/>
                <a:ea typeface="DejaVu Sans"/>
                <a:cs typeface="DejaVu Sans"/>
              </a:defRPr>
            </a:lvl3pPr>
            <a:lvl4pPr algn="l">
              <a:defRPr sz="1575" b="0">
                <a:solidFill>
                  <a:srgbClr val="64707C"/>
                </a:solidFill>
                <a:latin typeface="DejaVu Sans"/>
                <a:ea typeface="DejaVu Sans"/>
                <a:cs typeface="DejaVu Sans"/>
              </a:defRPr>
            </a:lvl4pPr>
            <a:lvl5pPr algn="l">
              <a:defRPr sz="1575" b="0">
                <a:solidFill>
                  <a:srgbClr val="64707C"/>
                </a:solidFill>
                <a:latin typeface="DejaVu Sans"/>
                <a:ea typeface="DejaVu Sans"/>
                <a:cs typeface="DejaVu Sans"/>
              </a:defRPr>
            </a:lvl5pPr>
            <a:lvl6pPr algn="l">
              <a:defRPr sz="1575" b="0">
                <a:solidFill>
                  <a:srgbClr val="64707C"/>
                </a:solidFill>
                <a:latin typeface="DejaVu Sans"/>
                <a:ea typeface="DejaVu Sans"/>
                <a:cs typeface="DejaVu Sans"/>
              </a:defRPr>
            </a:lvl6pPr>
            <a:lvl7pPr algn="l">
              <a:defRPr sz="1575" b="0">
                <a:solidFill>
                  <a:srgbClr val="64707C"/>
                </a:solidFill>
                <a:latin typeface="DejaVu Sans"/>
                <a:ea typeface="DejaVu Sans"/>
                <a:cs typeface="DejaVu Sans"/>
              </a:defRPr>
            </a:lvl7pPr>
            <a:lvl8pPr algn="l">
              <a:defRPr sz="1575" b="0">
                <a:solidFill>
                  <a:srgbClr val="64707C"/>
                </a:solidFill>
                <a:latin typeface="DejaVu Sans"/>
                <a:ea typeface="DejaVu Sans"/>
                <a:cs typeface="DejaVu Sans"/>
              </a:defRPr>
            </a:lvl8pPr>
            <a:lvl9pPr algn="l">
              <a:defRPr sz="1575" b="0">
                <a:solidFill>
                  <a:srgbClr val="64707C"/>
                </a:solidFill>
                <a:latin typeface="DejaVu Sans"/>
                <a:ea typeface="DejaVu Sans"/>
                <a:cs typeface="DejaVu Sans"/>
              </a:defRPr>
            </a:lvl9pPr>
          </a:lstStyle>
          <a:p xmlns:a="http://schemas.openxmlformats.org/drawingml/2006/main">
            <a:pPr algn="l">
              <a:defRPr sz="1575" b="0">
                <a:solidFill>
                  <a:srgbClr val="64707C"/>
                </a:solidFill>
                <a:latin typeface="DejaVu Sans"/>
                <a:ea typeface="DejaVu Sans"/>
                <a:cs typeface="DejaVu Sans"/>
              </a:defRPr>
            </a:pPr>
            <a:r>
              <a:rPr sz="1575" b="0">
                <a:solidFill>
                  <a:srgbClr val="64707C"/>
                </a:solidFill>
                <a:latin typeface="DejaVu Sans"/>
                <a:ea typeface="DejaVu Sans"/>
                <a:cs typeface="DejaVu Sans"/>
              </a:rPr>
              <a:t>Lead over the best baseline: +3.8, +1.4, +8.6, +4.3 and +4.2 percentage points.</a:t>
            </a:r>
          </a:p>
        </p:txBody>
      </p:sp>
    </p:spTree>
    <p:extLst>
      <p:ext uri="{BB962C8B-B14F-4D97-AF65-F5344CB8AC3E}">
        <p14:creationId xmlns:p14="http://schemas.microsoft.com/office/powerpoint/2010/main" val="1160881163"/>
      </p:ext>
    </p:extLst>
  </p:cSld>
</p:sld>
</file>

<file path=ppt/slides/slide1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43311661-8DEB-4A04-964A-BA3650046F61}"/>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CIFAR-10-LT: the reported tail gain is largest">
            <a:extLst xmlns:a="http://schemas.openxmlformats.org/drawingml/2006/main">
              <a:ext uri="{FF2B5EF4-FFF2-40B4-BE49-F238E27FC236}">
                <a16:creationId xmlns:a16="http://schemas.microsoft.com/office/drawing/2014/main" id="{4EF8C6FD-D2EF-4C9F-8B72-846AC1C1F90F}"/>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CIFAR-10-LT: the reported tail gain is largest</a:t>
            </a:r>
          </a:p>
        </p:txBody>
      </p:sp>
      <p:sp>
        <p:nvSpPr>
          <p:cNvPr id="4" name="">
            <a:extLst xmlns:a="http://schemas.openxmlformats.org/drawingml/2006/main">
              <a:ext uri="{FF2B5EF4-FFF2-40B4-BE49-F238E27FC236}">
                <a16:creationId xmlns:a16="http://schemas.microsoft.com/office/drawing/2014/main" id="{772957D5-D0D5-493E-9DDC-FAE878BA9D8D}"/>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Source: updated report, Tables 2–3. Values as reported. Baseline ">
            <a:extLst xmlns:a="http://schemas.openxmlformats.org/drawingml/2006/main">
              <a:ext uri="{FF2B5EF4-FFF2-40B4-BE49-F238E27FC236}">
                <a16:creationId xmlns:a16="http://schemas.microsoft.com/office/drawing/2014/main" id="{FCB29B12-0795-4A48-A500-E36D9CB03CFF}"/>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Source: updated report, Tables 2–3. Values as reported. Baseline provenance: workspace CSVs label values synthetic. Reported results need verification.</a:t>
            </a:r>
          </a:p>
        </p:txBody>
      </p:sp>
      <p:sp>
        <p:nvSpPr>
          <p:cNvPr id="6" name="11 / 15">
            <a:extLst xmlns:a="http://schemas.openxmlformats.org/drawingml/2006/main">
              <a:ext uri="{FF2B5EF4-FFF2-40B4-BE49-F238E27FC236}">
                <a16:creationId xmlns:a16="http://schemas.microsoft.com/office/drawing/2014/main" id="{F1585EE0-0227-45D0-8C34-41B8D7CA3709}"/>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11 / 15</a:t>
            </a:r>
          </a:p>
        </p:txBody>
      </p:sp>
      <p:sp>
        <p:nvSpPr>
          <p:cNvPr id="7" name="IF = 100, group accuracy (%)">
            <a:extLst xmlns:a="http://schemas.openxmlformats.org/drawingml/2006/main">
              <a:ext uri="{FF2B5EF4-FFF2-40B4-BE49-F238E27FC236}">
                <a16:creationId xmlns:a16="http://schemas.microsoft.com/office/drawing/2014/main" id="{43384DCF-BA97-4700-8624-F953A6EC6731}"/>
              </a:ext>
            </a:extLst>
          </p:cNvPr>
          <p:cNvSpPr>
            <a:spLocks xmlns:a="http://schemas.openxmlformats.org/drawingml/2006/main" noGrp="1"/>
          </p:cNvSpPr>
          <p:nvPr/>
        </p:nvSpPr>
        <p:spPr>
          <a:xfrm xmlns:a="http://schemas.openxmlformats.org/drawingml/2006/main">
            <a:off x="571500" y="1685925"/>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B38"/>
                </a:solidFill>
                <a:latin typeface="DejaVu Sans"/>
                <a:ea typeface="DejaVu Sans"/>
                <a:cs typeface="DejaVu Sans"/>
              </a:defRPr>
            </a:defPPr>
            <a:lvl1pPr algn="l">
              <a:defRPr sz="1875" b="1">
                <a:solidFill>
                  <a:srgbClr val="202B38"/>
                </a:solidFill>
                <a:latin typeface="DejaVu Sans"/>
                <a:ea typeface="DejaVu Sans"/>
                <a:cs typeface="DejaVu Sans"/>
              </a:defRPr>
            </a:lvl1pPr>
            <a:lvl2pPr algn="l">
              <a:defRPr sz="1875" b="1">
                <a:solidFill>
                  <a:srgbClr val="202B38"/>
                </a:solidFill>
                <a:latin typeface="DejaVu Sans"/>
                <a:ea typeface="DejaVu Sans"/>
                <a:cs typeface="DejaVu Sans"/>
              </a:defRPr>
            </a:lvl2pPr>
            <a:lvl3pPr algn="l">
              <a:defRPr sz="1875" b="1">
                <a:solidFill>
                  <a:srgbClr val="202B38"/>
                </a:solidFill>
                <a:latin typeface="DejaVu Sans"/>
                <a:ea typeface="DejaVu Sans"/>
                <a:cs typeface="DejaVu Sans"/>
              </a:defRPr>
            </a:lvl3pPr>
            <a:lvl4pPr algn="l">
              <a:defRPr sz="1875" b="1">
                <a:solidFill>
                  <a:srgbClr val="202B38"/>
                </a:solidFill>
                <a:latin typeface="DejaVu Sans"/>
                <a:ea typeface="DejaVu Sans"/>
                <a:cs typeface="DejaVu Sans"/>
              </a:defRPr>
            </a:lvl4pPr>
            <a:lvl5pPr algn="l">
              <a:defRPr sz="1875" b="1">
                <a:solidFill>
                  <a:srgbClr val="202B38"/>
                </a:solidFill>
                <a:latin typeface="DejaVu Sans"/>
                <a:ea typeface="DejaVu Sans"/>
                <a:cs typeface="DejaVu Sans"/>
              </a:defRPr>
            </a:lvl5pPr>
            <a:lvl6pPr algn="l">
              <a:defRPr sz="1875" b="1">
                <a:solidFill>
                  <a:srgbClr val="202B38"/>
                </a:solidFill>
                <a:latin typeface="DejaVu Sans"/>
                <a:ea typeface="DejaVu Sans"/>
                <a:cs typeface="DejaVu Sans"/>
              </a:defRPr>
            </a:lvl6pPr>
            <a:lvl7pPr algn="l">
              <a:defRPr sz="1875" b="1">
                <a:solidFill>
                  <a:srgbClr val="202B38"/>
                </a:solidFill>
                <a:latin typeface="DejaVu Sans"/>
                <a:ea typeface="DejaVu Sans"/>
                <a:cs typeface="DejaVu Sans"/>
              </a:defRPr>
            </a:lvl7pPr>
            <a:lvl8pPr algn="l">
              <a:defRPr sz="1875" b="1">
                <a:solidFill>
                  <a:srgbClr val="202B38"/>
                </a:solidFill>
                <a:latin typeface="DejaVu Sans"/>
                <a:ea typeface="DejaVu Sans"/>
                <a:cs typeface="DejaVu Sans"/>
              </a:defRPr>
            </a:lvl8pPr>
            <a:lvl9pPr algn="l">
              <a:defRPr sz="1875" b="1">
                <a:solidFill>
                  <a:srgbClr val="202B38"/>
                </a:solidFill>
                <a:latin typeface="DejaVu Sans"/>
                <a:ea typeface="DejaVu Sans"/>
                <a:cs typeface="DejaVu Sans"/>
              </a:defRPr>
            </a:lvl9pPr>
          </a:lstStyle>
          <a:p xmlns:a="http://schemas.openxmlformats.org/drawingml/2006/main">
            <a:pPr algn="l">
              <a:defRPr sz="1875" b="1">
                <a:solidFill>
                  <a:srgbClr val="202B38"/>
                </a:solidFill>
                <a:latin typeface="DejaVu Sans"/>
                <a:ea typeface="DejaVu Sans"/>
                <a:cs typeface="DejaVu Sans"/>
              </a:defRPr>
            </a:pPr>
            <a:r>
              <a:rPr sz="1875" b="1">
                <a:solidFill>
                  <a:srgbClr val="202B38"/>
                </a:solidFill>
                <a:latin typeface="DejaVu Sans"/>
                <a:ea typeface="DejaVu Sans"/>
                <a:cs typeface="DejaVu Sans"/>
              </a:rPr>
              <a:t>IF = 100, group accuracy (%)</a:t>
            </a:r>
          </a:p>
        </p:txBody>
      </p:sp>
      <p:graphicFrame>
        <p:nvGraphicFramePr>
          <p:cNvPr id="8" name="Chart">
            <a:extLst xmlns:a="http://schemas.openxmlformats.org/drawingml/2006/main">
              <a:ext uri="{FF2B5EF4-FFF2-40B4-BE49-F238E27FC236}">
                <a16:creationId xmlns:a16="http://schemas.microsoft.com/office/drawing/2014/main" id="{6869BE71-AC0D-451C-A567-DD0CEF563F89}"/>
              </a:ext>
            </a:extLst>
          </p:cNvPr>
          <p:cNvGraphicFramePr/>
          <p:nvPr/>
        </p:nvGraphicFramePr>
        <p:xfrm>
          <a:off xmlns:a="http://schemas.openxmlformats.org/drawingml/2006/main" x="571500" y="2171700"/>
          <a:ext xmlns:a="http://schemas.openxmlformats.org/drawingml/2006/main" cx="7524750" cy="3409950"/>
        </p:xfrm>
        <a:graphic xmlns:a="http://schemas.openxmlformats.org/drawingml/2006/main">
          <a:graphicData uri="http://schemas.openxmlformats.org/drawingml/2006/chart">
            <c:chart xmlns:r="http://schemas.openxmlformats.org/officeDocument/2006/relationships" xmlns:c="http://schemas.openxmlformats.org/drawingml/2006/chart" r:id="Rad9da4ecf76d47ad"/>
          </a:graphicData>
        </a:graphic>
      </p:graphicFrame>
      <p:sp>
        <p:nvSpPr>
          <p:cNvPr id="9" name="+31.9 points">
            <a:extLst xmlns:a="http://schemas.openxmlformats.org/drawingml/2006/main">
              <a:ext uri="{FF2B5EF4-FFF2-40B4-BE49-F238E27FC236}">
                <a16:creationId xmlns:a16="http://schemas.microsoft.com/office/drawing/2014/main" id="{84C18663-9B00-4D4A-90BD-4852B72EAB88}"/>
              </a:ext>
            </a:extLst>
          </p:cNvPr>
          <p:cNvSpPr>
            <a:spLocks xmlns:a="http://schemas.openxmlformats.org/drawingml/2006/main" noGrp="1"/>
          </p:cNvSpPr>
          <p:nvPr/>
        </p:nvSpPr>
        <p:spPr>
          <a:xfrm xmlns:a="http://schemas.openxmlformats.org/drawingml/2006/main">
            <a:off x="8572500" y="180975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+31.9 points</a:t>
            </a:r>
          </a:p>
        </p:txBody>
      </p:sp>
      <p:sp>
        <p:nvSpPr>
          <p:cNvPr id="10" name="Reported tail gain over ResNet-32: 76.9% versus 45.0%.">
            <a:extLst xmlns:a="http://schemas.openxmlformats.org/drawingml/2006/main">
              <a:ext uri="{FF2B5EF4-FFF2-40B4-BE49-F238E27FC236}">
                <a16:creationId xmlns:a16="http://schemas.microsoft.com/office/drawing/2014/main" id="{17582871-1F8C-4A79-BA95-A6FFF7C636EF}"/>
              </a:ext>
            </a:extLst>
          </p:cNvPr>
          <p:cNvSpPr>
            <a:spLocks xmlns:a="http://schemas.openxmlformats.org/drawingml/2006/main" noGrp="1"/>
          </p:cNvSpPr>
          <p:nvPr/>
        </p:nvSpPr>
        <p:spPr>
          <a:xfrm xmlns:a="http://schemas.openxmlformats.org/drawingml/2006/main">
            <a:off x="8572500" y="2257425"/>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Reported tail gain over ResNet-32: 76.9% versus 45.0%.</a:t>
            </a:r>
          </a:p>
        </p:txBody>
      </p:sp>
      <p:sp>
        <p:nvSpPr>
          <p:cNvPr id="11" name="IF = 50">
            <a:extLst xmlns:a="http://schemas.openxmlformats.org/drawingml/2006/main">
              <a:ext uri="{FF2B5EF4-FFF2-40B4-BE49-F238E27FC236}">
                <a16:creationId xmlns:a16="http://schemas.microsoft.com/office/drawing/2014/main" id="{9A4FAE0E-23AA-4EA1-A4AE-FE9A314FAB47}"/>
              </a:ext>
            </a:extLst>
          </p:cNvPr>
          <p:cNvSpPr>
            <a:spLocks xmlns:a="http://schemas.openxmlformats.org/drawingml/2006/main" noGrp="1"/>
          </p:cNvSpPr>
          <p:nvPr/>
        </p:nvSpPr>
        <p:spPr>
          <a:xfrm xmlns:a="http://schemas.openxmlformats.org/drawingml/2006/main">
            <a:off x="8572500" y="361950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IF = 50</a:t>
            </a:r>
          </a:p>
        </p:txBody>
      </p:sp>
      <p:sp>
        <p:nvSpPr>
          <p:cNvPr id="12" name="Top-1 reaches 80.6% versus 79.2% for ResNet-32, a 1.4-point lead.">
            <a:extLst xmlns:a="http://schemas.openxmlformats.org/drawingml/2006/main">
              <a:ext uri="{FF2B5EF4-FFF2-40B4-BE49-F238E27FC236}">
                <a16:creationId xmlns:a16="http://schemas.microsoft.com/office/drawing/2014/main" id="{87A54434-CE55-481F-B9C5-64838420189A}"/>
              </a:ext>
            </a:extLst>
          </p:cNvPr>
          <p:cNvSpPr>
            <a:spLocks xmlns:a="http://schemas.openxmlformats.org/drawingml/2006/main" noGrp="1"/>
          </p:cNvSpPr>
          <p:nvPr/>
        </p:nvSpPr>
        <p:spPr>
          <a:xfrm xmlns:a="http://schemas.openxmlformats.org/drawingml/2006/main">
            <a:off x="8572500" y="4067175"/>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Top-1 reaches 80.6% versus 79.2% for ResNet-32, a 1.4-point lead.</a:t>
            </a:r>
          </a:p>
        </p:txBody>
      </p:sp>
      <p:sp>
        <p:nvSpPr>
          <p:cNvPr id="13" name="Interpretation: this pattern is consistent with the method’s tail">
            <a:extLst xmlns:a="http://schemas.openxmlformats.org/drawingml/2006/main">
              <a:ext uri="{FF2B5EF4-FFF2-40B4-BE49-F238E27FC236}">
                <a16:creationId xmlns:a16="http://schemas.microsoft.com/office/drawing/2014/main" id="{49A92D1A-CA79-4B72-BCF0-BDF3FA7ADE6B}"/>
              </a:ext>
            </a:extLst>
          </p:cNvPr>
          <p:cNvSpPr>
            <a:spLocks xmlns:a="http://schemas.openxmlformats.org/drawingml/2006/main" noGrp="1"/>
          </p:cNvSpPr>
          <p:nvPr/>
        </p:nvSpPr>
        <p:spPr>
          <a:xfrm xmlns:a="http://schemas.openxmlformats.org/drawingml/2006/main">
            <a:off x="571500" y="57626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4A7772"/>
                </a:solidFill>
                <a:latin typeface="DejaVu Sans"/>
                <a:ea typeface="DejaVu Sans"/>
                <a:cs typeface="DejaVu Sans"/>
              </a:defRPr>
            </a:defPPr>
            <a:lvl1pPr algn="l">
              <a:defRPr sz="1800" b="1">
                <a:solidFill>
                  <a:srgbClr val="4A7772"/>
                </a:solidFill>
                <a:latin typeface="DejaVu Sans"/>
                <a:ea typeface="DejaVu Sans"/>
                <a:cs typeface="DejaVu Sans"/>
              </a:defRPr>
            </a:lvl1pPr>
            <a:lvl2pPr algn="l">
              <a:defRPr sz="1800" b="1">
                <a:solidFill>
                  <a:srgbClr val="4A7772"/>
                </a:solidFill>
                <a:latin typeface="DejaVu Sans"/>
                <a:ea typeface="DejaVu Sans"/>
                <a:cs typeface="DejaVu Sans"/>
              </a:defRPr>
            </a:lvl2pPr>
            <a:lvl3pPr algn="l">
              <a:defRPr sz="1800" b="1">
                <a:solidFill>
                  <a:srgbClr val="4A7772"/>
                </a:solidFill>
                <a:latin typeface="DejaVu Sans"/>
                <a:ea typeface="DejaVu Sans"/>
                <a:cs typeface="DejaVu Sans"/>
              </a:defRPr>
            </a:lvl3pPr>
            <a:lvl4pPr algn="l">
              <a:defRPr sz="1800" b="1">
                <a:solidFill>
                  <a:srgbClr val="4A7772"/>
                </a:solidFill>
                <a:latin typeface="DejaVu Sans"/>
                <a:ea typeface="DejaVu Sans"/>
                <a:cs typeface="DejaVu Sans"/>
              </a:defRPr>
            </a:lvl4pPr>
            <a:lvl5pPr algn="l">
              <a:defRPr sz="1800" b="1">
                <a:solidFill>
                  <a:srgbClr val="4A7772"/>
                </a:solidFill>
                <a:latin typeface="DejaVu Sans"/>
                <a:ea typeface="DejaVu Sans"/>
                <a:cs typeface="DejaVu Sans"/>
              </a:defRPr>
            </a:lvl5pPr>
            <a:lvl6pPr algn="l">
              <a:defRPr sz="1800" b="1">
                <a:solidFill>
                  <a:srgbClr val="4A7772"/>
                </a:solidFill>
                <a:latin typeface="DejaVu Sans"/>
                <a:ea typeface="DejaVu Sans"/>
                <a:cs typeface="DejaVu Sans"/>
              </a:defRPr>
            </a:lvl6pPr>
            <a:lvl7pPr algn="l">
              <a:defRPr sz="1800" b="1">
                <a:solidFill>
                  <a:srgbClr val="4A7772"/>
                </a:solidFill>
                <a:latin typeface="DejaVu Sans"/>
                <a:ea typeface="DejaVu Sans"/>
                <a:cs typeface="DejaVu Sans"/>
              </a:defRPr>
            </a:lvl7pPr>
            <a:lvl8pPr algn="l">
              <a:defRPr sz="1800" b="1">
                <a:solidFill>
                  <a:srgbClr val="4A7772"/>
                </a:solidFill>
                <a:latin typeface="DejaVu Sans"/>
                <a:ea typeface="DejaVu Sans"/>
                <a:cs typeface="DejaVu Sans"/>
              </a:defRPr>
            </a:lvl8pPr>
            <a:lvl9pPr algn="l">
              <a:defRPr sz="1800" b="1">
                <a:solidFill>
                  <a:srgbClr val="4A7772"/>
                </a:solidFill>
                <a:latin typeface="DejaVu Sans"/>
                <a:ea typeface="DejaVu Sans"/>
                <a:cs typeface="DejaVu Sans"/>
              </a:defRPr>
            </a:lvl9pPr>
          </a:lstStyle>
          <a:p xmlns:a="http://schemas.openxmlformats.org/drawingml/2006/main">
            <a:pPr algn="l">
              <a:defRPr sz="1800" b="1">
                <a:solidFill>
                  <a:srgbClr val="4A7772"/>
                </a:solidFill>
                <a:latin typeface="DejaVu Sans"/>
                <a:ea typeface="DejaVu Sans"/>
                <a:cs typeface="DejaVu Sans"/>
              </a:defRPr>
            </a:pPr>
            <a:r>
              <a:rPr sz="1800" b="1">
                <a:solidFill>
                  <a:srgbClr val="4A7772"/>
                </a:solidFill>
                <a:latin typeface="DejaVu Sans"/>
                <a:ea typeface="DejaVu Sans"/>
                <a:cs typeface="DejaVu Sans"/>
              </a:rPr>
              <a:t>Interpretation: this pattern is consistent with the method’s tail-class objective.</a:t>
            </a:r>
          </a:p>
        </p:txBody>
      </p:sp>
    </p:spTree>
    <p:extLst>
      <p:ext uri="{BB962C8B-B14F-4D97-AF65-F5344CB8AC3E}">
        <p14:creationId xmlns:p14="http://schemas.microsoft.com/office/powerpoint/2010/main" val="162740448"/>
      </p:ext>
    </p:extLst>
  </p:cSld>
</p:sld>
</file>

<file path=ppt/slides/slide1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C382600C-F7D0-495E-B200-6ED0BF7E47EE}"/>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CIFAR-100-LT: overall gains hide tail trade-offs">
            <a:extLst xmlns:a="http://schemas.openxmlformats.org/drawingml/2006/main">
              <a:ext uri="{FF2B5EF4-FFF2-40B4-BE49-F238E27FC236}">
                <a16:creationId xmlns:a16="http://schemas.microsoft.com/office/drawing/2014/main" id="{62CD98FE-AE93-40E1-9B50-BDA5DF5E3528}"/>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CIFAR-100-LT: overall gains hide tail trade-offs</a:t>
            </a:r>
          </a:p>
        </p:txBody>
      </p:sp>
      <p:sp>
        <p:nvSpPr>
          <p:cNvPr id="4" name="">
            <a:extLst xmlns:a="http://schemas.openxmlformats.org/drawingml/2006/main">
              <a:ext uri="{FF2B5EF4-FFF2-40B4-BE49-F238E27FC236}">
                <a16:creationId xmlns:a16="http://schemas.microsoft.com/office/drawing/2014/main" id="{58C50BEE-0BFF-444F-BEE6-3B984333D8C5}"/>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Source: updated report, Tables 4–5. Values as reported. Baseline ">
            <a:extLst xmlns:a="http://schemas.openxmlformats.org/drawingml/2006/main">
              <a:ext uri="{FF2B5EF4-FFF2-40B4-BE49-F238E27FC236}">
                <a16:creationId xmlns:a16="http://schemas.microsoft.com/office/drawing/2014/main" id="{99CCEC20-9D6F-4064-ADE7-8F3154184002}"/>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Source: updated report, Tables 4–5. Values as reported. Baseline provenance: workspace CSVs label values synthetic. Reported results need verification.</a:t>
            </a:r>
          </a:p>
        </p:txBody>
      </p:sp>
      <p:sp>
        <p:nvSpPr>
          <p:cNvPr id="6" name="12 / 15">
            <a:extLst xmlns:a="http://schemas.openxmlformats.org/drawingml/2006/main">
              <a:ext uri="{FF2B5EF4-FFF2-40B4-BE49-F238E27FC236}">
                <a16:creationId xmlns:a16="http://schemas.microsoft.com/office/drawing/2014/main" id="{6F3A42BB-045B-472B-A568-D2BB88607E07}"/>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12 / 15</a:t>
            </a:r>
          </a:p>
        </p:txBody>
      </p:sp>
      <p:sp>
        <p:nvSpPr>
          <p:cNvPr id="7" name="IF = 100, group accuracy (%)">
            <a:extLst xmlns:a="http://schemas.openxmlformats.org/drawingml/2006/main">
              <a:ext uri="{FF2B5EF4-FFF2-40B4-BE49-F238E27FC236}">
                <a16:creationId xmlns:a16="http://schemas.microsoft.com/office/drawing/2014/main" id="{FA61E67A-8D72-474D-996D-9A4F08FEE63B}"/>
              </a:ext>
            </a:extLst>
          </p:cNvPr>
          <p:cNvSpPr>
            <a:spLocks xmlns:a="http://schemas.openxmlformats.org/drawingml/2006/main" noGrp="1"/>
          </p:cNvSpPr>
          <p:nvPr/>
        </p:nvSpPr>
        <p:spPr>
          <a:xfrm xmlns:a="http://schemas.openxmlformats.org/drawingml/2006/main">
            <a:off x="571500" y="1685925"/>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B38"/>
                </a:solidFill>
                <a:latin typeface="DejaVu Sans"/>
                <a:ea typeface="DejaVu Sans"/>
                <a:cs typeface="DejaVu Sans"/>
              </a:defRPr>
            </a:defPPr>
            <a:lvl1pPr algn="l">
              <a:defRPr sz="1875" b="1">
                <a:solidFill>
                  <a:srgbClr val="202B38"/>
                </a:solidFill>
                <a:latin typeface="DejaVu Sans"/>
                <a:ea typeface="DejaVu Sans"/>
                <a:cs typeface="DejaVu Sans"/>
              </a:defRPr>
            </a:lvl1pPr>
            <a:lvl2pPr algn="l">
              <a:defRPr sz="1875" b="1">
                <a:solidFill>
                  <a:srgbClr val="202B38"/>
                </a:solidFill>
                <a:latin typeface="DejaVu Sans"/>
                <a:ea typeface="DejaVu Sans"/>
                <a:cs typeface="DejaVu Sans"/>
              </a:defRPr>
            </a:lvl2pPr>
            <a:lvl3pPr algn="l">
              <a:defRPr sz="1875" b="1">
                <a:solidFill>
                  <a:srgbClr val="202B38"/>
                </a:solidFill>
                <a:latin typeface="DejaVu Sans"/>
                <a:ea typeface="DejaVu Sans"/>
                <a:cs typeface="DejaVu Sans"/>
              </a:defRPr>
            </a:lvl3pPr>
            <a:lvl4pPr algn="l">
              <a:defRPr sz="1875" b="1">
                <a:solidFill>
                  <a:srgbClr val="202B38"/>
                </a:solidFill>
                <a:latin typeface="DejaVu Sans"/>
                <a:ea typeface="DejaVu Sans"/>
                <a:cs typeface="DejaVu Sans"/>
              </a:defRPr>
            </a:lvl4pPr>
            <a:lvl5pPr algn="l">
              <a:defRPr sz="1875" b="1">
                <a:solidFill>
                  <a:srgbClr val="202B38"/>
                </a:solidFill>
                <a:latin typeface="DejaVu Sans"/>
                <a:ea typeface="DejaVu Sans"/>
                <a:cs typeface="DejaVu Sans"/>
              </a:defRPr>
            </a:lvl5pPr>
            <a:lvl6pPr algn="l">
              <a:defRPr sz="1875" b="1">
                <a:solidFill>
                  <a:srgbClr val="202B38"/>
                </a:solidFill>
                <a:latin typeface="DejaVu Sans"/>
                <a:ea typeface="DejaVu Sans"/>
                <a:cs typeface="DejaVu Sans"/>
              </a:defRPr>
            </a:lvl6pPr>
            <a:lvl7pPr algn="l">
              <a:defRPr sz="1875" b="1">
                <a:solidFill>
                  <a:srgbClr val="202B38"/>
                </a:solidFill>
                <a:latin typeface="DejaVu Sans"/>
                <a:ea typeface="DejaVu Sans"/>
                <a:cs typeface="DejaVu Sans"/>
              </a:defRPr>
            </a:lvl7pPr>
            <a:lvl8pPr algn="l">
              <a:defRPr sz="1875" b="1">
                <a:solidFill>
                  <a:srgbClr val="202B38"/>
                </a:solidFill>
                <a:latin typeface="DejaVu Sans"/>
                <a:ea typeface="DejaVu Sans"/>
                <a:cs typeface="DejaVu Sans"/>
              </a:defRPr>
            </a:lvl8pPr>
            <a:lvl9pPr algn="l">
              <a:defRPr sz="1875" b="1">
                <a:solidFill>
                  <a:srgbClr val="202B38"/>
                </a:solidFill>
                <a:latin typeface="DejaVu Sans"/>
                <a:ea typeface="DejaVu Sans"/>
                <a:cs typeface="DejaVu Sans"/>
              </a:defRPr>
            </a:lvl9pPr>
          </a:lstStyle>
          <a:p xmlns:a="http://schemas.openxmlformats.org/drawingml/2006/main">
            <a:pPr algn="l">
              <a:defRPr sz="1875" b="1">
                <a:solidFill>
                  <a:srgbClr val="202B38"/>
                </a:solidFill>
                <a:latin typeface="DejaVu Sans"/>
                <a:ea typeface="DejaVu Sans"/>
                <a:cs typeface="DejaVu Sans"/>
              </a:defRPr>
            </a:pPr>
            <a:r>
              <a:rPr sz="1875" b="1">
                <a:solidFill>
                  <a:srgbClr val="202B38"/>
                </a:solidFill>
                <a:latin typeface="DejaVu Sans"/>
                <a:ea typeface="DejaVu Sans"/>
                <a:cs typeface="DejaVu Sans"/>
              </a:rPr>
              <a:t>IF = 100, group accuracy (%)</a:t>
            </a:r>
          </a:p>
        </p:txBody>
      </p:sp>
      <p:graphicFrame>
        <p:nvGraphicFramePr>
          <p:cNvPr id="8" name="Chart">
            <a:extLst xmlns:a="http://schemas.openxmlformats.org/drawingml/2006/main">
              <a:ext uri="{FF2B5EF4-FFF2-40B4-BE49-F238E27FC236}">
                <a16:creationId xmlns:a16="http://schemas.microsoft.com/office/drawing/2014/main" id="{FE7B9A0A-5269-4D63-9F28-490ADF8B77BF}"/>
              </a:ext>
            </a:extLst>
          </p:cNvPr>
          <p:cNvGraphicFramePr/>
          <p:nvPr/>
        </p:nvGraphicFramePr>
        <p:xfrm>
          <a:off xmlns:a="http://schemas.openxmlformats.org/drawingml/2006/main" x="571500" y="2171700"/>
          <a:ext xmlns:a="http://schemas.openxmlformats.org/drawingml/2006/main" cx="7524750" cy="3409950"/>
        </p:xfrm>
        <a:graphic xmlns:a="http://schemas.openxmlformats.org/drawingml/2006/main">
          <a:graphicData uri="http://schemas.openxmlformats.org/drawingml/2006/chart">
            <c:chart xmlns:r="http://schemas.openxmlformats.org/officeDocument/2006/relationships" xmlns:c="http://schemas.openxmlformats.org/drawingml/2006/chart" r:id="Ra0ee60cc1eba4df5"/>
          </a:graphicData>
        </a:graphic>
      </p:graphicFrame>
      <p:sp>
        <p:nvSpPr>
          <p:cNvPr id="9" name="+8.6 points overall">
            <a:extLst xmlns:a="http://schemas.openxmlformats.org/drawingml/2006/main">
              <a:ext uri="{FF2B5EF4-FFF2-40B4-BE49-F238E27FC236}">
                <a16:creationId xmlns:a16="http://schemas.microsoft.com/office/drawing/2014/main" id="{689FB76A-E153-47C5-AC50-108078D6CDCA}"/>
              </a:ext>
            </a:extLst>
          </p:cNvPr>
          <p:cNvSpPr>
            <a:spLocks xmlns:a="http://schemas.openxmlformats.org/drawingml/2006/main" noGrp="1"/>
          </p:cNvSpPr>
          <p:nvPr/>
        </p:nvSpPr>
        <p:spPr>
          <a:xfrm xmlns:a="http://schemas.openxmlformats.org/drawingml/2006/main">
            <a:off x="8572500" y="180975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+8.6 points overall</a:t>
            </a:r>
          </a:p>
        </p:txBody>
      </p:sp>
      <p:sp>
        <p:nvSpPr>
          <p:cNvPr id="10" name="Top-1: 46.8% versus 38.2% for ResNet-32 at IF = 100.">
            <a:extLst xmlns:a="http://schemas.openxmlformats.org/drawingml/2006/main">
              <a:ext uri="{FF2B5EF4-FFF2-40B4-BE49-F238E27FC236}">
                <a16:creationId xmlns:a16="http://schemas.microsoft.com/office/drawing/2014/main" id="{E958A5EC-FF3C-4C78-943C-3A57258FFE4A}"/>
              </a:ext>
            </a:extLst>
          </p:cNvPr>
          <p:cNvSpPr>
            <a:spLocks xmlns:a="http://schemas.openxmlformats.org/drawingml/2006/main" noGrp="1"/>
          </p:cNvSpPr>
          <p:nvPr/>
        </p:nvSpPr>
        <p:spPr>
          <a:xfrm xmlns:a="http://schemas.openxmlformats.org/drawingml/2006/main">
            <a:off x="8572500" y="2257425"/>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Top-1: 46.8% versus 38.2% for ResNet-32 at IF = 100.</a:t>
            </a:r>
          </a:p>
        </p:txBody>
      </p:sp>
      <p:sp>
        <p:nvSpPr>
          <p:cNvPr id="11" name="Tail trade-off">
            <a:extLst xmlns:a="http://schemas.openxmlformats.org/drawingml/2006/main">
              <a:ext uri="{FF2B5EF4-FFF2-40B4-BE49-F238E27FC236}">
                <a16:creationId xmlns:a16="http://schemas.microsoft.com/office/drawing/2014/main" id="{060E0FE7-668B-4E03-B711-5AAA7ACF1AA4}"/>
              </a:ext>
            </a:extLst>
          </p:cNvPr>
          <p:cNvSpPr>
            <a:spLocks xmlns:a="http://schemas.openxmlformats.org/drawingml/2006/main" noGrp="1"/>
          </p:cNvSpPr>
          <p:nvPr/>
        </p:nvSpPr>
        <p:spPr>
          <a:xfrm xmlns:a="http://schemas.openxmlformats.org/drawingml/2006/main">
            <a:off x="8572500" y="361950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Tail trade-off</a:t>
            </a:r>
          </a:p>
        </p:txBody>
      </p:sp>
      <p:sp>
        <p:nvSpPr>
          <p:cNvPr id="12" name="Tail drops 3.4 points: 24.8% versus 28.2%. Top-5 also falls from ">
            <a:extLst xmlns:a="http://schemas.openxmlformats.org/drawingml/2006/main">
              <a:ext uri="{FF2B5EF4-FFF2-40B4-BE49-F238E27FC236}">
                <a16:creationId xmlns:a16="http://schemas.microsoft.com/office/drawing/2014/main" id="{9C6FA4B6-19AE-4E24-A3BC-F2388DF4FEC0}"/>
              </a:ext>
            </a:extLst>
          </p:cNvPr>
          <p:cNvSpPr>
            <a:spLocks xmlns:a="http://schemas.openxmlformats.org/drawingml/2006/main" noGrp="1"/>
          </p:cNvSpPr>
          <p:nvPr/>
        </p:nvSpPr>
        <p:spPr>
          <a:xfrm xmlns:a="http://schemas.openxmlformats.org/drawingml/2006/main">
            <a:off x="8572500" y="4067175"/>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Tail drops 3.4 points: 24.8% versus 28.2%. Top-5 also falls from 78.4% to 73.5%.</a:t>
            </a:r>
          </a:p>
        </p:txBody>
      </p:sp>
      <p:sp>
        <p:nvSpPr>
          <p:cNvPr id="13" name="Interpretation: head and mid classes account for the reported imp">
            <a:extLst xmlns:a="http://schemas.openxmlformats.org/drawingml/2006/main">
              <a:ext uri="{FF2B5EF4-FFF2-40B4-BE49-F238E27FC236}">
                <a16:creationId xmlns:a16="http://schemas.microsoft.com/office/drawing/2014/main" id="{F2CAC201-DB03-48B1-B812-1CFAC89D5032}"/>
              </a:ext>
            </a:extLst>
          </p:cNvPr>
          <p:cNvSpPr>
            <a:spLocks xmlns:a="http://schemas.openxmlformats.org/drawingml/2006/main" noGrp="1"/>
          </p:cNvSpPr>
          <p:nvPr/>
        </p:nvSpPr>
        <p:spPr>
          <a:xfrm xmlns:a="http://schemas.openxmlformats.org/drawingml/2006/main">
            <a:off x="571500" y="57626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4A7772"/>
                </a:solidFill>
                <a:latin typeface="DejaVu Sans"/>
                <a:ea typeface="DejaVu Sans"/>
                <a:cs typeface="DejaVu Sans"/>
              </a:defRPr>
            </a:defPPr>
            <a:lvl1pPr algn="l">
              <a:defRPr sz="1800" b="1">
                <a:solidFill>
                  <a:srgbClr val="4A7772"/>
                </a:solidFill>
                <a:latin typeface="DejaVu Sans"/>
                <a:ea typeface="DejaVu Sans"/>
                <a:cs typeface="DejaVu Sans"/>
              </a:defRPr>
            </a:lvl1pPr>
            <a:lvl2pPr algn="l">
              <a:defRPr sz="1800" b="1">
                <a:solidFill>
                  <a:srgbClr val="4A7772"/>
                </a:solidFill>
                <a:latin typeface="DejaVu Sans"/>
                <a:ea typeface="DejaVu Sans"/>
                <a:cs typeface="DejaVu Sans"/>
              </a:defRPr>
            </a:lvl2pPr>
            <a:lvl3pPr algn="l">
              <a:defRPr sz="1800" b="1">
                <a:solidFill>
                  <a:srgbClr val="4A7772"/>
                </a:solidFill>
                <a:latin typeface="DejaVu Sans"/>
                <a:ea typeface="DejaVu Sans"/>
                <a:cs typeface="DejaVu Sans"/>
              </a:defRPr>
            </a:lvl3pPr>
            <a:lvl4pPr algn="l">
              <a:defRPr sz="1800" b="1">
                <a:solidFill>
                  <a:srgbClr val="4A7772"/>
                </a:solidFill>
                <a:latin typeface="DejaVu Sans"/>
                <a:ea typeface="DejaVu Sans"/>
                <a:cs typeface="DejaVu Sans"/>
              </a:defRPr>
            </a:lvl4pPr>
            <a:lvl5pPr algn="l">
              <a:defRPr sz="1800" b="1">
                <a:solidFill>
                  <a:srgbClr val="4A7772"/>
                </a:solidFill>
                <a:latin typeface="DejaVu Sans"/>
                <a:ea typeface="DejaVu Sans"/>
                <a:cs typeface="DejaVu Sans"/>
              </a:defRPr>
            </a:lvl5pPr>
            <a:lvl6pPr algn="l">
              <a:defRPr sz="1800" b="1">
                <a:solidFill>
                  <a:srgbClr val="4A7772"/>
                </a:solidFill>
                <a:latin typeface="DejaVu Sans"/>
                <a:ea typeface="DejaVu Sans"/>
                <a:cs typeface="DejaVu Sans"/>
              </a:defRPr>
            </a:lvl6pPr>
            <a:lvl7pPr algn="l">
              <a:defRPr sz="1800" b="1">
                <a:solidFill>
                  <a:srgbClr val="4A7772"/>
                </a:solidFill>
                <a:latin typeface="DejaVu Sans"/>
                <a:ea typeface="DejaVu Sans"/>
                <a:cs typeface="DejaVu Sans"/>
              </a:defRPr>
            </a:lvl7pPr>
            <a:lvl8pPr algn="l">
              <a:defRPr sz="1800" b="1">
                <a:solidFill>
                  <a:srgbClr val="4A7772"/>
                </a:solidFill>
                <a:latin typeface="DejaVu Sans"/>
                <a:ea typeface="DejaVu Sans"/>
                <a:cs typeface="DejaVu Sans"/>
              </a:defRPr>
            </a:lvl8pPr>
            <a:lvl9pPr algn="l">
              <a:defRPr sz="1800" b="1">
                <a:solidFill>
                  <a:srgbClr val="4A7772"/>
                </a:solidFill>
                <a:latin typeface="DejaVu Sans"/>
                <a:ea typeface="DejaVu Sans"/>
                <a:cs typeface="DejaVu Sans"/>
              </a:defRPr>
            </a:lvl9pPr>
          </a:lstStyle>
          <a:p xmlns:a="http://schemas.openxmlformats.org/drawingml/2006/main">
            <a:pPr algn="l">
              <a:defRPr sz="1800" b="1">
                <a:solidFill>
                  <a:srgbClr val="4A7772"/>
                </a:solidFill>
                <a:latin typeface="DejaVu Sans"/>
                <a:ea typeface="DejaVu Sans"/>
                <a:cs typeface="DejaVu Sans"/>
              </a:defRPr>
            </a:pPr>
            <a:r>
              <a:rPr sz="1800" b="1">
                <a:solidFill>
                  <a:srgbClr val="4A7772"/>
                </a:solidFill>
                <a:latin typeface="DejaVu Sans"/>
                <a:ea typeface="DejaVu Sans"/>
                <a:cs typeface="DejaVu Sans"/>
              </a:rPr>
              <a:t>Interpretation: head and mid classes account for the reported improvement here.</a:t>
            </a:r>
          </a:p>
        </p:txBody>
      </p:sp>
    </p:spTree>
    <p:extLst>
      <p:ext uri="{BB962C8B-B14F-4D97-AF65-F5344CB8AC3E}">
        <p14:creationId xmlns:p14="http://schemas.microsoft.com/office/powerpoint/2010/main" val="1742932821"/>
      </p:ext>
    </p:extLst>
  </p:cSld>
</p:sld>
</file>

<file path=ppt/slides/slide1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3E6F9D93-131A-4727-8D2F-48146B638DCF}"/>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ImageNet-LT: a more balanced reported profile">
            <a:extLst xmlns:a="http://schemas.openxmlformats.org/drawingml/2006/main">
              <a:ext uri="{FF2B5EF4-FFF2-40B4-BE49-F238E27FC236}">
                <a16:creationId xmlns:a16="http://schemas.microsoft.com/office/drawing/2014/main" id="{C8D0CB45-A081-43F5-B249-B75FF9B6B971}"/>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ImageNet-LT: a more balanced reported profile</a:t>
            </a:r>
          </a:p>
        </p:txBody>
      </p:sp>
      <p:sp>
        <p:nvSpPr>
          <p:cNvPr id="4" name="">
            <a:extLst xmlns:a="http://schemas.openxmlformats.org/drawingml/2006/main">
              <a:ext uri="{FF2B5EF4-FFF2-40B4-BE49-F238E27FC236}">
                <a16:creationId xmlns:a16="http://schemas.microsoft.com/office/drawing/2014/main" id="{BFAC7741-21F5-45E2-898D-018E339B54D0}"/>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Source: updated report, Table 6. Values as reported. Baseline pro">
            <a:extLst xmlns:a="http://schemas.openxmlformats.org/drawingml/2006/main">
              <a:ext uri="{FF2B5EF4-FFF2-40B4-BE49-F238E27FC236}">
                <a16:creationId xmlns:a16="http://schemas.microsoft.com/office/drawing/2014/main" id="{D3EBEA66-6155-49A8-A469-9F42A8FAA77F}"/>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Source: updated report, Table 6. Values as reported. Baseline provenance: workspace CSVs label values synthetic. Reported results need verification.</a:t>
            </a:r>
          </a:p>
        </p:txBody>
      </p:sp>
      <p:sp>
        <p:nvSpPr>
          <p:cNvPr id="6" name="13 / 15">
            <a:extLst xmlns:a="http://schemas.openxmlformats.org/drawingml/2006/main">
              <a:ext uri="{FF2B5EF4-FFF2-40B4-BE49-F238E27FC236}">
                <a16:creationId xmlns:a16="http://schemas.microsoft.com/office/drawing/2014/main" id="{23F84136-258E-4327-BC85-7857DC24A997}"/>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13 / 15</a:t>
            </a:r>
          </a:p>
        </p:txBody>
      </p:sp>
      <p:sp>
        <p:nvSpPr>
          <p:cNvPr id="7" name="Head, mid and tail accuracy (%)">
            <a:extLst xmlns:a="http://schemas.openxmlformats.org/drawingml/2006/main">
              <a:ext uri="{FF2B5EF4-FFF2-40B4-BE49-F238E27FC236}">
                <a16:creationId xmlns:a16="http://schemas.microsoft.com/office/drawing/2014/main" id="{D14F023E-0FD7-4A9B-95B0-5C4F65000383}"/>
              </a:ext>
            </a:extLst>
          </p:cNvPr>
          <p:cNvSpPr>
            <a:spLocks xmlns:a="http://schemas.openxmlformats.org/drawingml/2006/main" noGrp="1"/>
          </p:cNvSpPr>
          <p:nvPr/>
        </p:nvSpPr>
        <p:spPr>
          <a:xfrm xmlns:a="http://schemas.openxmlformats.org/drawingml/2006/main">
            <a:off x="571500" y="1685925"/>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B38"/>
                </a:solidFill>
                <a:latin typeface="DejaVu Sans"/>
                <a:ea typeface="DejaVu Sans"/>
                <a:cs typeface="DejaVu Sans"/>
              </a:defRPr>
            </a:defPPr>
            <a:lvl1pPr algn="l">
              <a:defRPr sz="1875" b="1">
                <a:solidFill>
                  <a:srgbClr val="202B38"/>
                </a:solidFill>
                <a:latin typeface="DejaVu Sans"/>
                <a:ea typeface="DejaVu Sans"/>
                <a:cs typeface="DejaVu Sans"/>
              </a:defRPr>
            </a:lvl1pPr>
            <a:lvl2pPr algn="l">
              <a:defRPr sz="1875" b="1">
                <a:solidFill>
                  <a:srgbClr val="202B38"/>
                </a:solidFill>
                <a:latin typeface="DejaVu Sans"/>
                <a:ea typeface="DejaVu Sans"/>
                <a:cs typeface="DejaVu Sans"/>
              </a:defRPr>
            </a:lvl2pPr>
            <a:lvl3pPr algn="l">
              <a:defRPr sz="1875" b="1">
                <a:solidFill>
                  <a:srgbClr val="202B38"/>
                </a:solidFill>
                <a:latin typeface="DejaVu Sans"/>
                <a:ea typeface="DejaVu Sans"/>
                <a:cs typeface="DejaVu Sans"/>
              </a:defRPr>
            </a:lvl3pPr>
            <a:lvl4pPr algn="l">
              <a:defRPr sz="1875" b="1">
                <a:solidFill>
                  <a:srgbClr val="202B38"/>
                </a:solidFill>
                <a:latin typeface="DejaVu Sans"/>
                <a:ea typeface="DejaVu Sans"/>
                <a:cs typeface="DejaVu Sans"/>
              </a:defRPr>
            </a:lvl4pPr>
            <a:lvl5pPr algn="l">
              <a:defRPr sz="1875" b="1">
                <a:solidFill>
                  <a:srgbClr val="202B38"/>
                </a:solidFill>
                <a:latin typeface="DejaVu Sans"/>
                <a:ea typeface="DejaVu Sans"/>
                <a:cs typeface="DejaVu Sans"/>
              </a:defRPr>
            </a:lvl5pPr>
            <a:lvl6pPr algn="l">
              <a:defRPr sz="1875" b="1">
                <a:solidFill>
                  <a:srgbClr val="202B38"/>
                </a:solidFill>
                <a:latin typeface="DejaVu Sans"/>
                <a:ea typeface="DejaVu Sans"/>
                <a:cs typeface="DejaVu Sans"/>
              </a:defRPr>
            </a:lvl6pPr>
            <a:lvl7pPr algn="l">
              <a:defRPr sz="1875" b="1">
                <a:solidFill>
                  <a:srgbClr val="202B38"/>
                </a:solidFill>
                <a:latin typeface="DejaVu Sans"/>
                <a:ea typeface="DejaVu Sans"/>
                <a:cs typeface="DejaVu Sans"/>
              </a:defRPr>
            </a:lvl7pPr>
            <a:lvl8pPr algn="l">
              <a:defRPr sz="1875" b="1">
                <a:solidFill>
                  <a:srgbClr val="202B38"/>
                </a:solidFill>
                <a:latin typeface="DejaVu Sans"/>
                <a:ea typeface="DejaVu Sans"/>
                <a:cs typeface="DejaVu Sans"/>
              </a:defRPr>
            </a:lvl8pPr>
            <a:lvl9pPr algn="l">
              <a:defRPr sz="1875" b="1">
                <a:solidFill>
                  <a:srgbClr val="202B38"/>
                </a:solidFill>
                <a:latin typeface="DejaVu Sans"/>
                <a:ea typeface="DejaVu Sans"/>
                <a:cs typeface="DejaVu Sans"/>
              </a:defRPr>
            </a:lvl9pPr>
          </a:lstStyle>
          <a:p xmlns:a="http://schemas.openxmlformats.org/drawingml/2006/main">
            <a:pPr algn="l">
              <a:defRPr sz="1875" b="1">
                <a:solidFill>
                  <a:srgbClr val="202B38"/>
                </a:solidFill>
                <a:latin typeface="DejaVu Sans"/>
                <a:ea typeface="DejaVu Sans"/>
                <a:cs typeface="DejaVu Sans"/>
              </a:defRPr>
            </a:pPr>
            <a:r>
              <a:rPr sz="1875" b="1">
                <a:solidFill>
                  <a:srgbClr val="202B38"/>
                </a:solidFill>
                <a:latin typeface="DejaVu Sans"/>
                <a:ea typeface="DejaVu Sans"/>
                <a:cs typeface="DejaVu Sans"/>
              </a:rPr>
              <a:t>Head, mid and tail accuracy (%)</a:t>
            </a:r>
          </a:p>
        </p:txBody>
      </p:sp>
      <p:graphicFrame>
        <p:nvGraphicFramePr>
          <p:cNvPr id="8" name="Chart">
            <a:extLst xmlns:a="http://schemas.openxmlformats.org/drawingml/2006/main">
              <a:ext uri="{FF2B5EF4-FFF2-40B4-BE49-F238E27FC236}">
                <a16:creationId xmlns:a16="http://schemas.microsoft.com/office/drawing/2014/main" id="{27D2FC87-8CDB-448E-8643-F4F11D66C950}"/>
              </a:ext>
            </a:extLst>
          </p:cNvPr>
          <p:cNvGraphicFramePr/>
          <p:nvPr/>
        </p:nvGraphicFramePr>
        <p:xfrm>
          <a:off xmlns:a="http://schemas.openxmlformats.org/drawingml/2006/main" x="571500" y="2171700"/>
          <a:ext xmlns:a="http://schemas.openxmlformats.org/drawingml/2006/main" cx="7524750" cy="3409950"/>
        </p:xfrm>
        <a:graphic xmlns:a="http://schemas.openxmlformats.org/drawingml/2006/main">
          <a:graphicData uri="http://schemas.openxmlformats.org/drawingml/2006/chart">
            <c:chart xmlns:r="http://schemas.openxmlformats.org/officeDocument/2006/relationships" xmlns:c="http://schemas.openxmlformats.org/drawingml/2006/chart" r:id="R61f3a368a89440ae"/>
          </a:graphicData>
        </a:graphic>
      </p:graphicFrame>
      <p:sp>
        <p:nvSpPr>
          <p:cNvPr id="9" name="46.5% top-1">
            <a:extLst xmlns:a="http://schemas.openxmlformats.org/drawingml/2006/main">
              <a:ext uri="{FF2B5EF4-FFF2-40B4-BE49-F238E27FC236}">
                <a16:creationId xmlns:a16="http://schemas.microsoft.com/office/drawing/2014/main" id="{E57F31CB-BD1C-47B1-A7A3-C01D370E3917}"/>
              </a:ext>
            </a:extLst>
          </p:cNvPr>
          <p:cNvSpPr>
            <a:spLocks xmlns:a="http://schemas.openxmlformats.org/drawingml/2006/main" noGrp="1"/>
          </p:cNvSpPr>
          <p:nvPr/>
        </p:nvSpPr>
        <p:spPr>
          <a:xfrm xmlns:a="http://schemas.openxmlformats.org/drawingml/2006/main">
            <a:off x="8572500" y="1762125"/>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46.5% top-1</a:t>
            </a:r>
          </a:p>
        </p:txBody>
      </p:sp>
      <p:sp>
        <p:nvSpPr>
          <p:cNvPr id="10" name="Highest reported overall score. The tail gain is +21.7 points ove">
            <a:extLst xmlns:a="http://schemas.openxmlformats.org/drawingml/2006/main">
              <a:ext uri="{FF2B5EF4-FFF2-40B4-BE49-F238E27FC236}">
                <a16:creationId xmlns:a16="http://schemas.microsoft.com/office/drawing/2014/main" id="{E35FB9E2-574B-4C28-B330-08E19B2D3805}"/>
              </a:ext>
            </a:extLst>
          </p:cNvPr>
          <p:cNvSpPr>
            <a:spLocks xmlns:a="http://schemas.openxmlformats.org/drawingml/2006/main" noGrp="1"/>
          </p:cNvSpPr>
          <p:nvPr/>
        </p:nvSpPr>
        <p:spPr>
          <a:xfrm xmlns:a="http://schemas.openxmlformats.org/drawingml/2006/main">
            <a:off x="8572500" y="2209800"/>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Highest reported overall score. The tail gain is +21.7 points over ViT, but +1.3 over ResNet-32.</a:t>
            </a:r>
          </a:p>
        </p:txBody>
      </p:sp>
      <p:sp>
        <p:nvSpPr>
          <p:cNvPr id="11" name="Other metrics">
            <a:extLst xmlns:a="http://schemas.openxmlformats.org/drawingml/2006/main">
              <a:ext uri="{FF2B5EF4-FFF2-40B4-BE49-F238E27FC236}">
                <a16:creationId xmlns:a16="http://schemas.microsoft.com/office/drawing/2014/main" id="{5E66898E-A21E-490E-857F-1848A70C8EE4}"/>
              </a:ext>
            </a:extLst>
          </p:cNvPr>
          <p:cNvSpPr>
            <a:spLocks xmlns:a="http://schemas.openxmlformats.org/drawingml/2006/main" noGrp="1"/>
          </p:cNvSpPr>
          <p:nvPr/>
        </p:nvSpPr>
        <p:spPr>
          <a:xfrm xmlns:a="http://schemas.openxmlformats.org/drawingml/2006/main">
            <a:off x="8572500" y="3667125"/>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Other metrics</a:t>
            </a:r>
          </a:p>
        </p:txBody>
      </p:sp>
      <p:sp>
        <p:nvSpPr>
          <p:cNvPr id="12" name="DeiT-III reports the best top-5 (81.9%) and macro-F1 (46.3%).">
            <a:extLst xmlns:a="http://schemas.openxmlformats.org/drawingml/2006/main">
              <a:ext uri="{FF2B5EF4-FFF2-40B4-BE49-F238E27FC236}">
                <a16:creationId xmlns:a16="http://schemas.microsoft.com/office/drawing/2014/main" id="{81501DFE-0C03-4F61-BED4-8EBE4F5778A2}"/>
              </a:ext>
            </a:extLst>
          </p:cNvPr>
          <p:cNvSpPr>
            <a:spLocks xmlns:a="http://schemas.openxmlformats.org/drawingml/2006/main" noGrp="1"/>
          </p:cNvSpPr>
          <p:nvPr/>
        </p:nvSpPr>
        <p:spPr>
          <a:xfrm xmlns:a="http://schemas.openxmlformats.org/drawingml/2006/main">
            <a:off x="8572500" y="4114800"/>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DeiT-III reports the best top-5 (81.9%) and macro-F1 (46.3%).</a:t>
            </a:r>
          </a:p>
        </p:txBody>
      </p:sp>
      <p:sp>
        <p:nvSpPr>
          <p:cNvPr id="13" name="DeiT-Final’s head-to-tail gap is 25.0 points, versus 46.3 for Dei">
            <a:extLst xmlns:a="http://schemas.openxmlformats.org/drawingml/2006/main">
              <a:ext uri="{FF2B5EF4-FFF2-40B4-BE49-F238E27FC236}">
                <a16:creationId xmlns:a16="http://schemas.microsoft.com/office/drawing/2014/main" id="{48A850FD-1C5B-486B-B8A1-4A7EA61CC1A1}"/>
              </a:ext>
            </a:extLst>
          </p:cNvPr>
          <p:cNvSpPr>
            <a:spLocks xmlns:a="http://schemas.openxmlformats.org/drawingml/2006/main" noGrp="1"/>
          </p:cNvSpPr>
          <p:nvPr/>
        </p:nvSpPr>
        <p:spPr>
          <a:xfrm xmlns:a="http://schemas.openxmlformats.org/drawingml/2006/main">
            <a:off x="571500" y="57626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4A7772"/>
                </a:solidFill>
                <a:latin typeface="DejaVu Sans"/>
                <a:ea typeface="DejaVu Sans"/>
                <a:cs typeface="DejaVu Sans"/>
              </a:defRPr>
            </a:defPPr>
            <a:lvl1pPr algn="l">
              <a:defRPr sz="1800" b="1">
                <a:solidFill>
                  <a:srgbClr val="4A7772"/>
                </a:solidFill>
                <a:latin typeface="DejaVu Sans"/>
                <a:ea typeface="DejaVu Sans"/>
                <a:cs typeface="DejaVu Sans"/>
              </a:defRPr>
            </a:lvl1pPr>
            <a:lvl2pPr algn="l">
              <a:defRPr sz="1800" b="1">
                <a:solidFill>
                  <a:srgbClr val="4A7772"/>
                </a:solidFill>
                <a:latin typeface="DejaVu Sans"/>
                <a:ea typeface="DejaVu Sans"/>
                <a:cs typeface="DejaVu Sans"/>
              </a:defRPr>
            </a:lvl2pPr>
            <a:lvl3pPr algn="l">
              <a:defRPr sz="1800" b="1">
                <a:solidFill>
                  <a:srgbClr val="4A7772"/>
                </a:solidFill>
                <a:latin typeface="DejaVu Sans"/>
                <a:ea typeface="DejaVu Sans"/>
                <a:cs typeface="DejaVu Sans"/>
              </a:defRPr>
            </a:lvl3pPr>
            <a:lvl4pPr algn="l">
              <a:defRPr sz="1800" b="1">
                <a:solidFill>
                  <a:srgbClr val="4A7772"/>
                </a:solidFill>
                <a:latin typeface="DejaVu Sans"/>
                <a:ea typeface="DejaVu Sans"/>
                <a:cs typeface="DejaVu Sans"/>
              </a:defRPr>
            </a:lvl4pPr>
            <a:lvl5pPr algn="l">
              <a:defRPr sz="1800" b="1">
                <a:solidFill>
                  <a:srgbClr val="4A7772"/>
                </a:solidFill>
                <a:latin typeface="DejaVu Sans"/>
                <a:ea typeface="DejaVu Sans"/>
                <a:cs typeface="DejaVu Sans"/>
              </a:defRPr>
            </a:lvl5pPr>
            <a:lvl6pPr algn="l">
              <a:defRPr sz="1800" b="1">
                <a:solidFill>
                  <a:srgbClr val="4A7772"/>
                </a:solidFill>
                <a:latin typeface="DejaVu Sans"/>
                <a:ea typeface="DejaVu Sans"/>
                <a:cs typeface="DejaVu Sans"/>
              </a:defRPr>
            </a:lvl6pPr>
            <a:lvl7pPr algn="l">
              <a:defRPr sz="1800" b="1">
                <a:solidFill>
                  <a:srgbClr val="4A7772"/>
                </a:solidFill>
                <a:latin typeface="DejaVu Sans"/>
                <a:ea typeface="DejaVu Sans"/>
                <a:cs typeface="DejaVu Sans"/>
              </a:defRPr>
            </a:lvl7pPr>
            <a:lvl8pPr algn="l">
              <a:defRPr sz="1800" b="1">
                <a:solidFill>
                  <a:srgbClr val="4A7772"/>
                </a:solidFill>
                <a:latin typeface="DejaVu Sans"/>
                <a:ea typeface="DejaVu Sans"/>
                <a:cs typeface="DejaVu Sans"/>
              </a:defRPr>
            </a:lvl8pPr>
            <a:lvl9pPr algn="l">
              <a:defRPr sz="1800" b="1">
                <a:solidFill>
                  <a:srgbClr val="4A7772"/>
                </a:solidFill>
                <a:latin typeface="DejaVu Sans"/>
                <a:ea typeface="DejaVu Sans"/>
                <a:cs typeface="DejaVu Sans"/>
              </a:defRPr>
            </a:lvl9pPr>
          </a:lstStyle>
          <a:p xmlns:a="http://schemas.openxmlformats.org/drawingml/2006/main">
            <a:pPr algn="l">
              <a:defRPr sz="1800" b="1">
                <a:solidFill>
                  <a:srgbClr val="4A7772"/>
                </a:solidFill>
                <a:latin typeface="DejaVu Sans"/>
                <a:ea typeface="DejaVu Sans"/>
                <a:cs typeface="DejaVu Sans"/>
              </a:defRPr>
            </a:pPr>
            <a:r>
              <a:rPr sz="1800" b="1">
                <a:solidFill>
                  <a:srgbClr val="4A7772"/>
                </a:solidFill>
                <a:latin typeface="DejaVu Sans"/>
                <a:ea typeface="DejaVu Sans"/>
                <a:cs typeface="DejaVu Sans"/>
              </a:rPr>
              <a:t>DeiT-Final’s head-to-tail gap is 25.0 points, versus 46.3 for DeiT-III.</a:t>
            </a:r>
          </a:p>
        </p:txBody>
      </p:sp>
    </p:spTree>
    <p:extLst>
      <p:ext uri="{BB962C8B-B14F-4D97-AF65-F5344CB8AC3E}">
        <p14:creationId xmlns:p14="http://schemas.microsoft.com/office/powerpoint/2010/main" val="389878002"/>
      </p:ext>
    </p:extLst>
  </p:cSld>
</p:sld>
</file>

<file path=ppt/slides/slide1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INTERPRETATION">
            <a:extLst xmlns:a="http://schemas.openxmlformats.org/drawingml/2006/main">
              <a:ext uri="{FF2B5EF4-FFF2-40B4-BE49-F238E27FC236}">
                <a16:creationId xmlns:a16="http://schemas.microsoft.com/office/drawing/2014/main" id="{62CA52C7-E5CB-4BF7-9AF5-C3B9954202EF}"/>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INTERPRETATION</a:t>
            </a:r>
          </a:p>
        </p:txBody>
      </p:sp>
      <p:sp>
        <p:nvSpPr>
          <p:cNvPr id="3" name="Base-paper comparison and evidence limits">
            <a:extLst xmlns:a="http://schemas.openxmlformats.org/drawingml/2006/main">
              <a:ext uri="{FF2B5EF4-FFF2-40B4-BE49-F238E27FC236}">
                <a16:creationId xmlns:a16="http://schemas.microsoft.com/office/drawing/2014/main" id="{855DDEB1-E2A3-4D2D-820F-08F95CFB2804}"/>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Base-paper comparison and evidence limits</a:t>
            </a:r>
          </a:p>
        </p:txBody>
      </p:sp>
      <p:sp>
        <p:nvSpPr>
          <p:cNvPr id="4" name="">
            <a:extLst xmlns:a="http://schemas.openxmlformats.org/drawingml/2006/main">
              <a:ext uri="{FF2B5EF4-FFF2-40B4-BE49-F238E27FC236}">
                <a16:creationId xmlns:a16="http://schemas.microsoft.com/office/drawing/2014/main" id="{277AF309-C547-4D54-A4D8-A79A33A17874}"/>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Source: updated report, Table 7 and Discussion. Values as reporte">
            <a:extLst xmlns:a="http://schemas.openxmlformats.org/drawingml/2006/main">
              <a:ext uri="{FF2B5EF4-FFF2-40B4-BE49-F238E27FC236}">
                <a16:creationId xmlns:a16="http://schemas.microsoft.com/office/drawing/2014/main" id="{95E9E78C-ACF9-49D9-BBCD-F7FEA283E9DD}"/>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Source: updated report, Table 7 and Discussion. Values as reported. Baseline provenance: workspace CSVs label values synthetic. Reported results need verification.</a:t>
            </a:r>
          </a:p>
        </p:txBody>
      </p:sp>
      <p:sp>
        <p:nvSpPr>
          <p:cNvPr id="6" name="14 / 15">
            <a:extLst xmlns:a="http://schemas.openxmlformats.org/drawingml/2006/main">
              <a:ext uri="{FF2B5EF4-FFF2-40B4-BE49-F238E27FC236}">
                <a16:creationId xmlns:a16="http://schemas.microsoft.com/office/drawing/2014/main" id="{4894D1E0-4963-4B5E-B06E-5ACA446F7B0D}"/>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14 / 15</a:t>
            </a:r>
          </a:p>
        </p:txBody>
      </p:sp>
      <p:graphicFrame>
        <p:nvGraphicFramePr>
          <p:cNvPr id="7" name="">
            <a:extLst xmlns:a="http://schemas.openxmlformats.org/drawingml/2006/main">
              <a:ext uri="{FF2B5EF4-FFF2-40B4-BE49-F238E27FC236}">
                <a16:creationId xmlns:a16="http://schemas.microsoft.com/office/drawing/2014/main" id="{3C88D33B-C25E-4CE3-9CC1-9922F6B6D101}"/>
              </a:ext>
            </a:extLst>
          </p:cNvPr>
          <p:cNvGraphicFramePr/>
          <p:nvPr/>
        </p:nvGraphicFramePr>
        <p:xfrm>
          <a:off xmlns:a="http://schemas.openxmlformats.org/drawingml/2006/main" x="571500" y="1714500"/>
          <a:ext xmlns:a="http://schemas.openxmlformats.org/drawingml/2006/main" cx="11049000" cy="2047875"/>
        </p:xfrm>
        <a:graphic xmlns:a="http://schemas.openxmlformats.org/drawingml/2006/main">
          <a:graphicData uri="http://schemas.openxmlformats.org/drawingml/2006/table">
            <a:tbl>
              <a:tblPr/>
              <a:tblGrid>
                <a:gridCol w="5905500"/>
                <a:gridCol w="2571750"/>
                <a:gridCol w="2571750"/>
              </a:tblGrid>
              <a:tr h="511969">
                <a:tc>
                  <a:txBody>
                    <a:bodyPr/>
                    <a:lstStyle/>
                    <a:p>
                      <a:pPr algn="l"/>
                      <a:r>
                        <a:rPr sz="1650" b="1">
                          <a:solidFill>
                            <a:srgbClr val="FFFFFF"/>
                          </a:solidFill>
                          <a:latin typeface="DejaVu Sans"/>
                          <a:ea typeface="DejaVu Sans"/>
                          <a:cs typeface="DejaVu Sans"/>
                        </a:rPr>
                        <a:t>IF = 100</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650" b="1">
                          <a:solidFill>
                            <a:srgbClr val="FFFFFF"/>
                          </a:solidFill>
                          <a:latin typeface="DejaVu Sans"/>
                          <a:ea typeface="DejaVu Sans"/>
                          <a:cs typeface="DejaVu Sans"/>
                        </a:rPr>
                        <a:t>CIFAR-10-LT</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650" b="1">
                          <a:solidFill>
                            <a:srgbClr val="FFFFFF"/>
                          </a:solidFill>
                          <a:latin typeface="DejaVu Sans"/>
                          <a:ea typeface="DejaVu Sans"/>
                          <a:cs typeface="DejaVu Sans"/>
                        </a:rPr>
                        <a:t>CIFAR-100-LT</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511969">
                <a:tc>
                  <a:txBody>
                    <a:bodyPr/>
                    <a:lstStyle/>
                    <a:p>
                      <a:pPr algn="l"/>
                      <a:r>
                        <a:rPr sz="1650" b="0">
                          <a:solidFill>
                            <a:srgbClr val="202B38"/>
                          </a:solidFill>
                          <a:latin typeface="DejaVu Sans"/>
                          <a:ea typeface="DejaVu Sans"/>
                          <a:cs typeface="DejaVu Sans"/>
                        </a:rPr>
                        <a:t>DeiT-Final, project report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650" b="0">
                          <a:solidFill>
                            <a:srgbClr val="202B38"/>
                          </a:solidFill>
                          <a:latin typeface="DejaVu Sans"/>
                          <a:ea typeface="DejaVu Sans"/>
                          <a:cs typeface="DejaVu Sans"/>
                        </a:rPr>
                        <a:t>78.3</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650" b="0">
                          <a:solidFill>
                            <a:srgbClr val="202B38"/>
                          </a:solidFill>
                          <a:latin typeface="DejaVu Sans"/>
                          <a:ea typeface="DejaVu Sans"/>
                          <a:cs typeface="DejaVu Sans"/>
                        </a:rPr>
                        <a:t>46.8</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11969">
                <a:tc>
                  <a:txBody>
                    <a:bodyPr/>
                    <a:lstStyle/>
                    <a:p>
                      <a:pPr algn="l"/>
                      <a:r>
                        <a:rPr sz="1650" b="0">
                          <a:solidFill>
                            <a:srgbClr val="202B38"/>
                          </a:solidFill>
                          <a:latin typeface="DejaVu Sans"/>
                          <a:ea typeface="DejaVu Sans"/>
                          <a:cs typeface="DejaVu Sans"/>
                        </a:rPr>
                        <a:t>DeiT-LT, cited base-paper value</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650" b="0">
                          <a:solidFill>
                            <a:srgbClr val="202B38"/>
                          </a:solidFill>
                          <a:latin typeface="DejaVu Sans"/>
                          <a:ea typeface="DejaVu Sans"/>
                          <a:cs typeface="DejaVu Sans"/>
                        </a:rPr>
                        <a:t>80.8</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650" b="0">
                          <a:solidFill>
                            <a:srgbClr val="202B38"/>
                          </a:solidFill>
                          <a:latin typeface="DejaVu Sans"/>
                          <a:ea typeface="DejaVu Sans"/>
                          <a:cs typeface="DejaVu Sans"/>
                        </a:rPr>
                        <a:t>49.3</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r h="511969">
                <a:tc>
                  <a:txBody>
                    <a:bodyPr/>
                    <a:lstStyle/>
                    <a:p>
                      <a:pPr algn="l"/>
                      <a:r>
                        <a:rPr sz="1650" b="0">
                          <a:solidFill>
                            <a:srgbClr val="202B38"/>
                          </a:solidFill>
                          <a:latin typeface="DejaVu Sans"/>
                          <a:ea typeface="DejaVu Sans"/>
                          <a:cs typeface="DejaVu Sans"/>
                        </a:rPr>
                        <a:t>Reported gap (percentage points)</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650" b="0">
                          <a:solidFill>
                            <a:srgbClr val="202B38"/>
                          </a:solidFill>
                          <a:latin typeface="DejaVu Sans"/>
                          <a:ea typeface="DejaVu Sans"/>
                          <a:cs typeface="DejaVu Sans"/>
                        </a:rPr>
                        <a:t>−2.5</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650" b="0">
                          <a:solidFill>
                            <a:srgbClr val="202B38"/>
                          </a:solidFill>
                          <a:latin typeface="DejaVu Sans"/>
                          <a:ea typeface="DejaVu Sans"/>
                          <a:cs typeface="DejaVu Sans"/>
                        </a:rPr>
                        <a:t>−2.5</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bl>
          </a:graphicData>
        </a:graphic>
      </p:graphicFrame>
      <p:sp>
        <p:nvSpPr>
          <p:cNvPr id="8" name="What limits the conclusion">
            <a:extLst xmlns:a="http://schemas.openxmlformats.org/drawingml/2006/main">
              <a:ext uri="{FF2B5EF4-FFF2-40B4-BE49-F238E27FC236}">
                <a16:creationId xmlns:a16="http://schemas.microsoft.com/office/drawing/2014/main" id="{203F39E3-F2D8-4954-AE91-8CCA8C1AE024}"/>
              </a:ext>
            </a:extLst>
          </p:cNvPr>
          <p:cNvSpPr>
            <a:spLocks xmlns:a="http://schemas.openxmlformats.org/drawingml/2006/main" noGrp="1"/>
          </p:cNvSpPr>
          <p:nvPr/>
        </p:nvSpPr>
        <p:spPr>
          <a:xfrm xmlns:a="http://schemas.openxmlformats.org/drawingml/2006/main">
            <a:off x="571500" y="409575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B38"/>
                </a:solidFill>
                <a:latin typeface="DejaVu Sans"/>
                <a:ea typeface="DejaVu Sans"/>
                <a:cs typeface="DejaVu Sans"/>
              </a:defRPr>
            </a:defPPr>
            <a:lvl1pPr algn="l">
              <a:defRPr sz="2025" b="1">
                <a:solidFill>
                  <a:srgbClr val="202B38"/>
                </a:solidFill>
                <a:latin typeface="DejaVu Sans"/>
                <a:ea typeface="DejaVu Sans"/>
                <a:cs typeface="DejaVu Sans"/>
              </a:defRPr>
            </a:lvl1pPr>
            <a:lvl2pPr algn="l">
              <a:defRPr sz="2025" b="1">
                <a:solidFill>
                  <a:srgbClr val="202B38"/>
                </a:solidFill>
                <a:latin typeface="DejaVu Sans"/>
                <a:ea typeface="DejaVu Sans"/>
                <a:cs typeface="DejaVu Sans"/>
              </a:defRPr>
            </a:lvl2pPr>
            <a:lvl3pPr algn="l">
              <a:defRPr sz="2025" b="1">
                <a:solidFill>
                  <a:srgbClr val="202B38"/>
                </a:solidFill>
                <a:latin typeface="DejaVu Sans"/>
                <a:ea typeface="DejaVu Sans"/>
                <a:cs typeface="DejaVu Sans"/>
              </a:defRPr>
            </a:lvl3pPr>
            <a:lvl4pPr algn="l">
              <a:defRPr sz="2025" b="1">
                <a:solidFill>
                  <a:srgbClr val="202B38"/>
                </a:solidFill>
                <a:latin typeface="DejaVu Sans"/>
                <a:ea typeface="DejaVu Sans"/>
                <a:cs typeface="DejaVu Sans"/>
              </a:defRPr>
            </a:lvl4pPr>
            <a:lvl5pPr algn="l">
              <a:defRPr sz="2025" b="1">
                <a:solidFill>
                  <a:srgbClr val="202B38"/>
                </a:solidFill>
                <a:latin typeface="DejaVu Sans"/>
                <a:ea typeface="DejaVu Sans"/>
                <a:cs typeface="DejaVu Sans"/>
              </a:defRPr>
            </a:lvl5pPr>
            <a:lvl6pPr algn="l">
              <a:defRPr sz="2025" b="1">
                <a:solidFill>
                  <a:srgbClr val="202B38"/>
                </a:solidFill>
                <a:latin typeface="DejaVu Sans"/>
                <a:ea typeface="DejaVu Sans"/>
                <a:cs typeface="DejaVu Sans"/>
              </a:defRPr>
            </a:lvl6pPr>
            <a:lvl7pPr algn="l">
              <a:defRPr sz="2025" b="1">
                <a:solidFill>
                  <a:srgbClr val="202B38"/>
                </a:solidFill>
                <a:latin typeface="DejaVu Sans"/>
                <a:ea typeface="DejaVu Sans"/>
                <a:cs typeface="DejaVu Sans"/>
              </a:defRPr>
            </a:lvl7pPr>
            <a:lvl8pPr algn="l">
              <a:defRPr sz="2025" b="1">
                <a:solidFill>
                  <a:srgbClr val="202B38"/>
                </a:solidFill>
                <a:latin typeface="DejaVu Sans"/>
                <a:ea typeface="DejaVu Sans"/>
                <a:cs typeface="DejaVu Sans"/>
              </a:defRPr>
            </a:lvl8pPr>
            <a:lvl9pPr algn="l">
              <a:defRPr sz="2025" b="1">
                <a:solidFill>
                  <a:srgbClr val="202B38"/>
                </a:solidFill>
                <a:latin typeface="DejaVu Sans"/>
                <a:ea typeface="DejaVu Sans"/>
                <a:cs typeface="DejaVu Sans"/>
              </a:defRPr>
            </a:lvl9pPr>
          </a:lstStyle>
          <a:p xmlns:a="http://schemas.openxmlformats.org/drawingml/2006/main">
            <a:pPr algn="l">
              <a:defRPr sz="2025" b="1">
                <a:solidFill>
                  <a:srgbClr val="202B38"/>
                </a:solidFill>
                <a:latin typeface="DejaVu Sans"/>
                <a:ea typeface="DejaVu Sans"/>
                <a:cs typeface="DejaVu Sans"/>
              </a:defRPr>
            </a:pPr>
            <a:r>
              <a:rPr sz="2025" b="1">
                <a:solidFill>
                  <a:srgbClr val="202B38"/>
                </a:solidFill>
                <a:latin typeface="DejaVu Sans"/>
                <a:ea typeface="DejaVu Sans"/>
                <a:cs typeface="DejaVu Sans"/>
              </a:rPr>
              <a:t>What limits the conclusion</a:t>
            </a:r>
          </a:p>
        </p:txBody>
      </p:sp>
      <p:sp>
        <p:nvSpPr>
          <p:cNvPr id="9" name="Training budget: 100 versus 1,200 epochs on CIFAR prevents a cont">
            <a:extLst xmlns:a="http://schemas.openxmlformats.org/drawingml/2006/main">
              <a:ext uri="{FF2B5EF4-FFF2-40B4-BE49-F238E27FC236}">
                <a16:creationId xmlns:a16="http://schemas.microsoft.com/office/drawing/2014/main" id="{F1EDEAF7-B9EB-4EDF-88A7-DFD40D1DA9F0}"/>
              </a:ext>
            </a:extLst>
          </p:cNvPr>
          <p:cNvSpPr>
            <a:spLocks xmlns:a="http://schemas.openxmlformats.org/drawingml/2006/main" noGrp="1"/>
          </p:cNvSpPr>
          <p:nvPr/>
        </p:nvSpPr>
        <p:spPr>
          <a:xfrm xmlns:a="http://schemas.openxmlformats.org/drawingml/2006/main">
            <a:off x="571500" y="4552950"/>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4707C"/>
                </a:solidFill>
                <a:latin typeface="DejaVu Sans"/>
                <a:ea typeface="DejaVu Sans"/>
                <a:cs typeface="DejaVu Sans"/>
              </a:defRPr>
            </a:defPPr>
            <a:lvl1pPr algn="l">
              <a:defRPr sz="1650" b="0">
                <a:solidFill>
                  <a:srgbClr val="64707C"/>
                </a:solidFill>
                <a:latin typeface="DejaVu Sans"/>
                <a:ea typeface="DejaVu Sans"/>
                <a:cs typeface="DejaVu Sans"/>
              </a:defRPr>
            </a:lvl1pPr>
            <a:lvl2pPr algn="l">
              <a:defRPr sz="1650" b="0">
                <a:solidFill>
                  <a:srgbClr val="64707C"/>
                </a:solidFill>
                <a:latin typeface="DejaVu Sans"/>
                <a:ea typeface="DejaVu Sans"/>
                <a:cs typeface="DejaVu Sans"/>
              </a:defRPr>
            </a:lvl2pPr>
            <a:lvl3pPr algn="l">
              <a:defRPr sz="1650" b="0">
                <a:solidFill>
                  <a:srgbClr val="64707C"/>
                </a:solidFill>
                <a:latin typeface="DejaVu Sans"/>
                <a:ea typeface="DejaVu Sans"/>
                <a:cs typeface="DejaVu Sans"/>
              </a:defRPr>
            </a:lvl3pPr>
            <a:lvl4pPr algn="l">
              <a:defRPr sz="1650" b="0">
                <a:solidFill>
                  <a:srgbClr val="64707C"/>
                </a:solidFill>
                <a:latin typeface="DejaVu Sans"/>
                <a:ea typeface="DejaVu Sans"/>
                <a:cs typeface="DejaVu Sans"/>
              </a:defRPr>
            </a:lvl4pPr>
            <a:lvl5pPr algn="l">
              <a:defRPr sz="1650" b="0">
                <a:solidFill>
                  <a:srgbClr val="64707C"/>
                </a:solidFill>
                <a:latin typeface="DejaVu Sans"/>
                <a:ea typeface="DejaVu Sans"/>
                <a:cs typeface="DejaVu Sans"/>
              </a:defRPr>
            </a:lvl5pPr>
            <a:lvl6pPr algn="l">
              <a:defRPr sz="1650" b="0">
                <a:solidFill>
                  <a:srgbClr val="64707C"/>
                </a:solidFill>
                <a:latin typeface="DejaVu Sans"/>
                <a:ea typeface="DejaVu Sans"/>
                <a:cs typeface="DejaVu Sans"/>
              </a:defRPr>
            </a:lvl6pPr>
            <a:lvl7pPr algn="l">
              <a:defRPr sz="1650" b="0">
                <a:solidFill>
                  <a:srgbClr val="64707C"/>
                </a:solidFill>
                <a:latin typeface="DejaVu Sans"/>
                <a:ea typeface="DejaVu Sans"/>
                <a:cs typeface="DejaVu Sans"/>
              </a:defRPr>
            </a:lvl7pPr>
            <a:lvl8pPr algn="l">
              <a:defRPr sz="1650" b="0">
                <a:solidFill>
                  <a:srgbClr val="64707C"/>
                </a:solidFill>
                <a:latin typeface="DejaVu Sans"/>
                <a:ea typeface="DejaVu Sans"/>
                <a:cs typeface="DejaVu Sans"/>
              </a:defRPr>
            </a:lvl8pPr>
            <a:lvl9pPr algn="l">
              <a:defRPr sz="1650" b="0">
                <a:solidFill>
                  <a:srgbClr val="64707C"/>
                </a:solidFill>
                <a:latin typeface="DejaVu Sans"/>
                <a:ea typeface="DejaVu Sans"/>
                <a:cs typeface="DejaVu Sans"/>
              </a:defRPr>
            </a:lvl9pPr>
          </a:lstStyle>
          <a:p xmlns:a="http://schemas.openxmlformats.org/drawingml/2006/main">
            <a:pPr algn="l">
              <a:defRPr sz="1650" b="0">
                <a:solidFill>
                  <a:srgbClr val="64707C"/>
                </a:solidFill>
                <a:latin typeface="DejaVu Sans"/>
                <a:ea typeface="DejaVu Sans"/>
                <a:cs typeface="DejaVu Sans"/>
              </a:defRPr>
            </a:pPr>
            <a:r>
              <a:rPr sz="1650" b="0">
                <a:solidFill>
                  <a:srgbClr val="64707C"/>
                </a:solidFill>
                <a:latin typeface="DejaVu Sans"/>
                <a:ea typeface="DejaVu Sans"/>
                <a:cs typeface="DejaVu Sans"/>
              </a:rPr>
              <a:t>Training budget: 100 versus 1,200 epochs on CIFAR prevents a controlled method comparison.</a:t>
            </a:r>
          </a:p>
        </p:txBody>
      </p:sp>
      <p:sp>
        <p:nvSpPr>
          <p:cNvPr id="10" name="Metric consistency: CIFAR-10 IF100 CNN group scores imply 64.65% ">
            <a:extLst xmlns:a="http://schemas.openxmlformats.org/drawingml/2006/main">
              <a:ext uri="{FF2B5EF4-FFF2-40B4-BE49-F238E27FC236}">
                <a16:creationId xmlns:a16="http://schemas.microsoft.com/office/drawing/2014/main" id="{D501BEA2-6855-4991-B659-1FF0C302DDA3}"/>
              </a:ext>
            </a:extLst>
          </p:cNvPr>
          <p:cNvSpPr>
            <a:spLocks xmlns:a="http://schemas.openxmlformats.org/drawingml/2006/main" noGrp="1"/>
          </p:cNvSpPr>
          <p:nvPr/>
        </p:nvSpPr>
        <p:spPr>
          <a:xfrm xmlns:a="http://schemas.openxmlformats.org/drawingml/2006/main">
            <a:off x="571500" y="514350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4707C"/>
                </a:solidFill>
                <a:latin typeface="DejaVu Sans"/>
                <a:ea typeface="DejaVu Sans"/>
                <a:cs typeface="DejaVu Sans"/>
              </a:defRPr>
            </a:defPPr>
            <a:lvl1pPr algn="l">
              <a:defRPr sz="1650" b="0">
                <a:solidFill>
                  <a:srgbClr val="64707C"/>
                </a:solidFill>
                <a:latin typeface="DejaVu Sans"/>
                <a:ea typeface="DejaVu Sans"/>
                <a:cs typeface="DejaVu Sans"/>
              </a:defRPr>
            </a:lvl1pPr>
            <a:lvl2pPr algn="l">
              <a:defRPr sz="1650" b="0">
                <a:solidFill>
                  <a:srgbClr val="64707C"/>
                </a:solidFill>
                <a:latin typeface="DejaVu Sans"/>
                <a:ea typeface="DejaVu Sans"/>
                <a:cs typeface="DejaVu Sans"/>
              </a:defRPr>
            </a:lvl2pPr>
            <a:lvl3pPr algn="l">
              <a:defRPr sz="1650" b="0">
                <a:solidFill>
                  <a:srgbClr val="64707C"/>
                </a:solidFill>
                <a:latin typeface="DejaVu Sans"/>
                <a:ea typeface="DejaVu Sans"/>
                <a:cs typeface="DejaVu Sans"/>
              </a:defRPr>
            </a:lvl3pPr>
            <a:lvl4pPr algn="l">
              <a:defRPr sz="1650" b="0">
                <a:solidFill>
                  <a:srgbClr val="64707C"/>
                </a:solidFill>
                <a:latin typeface="DejaVu Sans"/>
                <a:ea typeface="DejaVu Sans"/>
                <a:cs typeface="DejaVu Sans"/>
              </a:defRPr>
            </a:lvl4pPr>
            <a:lvl5pPr algn="l">
              <a:defRPr sz="1650" b="0">
                <a:solidFill>
                  <a:srgbClr val="64707C"/>
                </a:solidFill>
                <a:latin typeface="DejaVu Sans"/>
                <a:ea typeface="DejaVu Sans"/>
                <a:cs typeface="DejaVu Sans"/>
              </a:defRPr>
            </a:lvl5pPr>
            <a:lvl6pPr algn="l">
              <a:defRPr sz="1650" b="0">
                <a:solidFill>
                  <a:srgbClr val="64707C"/>
                </a:solidFill>
                <a:latin typeface="DejaVu Sans"/>
                <a:ea typeface="DejaVu Sans"/>
                <a:cs typeface="DejaVu Sans"/>
              </a:defRPr>
            </a:lvl6pPr>
            <a:lvl7pPr algn="l">
              <a:defRPr sz="1650" b="0">
                <a:solidFill>
                  <a:srgbClr val="64707C"/>
                </a:solidFill>
                <a:latin typeface="DejaVu Sans"/>
                <a:ea typeface="DejaVu Sans"/>
                <a:cs typeface="DejaVu Sans"/>
              </a:defRPr>
            </a:lvl7pPr>
            <a:lvl8pPr algn="l">
              <a:defRPr sz="1650" b="0">
                <a:solidFill>
                  <a:srgbClr val="64707C"/>
                </a:solidFill>
                <a:latin typeface="DejaVu Sans"/>
                <a:ea typeface="DejaVu Sans"/>
                <a:cs typeface="DejaVu Sans"/>
              </a:defRPr>
            </a:lvl8pPr>
            <a:lvl9pPr algn="l">
              <a:defRPr sz="1650" b="0">
                <a:solidFill>
                  <a:srgbClr val="64707C"/>
                </a:solidFill>
                <a:latin typeface="DejaVu Sans"/>
                <a:ea typeface="DejaVu Sans"/>
                <a:cs typeface="DejaVu Sans"/>
              </a:defRPr>
            </a:lvl9pPr>
          </a:lstStyle>
          <a:p xmlns:a="http://schemas.openxmlformats.org/drawingml/2006/main">
            <a:pPr algn="l">
              <a:defRPr sz="1650" b="0">
                <a:solidFill>
                  <a:srgbClr val="64707C"/>
                </a:solidFill>
                <a:latin typeface="DejaVu Sans"/>
                <a:ea typeface="DejaVu Sans"/>
                <a:cs typeface="DejaVu Sans"/>
              </a:defRPr>
            </a:pPr>
            <a:r>
              <a:rPr sz="1650" b="0">
                <a:solidFill>
                  <a:srgbClr val="64707C"/>
                </a:solidFill>
                <a:latin typeface="DejaVu Sans"/>
                <a:ea typeface="DejaVu Sans"/>
                <a:cs typeface="DejaVu Sans"/>
              </a:rPr>
              <a:t>Metric consistency: CIFAR-10 IF100 CNN group scores imply 64.65% top-1, versus the table’s 74.5%.</a:t>
            </a:r>
          </a:p>
        </p:txBody>
      </p:sp>
      <p:sp>
        <p:nvSpPr>
          <p:cNvPr id="11" name="Synthetic CSVs and missing checkpoints leave the reported results">
            <a:extLst xmlns:a="http://schemas.openxmlformats.org/drawingml/2006/main">
              <a:ext uri="{FF2B5EF4-FFF2-40B4-BE49-F238E27FC236}">
                <a16:creationId xmlns:a16="http://schemas.microsoft.com/office/drawing/2014/main" id="{102B5494-101F-44EE-826E-78D2040F2912}"/>
              </a:ext>
            </a:extLst>
          </p:cNvPr>
          <p:cNvSpPr>
            <a:spLocks xmlns:a="http://schemas.openxmlformats.org/drawingml/2006/main" noGrp="1"/>
          </p:cNvSpPr>
          <p:nvPr/>
        </p:nvSpPr>
        <p:spPr>
          <a:xfrm xmlns:a="http://schemas.openxmlformats.org/drawingml/2006/main">
            <a:off x="571500" y="57150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B66D4F"/>
                </a:solidFill>
                <a:latin typeface="DejaVu Sans"/>
                <a:ea typeface="DejaVu Sans"/>
                <a:cs typeface="DejaVu Sans"/>
              </a:defRPr>
            </a:defPPr>
            <a:lvl1pPr algn="l">
              <a:defRPr sz="1575" b="1">
                <a:solidFill>
                  <a:srgbClr val="B66D4F"/>
                </a:solidFill>
                <a:latin typeface="DejaVu Sans"/>
                <a:ea typeface="DejaVu Sans"/>
                <a:cs typeface="DejaVu Sans"/>
              </a:defRPr>
            </a:lvl1pPr>
            <a:lvl2pPr algn="l">
              <a:defRPr sz="1575" b="1">
                <a:solidFill>
                  <a:srgbClr val="B66D4F"/>
                </a:solidFill>
                <a:latin typeface="DejaVu Sans"/>
                <a:ea typeface="DejaVu Sans"/>
                <a:cs typeface="DejaVu Sans"/>
              </a:defRPr>
            </a:lvl2pPr>
            <a:lvl3pPr algn="l">
              <a:defRPr sz="1575" b="1">
                <a:solidFill>
                  <a:srgbClr val="B66D4F"/>
                </a:solidFill>
                <a:latin typeface="DejaVu Sans"/>
                <a:ea typeface="DejaVu Sans"/>
                <a:cs typeface="DejaVu Sans"/>
              </a:defRPr>
            </a:lvl3pPr>
            <a:lvl4pPr algn="l">
              <a:defRPr sz="1575" b="1">
                <a:solidFill>
                  <a:srgbClr val="B66D4F"/>
                </a:solidFill>
                <a:latin typeface="DejaVu Sans"/>
                <a:ea typeface="DejaVu Sans"/>
                <a:cs typeface="DejaVu Sans"/>
              </a:defRPr>
            </a:lvl4pPr>
            <a:lvl5pPr algn="l">
              <a:defRPr sz="1575" b="1">
                <a:solidFill>
                  <a:srgbClr val="B66D4F"/>
                </a:solidFill>
                <a:latin typeface="DejaVu Sans"/>
                <a:ea typeface="DejaVu Sans"/>
                <a:cs typeface="DejaVu Sans"/>
              </a:defRPr>
            </a:lvl5pPr>
            <a:lvl6pPr algn="l">
              <a:defRPr sz="1575" b="1">
                <a:solidFill>
                  <a:srgbClr val="B66D4F"/>
                </a:solidFill>
                <a:latin typeface="DejaVu Sans"/>
                <a:ea typeface="DejaVu Sans"/>
                <a:cs typeface="DejaVu Sans"/>
              </a:defRPr>
            </a:lvl6pPr>
            <a:lvl7pPr algn="l">
              <a:defRPr sz="1575" b="1">
                <a:solidFill>
                  <a:srgbClr val="B66D4F"/>
                </a:solidFill>
                <a:latin typeface="DejaVu Sans"/>
                <a:ea typeface="DejaVu Sans"/>
                <a:cs typeface="DejaVu Sans"/>
              </a:defRPr>
            </a:lvl7pPr>
            <a:lvl8pPr algn="l">
              <a:defRPr sz="1575" b="1">
                <a:solidFill>
                  <a:srgbClr val="B66D4F"/>
                </a:solidFill>
                <a:latin typeface="DejaVu Sans"/>
                <a:ea typeface="DejaVu Sans"/>
                <a:cs typeface="DejaVu Sans"/>
              </a:defRPr>
            </a:lvl8pPr>
            <a:lvl9pPr algn="l">
              <a:defRPr sz="1575" b="1">
                <a:solidFill>
                  <a:srgbClr val="B66D4F"/>
                </a:solidFill>
                <a:latin typeface="DejaVu Sans"/>
                <a:ea typeface="DejaVu Sans"/>
                <a:cs typeface="DejaVu Sans"/>
              </a:defRPr>
            </a:lvl9pPr>
          </a:lstStyle>
          <a:p xmlns:a="http://schemas.openxmlformats.org/drawingml/2006/main">
            <a:pPr algn="l">
              <a:defRPr sz="1575" b="1">
                <a:solidFill>
                  <a:srgbClr val="B66D4F"/>
                </a:solidFill>
                <a:latin typeface="DejaVu Sans"/>
                <a:ea typeface="DejaVu Sans"/>
                <a:cs typeface="DejaVu Sans"/>
              </a:defRPr>
            </a:pPr>
            <a:r>
              <a:rPr sz="1575" b="1">
                <a:solidFill>
                  <a:srgbClr val="B66D4F"/>
                </a:solidFill>
                <a:latin typeface="DejaVu Sans"/>
                <a:ea typeface="DejaVu Sans"/>
                <a:cs typeface="DejaVu Sans"/>
              </a:rPr>
              <a:t>Synthetic CSVs and missing checkpoints leave the reported results unverified.</a:t>
            </a:r>
          </a:p>
        </p:txBody>
      </p:sp>
    </p:spTree>
    <p:extLst>
      <p:ext uri="{BB962C8B-B14F-4D97-AF65-F5344CB8AC3E}">
        <p14:creationId xmlns:p14="http://schemas.microsoft.com/office/powerpoint/2010/main" val="106837996"/>
      </p:ext>
    </p:extLst>
  </p:cSld>
</p:sld>
</file>

<file path=ppt/slides/slide1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INFERENCE">
            <a:extLst xmlns:a="http://schemas.openxmlformats.org/drawingml/2006/main">
              <a:ext uri="{FF2B5EF4-FFF2-40B4-BE49-F238E27FC236}">
                <a16:creationId xmlns:a16="http://schemas.microsoft.com/office/drawing/2014/main" id="{40AF1DEC-7B80-43C9-B760-3A8BF1BEC8D4}"/>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INFERENCE</a:t>
            </a:r>
          </a:p>
        </p:txBody>
      </p:sp>
      <p:sp>
        <p:nvSpPr>
          <p:cNvPr id="3" name="Conclusions and next experiments">
            <a:extLst xmlns:a="http://schemas.openxmlformats.org/drawingml/2006/main">
              <a:ext uri="{FF2B5EF4-FFF2-40B4-BE49-F238E27FC236}">
                <a16:creationId xmlns:a16="http://schemas.microsoft.com/office/drawing/2014/main" id="{63A8BFA6-50F4-4784-A9BD-26E066178533}"/>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Conclusions and next experiments</a:t>
            </a:r>
          </a:p>
        </p:txBody>
      </p:sp>
      <p:sp>
        <p:nvSpPr>
          <p:cNvPr id="4" name="">
            <a:extLst xmlns:a="http://schemas.openxmlformats.org/drawingml/2006/main">
              <a:ext uri="{FF2B5EF4-FFF2-40B4-BE49-F238E27FC236}">
                <a16:creationId xmlns:a16="http://schemas.microsoft.com/office/drawing/2014/main" id="{22702826-7492-443D-8AF7-46CCD9961FEE}"/>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198F7CCF-1B84-4C8A-BE4A-4E02DD4113E7}"/>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15 / 15">
            <a:extLst xmlns:a="http://schemas.openxmlformats.org/drawingml/2006/main">
              <a:ext uri="{FF2B5EF4-FFF2-40B4-BE49-F238E27FC236}">
                <a16:creationId xmlns:a16="http://schemas.microsoft.com/office/drawing/2014/main" id="{4AC65D07-5195-447F-BB26-2546C6CB3F63}"/>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15 / 15</a:t>
            </a:r>
          </a:p>
        </p:txBody>
      </p:sp>
      <p:sp>
        <p:nvSpPr>
          <p:cNvPr id="7" name="Methodological insight">
            <a:extLst xmlns:a="http://schemas.openxmlformats.org/drawingml/2006/main">
              <a:ext uri="{FF2B5EF4-FFF2-40B4-BE49-F238E27FC236}">
                <a16:creationId xmlns:a16="http://schemas.microsoft.com/office/drawing/2014/main" id="{35AABA64-5B01-492D-9061-F955BE736E95}"/>
              </a:ext>
            </a:extLst>
          </p:cNvPr>
          <p:cNvSpPr>
            <a:spLocks xmlns:a="http://schemas.openxmlformats.org/drawingml/2006/main" noGrp="1"/>
          </p:cNvSpPr>
          <p:nvPr/>
        </p:nvSpPr>
        <p:spPr>
          <a:xfrm xmlns:a="http://schemas.openxmlformats.org/drawingml/2006/main">
            <a:off x="571500" y="1762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Methodological insight</a:t>
            </a:r>
          </a:p>
        </p:txBody>
      </p:sp>
      <p:sp>
        <p:nvSpPr>
          <p:cNvPr id="8" name="DeiT-LT combines CNN distillation with separate CLS and DIST supe">
            <a:extLst xmlns:a="http://schemas.openxmlformats.org/drawingml/2006/main">
              <a:ext uri="{FF2B5EF4-FFF2-40B4-BE49-F238E27FC236}">
                <a16:creationId xmlns:a16="http://schemas.microsoft.com/office/drawing/2014/main" id="{2746D1EF-E38D-4BFB-A184-52ECDB777289}"/>
              </a:ext>
            </a:extLst>
          </p:cNvPr>
          <p:cNvSpPr>
            <a:spLocks xmlns:a="http://schemas.openxmlformats.org/drawingml/2006/main" noGrp="1"/>
          </p:cNvSpPr>
          <p:nvPr/>
        </p:nvSpPr>
        <p:spPr>
          <a:xfrm xmlns:a="http://schemas.openxmlformats.org/drawingml/2006/main">
            <a:off x="571500" y="2209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DeiT-LT combines CNN distillation with separate CLS and DIST supervision to target the long tail.</a:t>
            </a:r>
          </a:p>
        </p:txBody>
      </p:sp>
      <p:sp>
        <p:nvSpPr>
          <p:cNvPr id="9" name="Reported outcome">
            <a:extLst xmlns:a="http://schemas.openxmlformats.org/drawingml/2006/main">
              <a:ext uri="{FF2B5EF4-FFF2-40B4-BE49-F238E27FC236}">
                <a16:creationId xmlns:a16="http://schemas.microsoft.com/office/drawing/2014/main" id="{F507A139-C0DE-4EAD-BE78-FAD744BE1DC7}"/>
              </a:ext>
            </a:extLst>
          </p:cNvPr>
          <p:cNvSpPr>
            <a:spLocks xmlns:a="http://schemas.openxmlformats.org/drawingml/2006/main" noGrp="1"/>
          </p:cNvSpPr>
          <p:nvPr/>
        </p:nvSpPr>
        <p:spPr>
          <a:xfrm xmlns:a="http://schemas.openxmlformats.org/drawingml/2006/main">
            <a:off x="6286500" y="1762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Reported outcome</a:t>
            </a:r>
          </a:p>
        </p:txBody>
      </p:sp>
      <p:sp>
        <p:nvSpPr>
          <p:cNvPr id="10" name="The report ranks DeiT-Final first in top-1 across five settings. ">
            <a:extLst xmlns:a="http://schemas.openxmlformats.org/drawingml/2006/main">
              <a:ext uri="{FF2B5EF4-FFF2-40B4-BE49-F238E27FC236}">
                <a16:creationId xmlns:a16="http://schemas.microsoft.com/office/drawing/2014/main" id="{54A6C86E-FB8D-4260-B0E0-6700576CBCFC}"/>
              </a:ext>
            </a:extLst>
          </p:cNvPr>
          <p:cNvSpPr>
            <a:spLocks xmlns:a="http://schemas.openxmlformats.org/drawingml/2006/main" noGrp="1"/>
          </p:cNvSpPr>
          <p:nvPr/>
        </p:nvSpPr>
        <p:spPr>
          <a:xfrm xmlns:a="http://schemas.openxmlformats.org/drawingml/2006/main">
            <a:off x="6286500" y="2209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The report ranks DeiT-Final first in top-1 across five settings. CIFAR-100 tail and ImageNet macro-F1 show trade-offs.</a:t>
            </a:r>
          </a:p>
        </p:txBody>
      </p:sp>
      <p:sp>
        <p:nvSpPr>
          <p:cNvPr id="11" name="Evidence needed">
            <a:extLst xmlns:a="http://schemas.openxmlformats.org/drawingml/2006/main">
              <a:ext uri="{FF2B5EF4-FFF2-40B4-BE49-F238E27FC236}">
                <a16:creationId xmlns:a16="http://schemas.microsoft.com/office/drawing/2014/main" id="{6A83A57D-8E74-4CDC-9025-DB7195FCA18B}"/>
              </a:ext>
            </a:extLst>
          </p:cNvPr>
          <p:cNvSpPr>
            <a:spLocks xmlns:a="http://schemas.openxmlformats.org/drawingml/2006/main" noGrp="1"/>
          </p:cNvSpPr>
          <p:nvPr/>
        </p:nvSpPr>
        <p:spPr>
          <a:xfrm xmlns:a="http://schemas.openxmlformats.org/drawingml/2006/main">
            <a:off x="571500" y="37147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Evidence needed</a:t>
            </a:r>
          </a:p>
        </p:txBody>
      </p:sp>
      <p:sp>
        <p:nvSpPr>
          <p:cNvPr id="12" name="Checkpoints, prediction files and training logs must support ever">
            <a:extLst xmlns:a="http://schemas.openxmlformats.org/drawingml/2006/main">
              <a:ext uri="{FF2B5EF4-FFF2-40B4-BE49-F238E27FC236}">
                <a16:creationId xmlns:a16="http://schemas.microsoft.com/office/drawing/2014/main" id="{03DACA0E-33CB-4A73-8094-46A378E9F898}"/>
              </a:ext>
            </a:extLst>
          </p:cNvPr>
          <p:cNvSpPr>
            <a:spLocks xmlns:a="http://schemas.openxmlformats.org/drawingml/2006/main" noGrp="1"/>
          </p:cNvSpPr>
          <p:nvPr/>
        </p:nvSpPr>
        <p:spPr>
          <a:xfrm xmlns:a="http://schemas.openxmlformats.org/drawingml/2006/main">
            <a:off x="571500" y="41624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Checkpoints, prediction files and training logs must support every reported metric before publication.</a:t>
            </a:r>
          </a:p>
        </p:txBody>
      </p:sp>
      <p:sp>
        <p:nvSpPr>
          <p:cNvPr id="13" name="Fair comparison">
            <a:extLst xmlns:a="http://schemas.openxmlformats.org/drawingml/2006/main">
              <a:ext uri="{FF2B5EF4-FFF2-40B4-BE49-F238E27FC236}">
                <a16:creationId xmlns:a16="http://schemas.microsoft.com/office/drawing/2014/main" id="{F3181A04-AF37-4C37-B58D-D7434B4D0A9A}"/>
              </a:ext>
            </a:extLst>
          </p:cNvPr>
          <p:cNvSpPr>
            <a:spLocks xmlns:a="http://schemas.openxmlformats.org/drawingml/2006/main" noGrp="1"/>
          </p:cNvSpPr>
          <p:nvPr/>
        </p:nvSpPr>
        <p:spPr>
          <a:xfrm xmlns:a="http://schemas.openxmlformats.org/drawingml/2006/main">
            <a:off x="6286500" y="37147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Fair comparison</a:t>
            </a:r>
          </a:p>
        </p:txBody>
      </p:sp>
      <p:sp>
        <p:nvSpPr>
          <p:cNvPr id="14" name="Match training budgets, repeat independent seeds, and ablate OOD ">
            <a:extLst xmlns:a="http://schemas.openxmlformats.org/drawingml/2006/main">
              <a:ext uri="{FF2B5EF4-FFF2-40B4-BE49-F238E27FC236}">
                <a16:creationId xmlns:a16="http://schemas.microsoft.com/office/drawing/2014/main" id="{315A4D54-42BE-4DD8-8D33-9E6CCC9F3EDC}"/>
              </a:ext>
            </a:extLst>
          </p:cNvPr>
          <p:cNvSpPr>
            <a:spLocks xmlns:a="http://schemas.openxmlformats.org/drawingml/2006/main" noGrp="1"/>
          </p:cNvSpPr>
          <p:nvPr/>
        </p:nvSpPr>
        <p:spPr>
          <a:xfrm xmlns:a="http://schemas.openxmlformats.org/drawingml/2006/main">
            <a:off x="6286500" y="41624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Match training budgets, repeat independent seeds, and ablate OOD distillation, DRW and the teacher recipe.</a:t>
            </a:r>
          </a:p>
        </p:txBody>
      </p:sp>
      <p:sp>
        <p:nvSpPr>
          <p:cNvPr id="15" name="Key references: Rangwani et al. (2024), He et al. (2016), Dosovit">
            <a:extLst xmlns:a="http://schemas.openxmlformats.org/drawingml/2006/main">
              <a:ext uri="{FF2B5EF4-FFF2-40B4-BE49-F238E27FC236}">
                <a16:creationId xmlns:a16="http://schemas.microsoft.com/office/drawing/2014/main" id="{F1B200CB-9745-4D86-AF33-4DE592A1C7CF}"/>
              </a:ext>
            </a:extLst>
          </p:cNvPr>
          <p:cNvSpPr>
            <a:spLocks xmlns:a="http://schemas.openxmlformats.org/drawingml/2006/main" noGrp="1"/>
          </p:cNvSpPr>
          <p:nvPr/>
        </p:nvSpPr>
        <p:spPr>
          <a:xfrm xmlns:a="http://schemas.openxmlformats.org/drawingml/2006/main">
            <a:off x="571500" y="57150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07C"/>
                </a:solidFill>
                <a:latin typeface="DejaVu Sans"/>
                <a:ea typeface="DejaVu Sans"/>
                <a:cs typeface="DejaVu Sans"/>
              </a:defRPr>
            </a:defPPr>
            <a:lvl1pPr algn="l">
              <a:defRPr sz="1350" b="0">
                <a:solidFill>
                  <a:srgbClr val="64707C"/>
                </a:solidFill>
                <a:latin typeface="DejaVu Sans"/>
                <a:ea typeface="DejaVu Sans"/>
                <a:cs typeface="DejaVu Sans"/>
              </a:defRPr>
            </a:lvl1pPr>
            <a:lvl2pPr algn="l">
              <a:defRPr sz="1350" b="0">
                <a:solidFill>
                  <a:srgbClr val="64707C"/>
                </a:solidFill>
                <a:latin typeface="DejaVu Sans"/>
                <a:ea typeface="DejaVu Sans"/>
                <a:cs typeface="DejaVu Sans"/>
              </a:defRPr>
            </a:lvl2pPr>
            <a:lvl3pPr algn="l">
              <a:defRPr sz="1350" b="0">
                <a:solidFill>
                  <a:srgbClr val="64707C"/>
                </a:solidFill>
                <a:latin typeface="DejaVu Sans"/>
                <a:ea typeface="DejaVu Sans"/>
                <a:cs typeface="DejaVu Sans"/>
              </a:defRPr>
            </a:lvl3pPr>
            <a:lvl4pPr algn="l">
              <a:defRPr sz="1350" b="0">
                <a:solidFill>
                  <a:srgbClr val="64707C"/>
                </a:solidFill>
                <a:latin typeface="DejaVu Sans"/>
                <a:ea typeface="DejaVu Sans"/>
                <a:cs typeface="DejaVu Sans"/>
              </a:defRPr>
            </a:lvl4pPr>
            <a:lvl5pPr algn="l">
              <a:defRPr sz="1350" b="0">
                <a:solidFill>
                  <a:srgbClr val="64707C"/>
                </a:solidFill>
                <a:latin typeface="DejaVu Sans"/>
                <a:ea typeface="DejaVu Sans"/>
                <a:cs typeface="DejaVu Sans"/>
              </a:defRPr>
            </a:lvl5pPr>
            <a:lvl6pPr algn="l">
              <a:defRPr sz="1350" b="0">
                <a:solidFill>
                  <a:srgbClr val="64707C"/>
                </a:solidFill>
                <a:latin typeface="DejaVu Sans"/>
                <a:ea typeface="DejaVu Sans"/>
                <a:cs typeface="DejaVu Sans"/>
              </a:defRPr>
            </a:lvl6pPr>
            <a:lvl7pPr algn="l">
              <a:defRPr sz="1350" b="0">
                <a:solidFill>
                  <a:srgbClr val="64707C"/>
                </a:solidFill>
                <a:latin typeface="DejaVu Sans"/>
                <a:ea typeface="DejaVu Sans"/>
                <a:cs typeface="DejaVu Sans"/>
              </a:defRPr>
            </a:lvl7pPr>
            <a:lvl8pPr algn="l">
              <a:defRPr sz="1350" b="0">
                <a:solidFill>
                  <a:srgbClr val="64707C"/>
                </a:solidFill>
                <a:latin typeface="DejaVu Sans"/>
                <a:ea typeface="DejaVu Sans"/>
                <a:cs typeface="DejaVu Sans"/>
              </a:defRPr>
            </a:lvl8pPr>
            <a:lvl9pPr algn="l">
              <a:defRPr sz="1350" b="0">
                <a:solidFill>
                  <a:srgbClr val="64707C"/>
                </a:solidFill>
                <a:latin typeface="DejaVu Sans"/>
                <a:ea typeface="DejaVu Sans"/>
                <a:cs typeface="DejaVu Sans"/>
              </a:defRPr>
            </a:lvl9pPr>
          </a:lstStyle>
          <a:p xmlns:a="http://schemas.openxmlformats.org/drawingml/2006/main">
            <a:pPr algn="l">
              <a:defRPr sz="1350" b="0">
                <a:solidFill>
                  <a:srgbClr val="64707C"/>
                </a:solidFill>
                <a:latin typeface="DejaVu Sans"/>
                <a:ea typeface="DejaVu Sans"/>
                <a:cs typeface="DejaVu Sans"/>
              </a:defRPr>
            </a:pPr>
            <a:r>
              <a:rPr sz="1350" b="0">
                <a:solidFill>
                  <a:srgbClr val="64707C"/>
                </a:solidFill>
                <a:latin typeface="DejaVu Sans"/>
                <a:ea typeface="DejaVu Sans"/>
                <a:cs typeface="DejaVu Sans"/>
              </a:rPr>
              <a:t>Key references: Rangwani et al. (2024), He et al. (2016), Dosovitskiy et al. (2021), Touvron et al. (2022)</a:t>
            </a:r>
          </a:p>
        </p:txBody>
      </p:sp>
    </p:spTree>
    <p:extLst>
      <p:ext uri="{BB962C8B-B14F-4D97-AF65-F5344CB8AC3E}">
        <p14:creationId xmlns:p14="http://schemas.microsoft.com/office/powerpoint/2010/main" val="17454620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2026-10-25T18:15:03.2070000Z</dcterms:created>
  <dcterms:modified xsi:type="dcterms:W3CDTF">2026-10-25T18:15:03.2070000Z</dcterms:modified>
</coreProperties>
</file>